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bounded Day 7 purpose. This is not a project or product proposal.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schedule visible; lunch is 12:30-1:00.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 the Chapter 11 quiz items without turning this into a certification unit.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Chapter 12 as cumulative question practice, not certification preparation.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 to name what evidence feeds each arrow.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Pause before revealing the total; have students call out each unit.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bounded training assumptions, not product recommendations.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imply an actual array can be selected without real specifications and site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worksheet has only one AC load; keep the distinction between W and Wh explicit.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draw their own diagram; no physical wiring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substitute should pause the room at each checkpoint.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sign incomplete work. Return it for correction.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exactly with evidence collection and cleanup.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1887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CTS Cohort 6 | PV101 | Day 7 | July 15, 2026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68096"/>
            <a:ext cx="11018520" cy="5120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F2937"/>
                </a:solidFill>
              </a:rPr>
              <a:t>PV101 Day 7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03504" y="1298448"/>
            <a:ext cx="107899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5B6776"/>
                </a:solidFill>
              </a:rPr>
              <a:t>Chapters 11-12 + guided load assessment and system sizing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731520" y="1993392"/>
            <a:ext cx="1078992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4300" b="1" dirty="0">
                <a:solidFill>
                  <a:srgbClr val="1F77B4"/>
                </a:solidFill>
              </a:rPr>
              <a:t>LOADS DRIVE SIZING.</a:t>
            </a:r>
            <a:endParaRPr lang="en-US" sz="4300" dirty="0"/>
          </a:p>
        </p:txBody>
      </p:sp>
      <p:sp>
        <p:nvSpPr>
          <p:cNvPr id="7" name="Shape 5"/>
          <p:cNvSpPr/>
          <p:nvPr/>
        </p:nvSpPr>
        <p:spPr>
          <a:xfrm>
            <a:off x="960120" y="3200400"/>
            <a:ext cx="10241280" cy="1051560"/>
          </a:xfrm>
          <a:prstGeom prst="roundRect">
            <a:avLst>
              <a:gd name="adj" fmla="val 6957"/>
            </a:avLst>
          </a:prstGeom>
          <a:solidFill>
            <a:srgbClr val="DDEEFF"/>
          </a:solidFill>
          <a:ln w="13970">
            <a:solidFill>
              <a:srgbClr val="1F77B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3272" y="3273552"/>
            <a:ext cx="10094976" cy="9052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F2937"/>
                </a:solidFill>
              </a:rPr>
              <a:t>Today is guided class practice. Show the math, units, assumptions, one-line path, and verification checks.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914400" y="4983480"/>
            <a:ext cx="1033272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F2937"/>
                </a:solidFill>
              </a:rPr>
              <a:t>Measure. Verify. Document. Then proceed.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11539728" y="6455664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776"/>
                </a:solidFill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1887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CTS Cohort 6 | PV101 | Day 7 | July 15, 2026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68096"/>
            <a:ext cx="11018520" cy="5120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F2937"/>
                </a:solidFill>
              </a:rPr>
              <a:t>Today's flow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03504" y="1298448"/>
            <a:ext cx="107899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5B6776"/>
                </a:solidFill>
              </a:rPr>
              <a:t>Quiz -&gt; correction -&gt; worked examples -&gt; guided worksheet -&gt; evidence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1874520" y="2578608"/>
            <a:ext cx="320040" cy="0"/>
          </a:xfrm>
          <a:prstGeom prst="line">
            <a:avLst/>
          </a:prstGeom>
          <a:noFill/>
          <a:ln w="22860">
            <a:solidFill>
              <a:srgbClr val="5B6776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502920" y="2084832"/>
            <a:ext cx="1371600" cy="987552"/>
          </a:xfrm>
          <a:prstGeom prst="roundRect">
            <a:avLst>
              <a:gd name="adj" fmla="val 7407"/>
            </a:avLst>
          </a:prstGeom>
          <a:solidFill>
            <a:srgbClr val="DDEEFF"/>
          </a:solidFill>
          <a:ln w="13970">
            <a:solidFill>
              <a:srgbClr val="1F77B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2157984"/>
            <a:ext cx="1225296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F2937"/>
                </a:solidFill>
              </a:rPr>
              <a:t>Arrival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b="1" dirty="0">
                <a:solidFill>
                  <a:srgbClr val="1F2937"/>
                </a:solidFill>
              </a:rPr>
              <a:t>10:00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3566160" y="2578608"/>
            <a:ext cx="320040" cy="0"/>
          </a:xfrm>
          <a:prstGeom prst="line">
            <a:avLst/>
          </a:prstGeom>
          <a:noFill/>
          <a:ln w="22860">
            <a:solidFill>
              <a:srgbClr val="5B6776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194560" y="2084832"/>
            <a:ext cx="1371600" cy="987552"/>
          </a:xfrm>
          <a:prstGeom prst="roundRect">
            <a:avLst>
              <a:gd name="adj" fmla="val 7407"/>
            </a:avLst>
          </a:prstGeom>
          <a:solidFill>
            <a:srgbClr val="DDEEFF"/>
          </a:solidFill>
          <a:ln w="13970">
            <a:solidFill>
              <a:srgbClr val="1F77B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67712" y="2157984"/>
            <a:ext cx="1225296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F2937"/>
                </a:solidFill>
              </a:rPr>
              <a:t>Quiz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b="1" dirty="0">
                <a:solidFill>
                  <a:srgbClr val="1F2937"/>
                </a:solidFill>
              </a:rPr>
              <a:t>10:20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5257800" y="2578608"/>
            <a:ext cx="320040" cy="0"/>
          </a:xfrm>
          <a:prstGeom prst="line">
            <a:avLst/>
          </a:prstGeom>
          <a:noFill/>
          <a:ln w="22860">
            <a:solidFill>
              <a:srgbClr val="5B6776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886200" y="2084832"/>
            <a:ext cx="1371600" cy="987552"/>
          </a:xfrm>
          <a:prstGeom prst="roundRect">
            <a:avLst>
              <a:gd name="adj" fmla="val 7407"/>
            </a:avLst>
          </a:prstGeom>
          <a:solidFill>
            <a:srgbClr val="DDEEFF"/>
          </a:solidFill>
          <a:ln w="13970">
            <a:solidFill>
              <a:srgbClr val="1F77B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59352" y="2157984"/>
            <a:ext cx="1225296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F2937"/>
                </a:solidFill>
              </a:rPr>
              <a:t>Review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b="1" dirty="0">
                <a:solidFill>
                  <a:srgbClr val="1F2937"/>
                </a:solidFill>
              </a:rPr>
              <a:t>10:35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6949440" y="2578608"/>
            <a:ext cx="320040" cy="0"/>
          </a:xfrm>
          <a:prstGeom prst="line">
            <a:avLst/>
          </a:prstGeom>
          <a:noFill/>
          <a:ln w="22860">
            <a:solidFill>
              <a:srgbClr val="5B6776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577840" y="2084832"/>
            <a:ext cx="1371600" cy="987552"/>
          </a:xfrm>
          <a:prstGeom prst="roundRect">
            <a:avLst>
              <a:gd name="adj" fmla="val 7407"/>
            </a:avLst>
          </a:prstGeom>
          <a:solidFill>
            <a:srgbClr val="FFF2D8"/>
          </a:solidFill>
          <a:ln w="13970">
            <a:solidFill>
              <a:srgbClr val="E875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50992" y="2157984"/>
            <a:ext cx="1225296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F2937"/>
                </a:solidFill>
              </a:rPr>
              <a:t>Worked math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b="1" dirty="0">
                <a:solidFill>
                  <a:srgbClr val="1F2937"/>
                </a:solidFill>
              </a:rPr>
              <a:t>11:30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8641080" y="2578608"/>
            <a:ext cx="320040" cy="0"/>
          </a:xfrm>
          <a:prstGeom prst="line">
            <a:avLst/>
          </a:prstGeom>
          <a:noFill/>
          <a:ln w="22860">
            <a:solidFill>
              <a:srgbClr val="5B6776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269480" y="2084832"/>
            <a:ext cx="1371600" cy="987552"/>
          </a:xfrm>
          <a:prstGeom prst="roundRect">
            <a:avLst>
              <a:gd name="adj" fmla="val 7407"/>
            </a:avLst>
          </a:prstGeom>
          <a:solidFill>
            <a:srgbClr val="FFF2D8"/>
          </a:solidFill>
          <a:ln w="13970">
            <a:solidFill>
              <a:srgbClr val="E875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42632" y="2157984"/>
            <a:ext cx="1225296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F2937"/>
                </a:solidFill>
              </a:rPr>
              <a:t>Guided practice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b="1" dirty="0">
                <a:solidFill>
                  <a:srgbClr val="1F2937"/>
                </a:solidFill>
              </a:rPr>
              <a:t>12:00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10332720" y="2578608"/>
            <a:ext cx="320040" cy="0"/>
          </a:xfrm>
          <a:prstGeom prst="line">
            <a:avLst/>
          </a:prstGeom>
          <a:noFill/>
          <a:ln w="22860">
            <a:solidFill>
              <a:srgbClr val="5B6776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961120" y="2084832"/>
            <a:ext cx="1371600" cy="987552"/>
          </a:xfrm>
          <a:prstGeom prst="roundRect">
            <a:avLst>
              <a:gd name="adj" fmla="val 7407"/>
            </a:avLst>
          </a:prstGeom>
          <a:solidFill>
            <a:srgbClr val="E6F4EA"/>
          </a:solidFill>
          <a:ln w="13970">
            <a:solidFill>
              <a:srgbClr val="2E7D3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034272" y="2157984"/>
            <a:ext cx="1225296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F2937"/>
                </a:solidFill>
              </a:rPr>
              <a:t>Worksheet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b="1" dirty="0">
                <a:solidFill>
                  <a:srgbClr val="1F2937"/>
                </a:solidFill>
              </a:rPr>
              <a:t>1:15</a:t>
            </a:r>
            <a:endParaRPr lang="en-US" sz="1550" dirty="0"/>
          </a:p>
        </p:txBody>
      </p:sp>
      <p:sp>
        <p:nvSpPr>
          <p:cNvPr id="24" name="Shape 22"/>
          <p:cNvSpPr/>
          <p:nvPr/>
        </p:nvSpPr>
        <p:spPr>
          <a:xfrm>
            <a:off x="10652760" y="2084832"/>
            <a:ext cx="1371600" cy="987552"/>
          </a:xfrm>
          <a:prstGeom prst="roundRect">
            <a:avLst>
              <a:gd name="adj" fmla="val 7407"/>
            </a:avLst>
          </a:prstGeom>
          <a:solidFill>
            <a:srgbClr val="E6F4EA"/>
          </a:solidFill>
          <a:ln w="13970">
            <a:solidFill>
              <a:srgbClr val="2E7D3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725912" y="2157984"/>
            <a:ext cx="1225296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F2937"/>
                </a:solidFill>
              </a:rPr>
              <a:t>Cleanup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b="1" dirty="0">
                <a:solidFill>
                  <a:srgbClr val="1F2937"/>
                </a:solidFill>
              </a:rPr>
              <a:t>2:55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11539728" y="6455664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776"/>
                </a:solidFill>
              </a:rPr>
              <a:t>2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914400" y="3794760"/>
            <a:ext cx="10241280" cy="1554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2200" dirty="0">
                <a:solidFill>
                  <a:srgbClr val="1F2937"/>
                </a:solidFill>
              </a:rPr>
              <a:t>Morning: finish the reading sequence with Chapters 11-12.</a:t>
            </a:r>
            <a:endParaRPr lang="en-US" sz="2200" dirty="0"/>
          </a:p>
          <a:p>
            <a:r>
              <a:rPr lang="en-US" sz="2200" dirty="0">
                <a:solidFill>
                  <a:srgbClr val="1F2937"/>
                </a:solidFill>
              </a:rPr>
              <a:t>Midday: connect the full PV101 progression to documented loads.</a:t>
            </a:r>
            <a:endParaRPr lang="en-US" sz="2200" dirty="0"/>
          </a:p>
          <a:p>
            <a:r>
              <a:rPr lang="en-US" sz="2200" dirty="0">
                <a:solidFill>
                  <a:srgbClr val="1F2937"/>
                </a:solidFill>
              </a:rPr>
              <a:t>Afternoon: calculate, diagram, peer-check, revise, and obtain signoff.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1887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CTS Cohort 6 | PV101 | Day 7 | July 15, 2026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68096"/>
            <a:ext cx="11018520" cy="5120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F2937"/>
                </a:solidFill>
              </a:rPr>
              <a:t>Chapter 11: work inside local requirements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03504" y="1298448"/>
            <a:ext cx="107899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5B6776"/>
                </a:solidFill>
              </a:rPr>
              <a:t>Incentives, resources, permitting, and AHJs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594360" y="1874520"/>
            <a:ext cx="2331720" cy="868680"/>
          </a:xfrm>
          <a:prstGeom prst="roundRect">
            <a:avLst>
              <a:gd name="adj" fmla="val 8421"/>
            </a:avLst>
          </a:prstGeom>
          <a:solidFill>
            <a:srgbClr val="DDEEFF"/>
          </a:solidFill>
          <a:ln w="13970">
            <a:solidFill>
              <a:srgbClr val="1F77B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" y="1947672"/>
            <a:ext cx="2185416" cy="722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F2937"/>
                </a:solidFill>
              </a:rPr>
              <a:t>Current official source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2926080" y="2304288"/>
            <a:ext cx="320040" cy="0"/>
          </a:xfrm>
          <a:prstGeom prst="line">
            <a:avLst/>
          </a:prstGeom>
          <a:noFill/>
          <a:ln w="25400">
            <a:solidFill>
              <a:srgbClr val="5B6776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246120" y="1874520"/>
            <a:ext cx="2423160" cy="868680"/>
          </a:xfrm>
          <a:prstGeom prst="roundRect">
            <a:avLst>
              <a:gd name="adj" fmla="val 8421"/>
            </a:avLst>
          </a:prstGeom>
          <a:solidFill>
            <a:srgbClr val="FFF2D8"/>
          </a:solidFill>
          <a:ln w="13970">
            <a:solidFill>
              <a:srgbClr val="E875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19272" y="1947672"/>
            <a:ext cx="2276856" cy="722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AHJ + utility requirements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669280" y="2304288"/>
            <a:ext cx="320040" cy="0"/>
          </a:xfrm>
          <a:prstGeom prst="line">
            <a:avLst/>
          </a:prstGeom>
          <a:noFill/>
          <a:ln w="25400">
            <a:solidFill>
              <a:srgbClr val="5B6776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989320" y="1874520"/>
            <a:ext cx="2331720" cy="868680"/>
          </a:xfrm>
          <a:prstGeom prst="roundRect">
            <a:avLst>
              <a:gd name="adj" fmla="val 8421"/>
            </a:avLst>
          </a:prstGeom>
          <a:solidFill>
            <a:srgbClr val="F3E8FF"/>
          </a:solidFill>
          <a:ln w="13970">
            <a:solidFill>
              <a:srgbClr val="7E22C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62472" y="1947672"/>
            <a:ext cx="2185416" cy="722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Permit + review path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8321040" y="2304288"/>
            <a:ext cx="320040" cy="0"/>
          </a:xfrm>
          <a:prstGeom prst="line">
            <a:avLst/>
          </a:prstGeom>
          <a:noFill/>
          <a:ln w="25400">
            <a:solidFill>
              <a:srgbClr val="5B6776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641080" y="187452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E6F4EA"/>
          </a:solidFill>
          <a:ln w="13970">
            <a:solidFill>
              <a:srgbClr val="2E7D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14232" y="1947672"/>
            <a:ext cx="2459736" cy="722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F2937"/>
                </a:solidFill>
              </a:rPr>
              <a:t>Document approvals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960120" y="3703320"/>
            <a:ext cx="10241280" cy="1691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2300" dirty="0">
                <a:solidFill>
                  <a:srgbClr val="1F2937"/>
                </a:solidFill>
              </a:rPr>
              <a:t>Verify incentives with a current authoritative source; programs and eligibility can change.</a:t>
            </a:r>
            <a:endParaRPr lang="en-US" sz="2300" dirty="0"/>
          </a:p>
          <a:p>
            <a:r>
              <a:rPr lang="en-US" sz="2300" dirty="0">
                <a:solidFill>
                  <a:srgbClr val="1F2937"/>
                </a:solidFill>
              </a:rPr>
              <a:t>Identify the local AHJ and serving utility before assuming the approval process.</a:t>
            </a:r>
            <a:endParaRPr lang="en-US" sz="2300" dirty="0"/>
          </a:p>
          <a:p>
            <a:r>
              <a:rPr lang="en-US" sz="2300" dirty="0">
                <a:solidFill>
                  <a:srgbClr val="1F2937"/>
                </a:solidFill>
              </a:rPr>
              <a:t>Permits and inspections belong to safe, documented work.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11539728" y="6455664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776"/>
                </a:solidFill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1887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CTS Cohort 6 | PV101 | Day 7 | July 15, 2026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68096"/>
            <a:ext cx="11018520" cy="5120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F2937"/>
                </a:solidFill>
              </a:rPr>
              <a:t>Chapter 12: practice with purpose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03504" y="1298448"/>
            <a:ext cx="107899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5B6776"/>
                </a:solidFill>
              </a:rPr>
              <a:t>A score is a result. A reviewed mistake is instruction.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731520" y="201168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DDEEFF"/>
          </a:solidFill>
          <a:ln w="13970">
            <a:solidFill>
              <a:srgbClr val="1F77B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2084832"/>
            <a:ext cx="1773936" cy="7680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Read the question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651760" y="2468880"/>
            <a:ext cx="502920" cy="0"/>
          </a:xfrm>
          <a:prstGeom prst="line">
            <a:avLst/>
          </a:prstGeom>
          <a:noFill/>
          <a:ln w="25400">
            <a:solidFill>
              <a:srgbClr val="5B6776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154680" y="2011680"/>
            <a:ext cx="2103120" cy="914400"/>
          </a:xfrm>
          <a:prstGeom prst="roundRect">
            <a:avLst>
              <a:gd name="adj" fmla="val 8000"/>
            </a:avLst>
          </a:prstGeom>
          <a:solidFill>
            <a:srgbClr val="FFF2D8"/>
          </a:solidFill>
          <a:ln w="13970">
            <a:solidFill>
              <a:srgbClr val="E875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27832" y="2084832"/>
            <a:ext cx="1956816" cy="7680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Mark units + givens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257800" y="2468880"/>
            <a:ext cx="502920" cy="0"/>
          </a:xfrm>
          <a:prstGeom prst="line">
            <a:avLst/>
          </a:prstGeom>
          <a:noFill/>
          <a:ln w="25400">
            <a:solidFill>
              <a:srgbClr val="5B6776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760720" y="2011680"/>
            <a:ext cx="2240280" cy="914400"/>
          </a:xfrm>
          <a:prstGeom prst="roundRect">
            <a:avLst>
              <a:gd name="adj" fmla="val 8000"/>
            </a:avLst>
          </a:prstGeom>
          <a:solidFill>
            <a:srgbClr val="E6F4EA"/>
          </a:solidFill>
          <a:ln w="13970">
            <a:solidFill>
              <a:srgbClr val="2E7D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33872" y="2084832"/>
            <a:ext cx="2093976" cy="7680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Solve / select safely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8001000" y="2468880"/>
            <a:ext cx="502920" cy="0"/>
          </a:xfrm>
          <a:prstGeom prst="line">
            <a:avLst/>
          </a:prstGeom>
          <a:noFill/>
          <a:ln w="25400">
            <a:solidFill>
              <a:srgbClr val="5B6776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503920" y="201168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F3E8FF"/>
          </a:solidFill>
          <a:ln w="13970">
            <a:solidFill>
              <a:srgbClr val="7E22C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77072" y="2084832"/>
            <a:ext cx="2139696" cy="7680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Review the miss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60120" y="3886200"/>
            <a:ext cx="10241280" cy="1417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2300" dirty="0">
                <a:solidFill>
                  <a:srgbClr val="1F2937"/>
                </a:solidFill>
              </a:rPr>
              <a:t>Keep units attached to every value.</a:t>
            </a:r>
            <a:endParaRPr lang="en-US" sz="2300" dirty="0"/>
          </a:p>
          <a:p>
            <a:r>
              <a:rPr lang="en-US" sz="2300" dirty="0">
                <a:solidFill>
                  <a:srgbClr val="1F2937"/>
                </a:solidFill>
              </a:rPr>
              <a:t>If two answers appear possible, prioritize safety and documented procedure.</a:t>
            </a:r>
            <a:endParaRPr lang="en-US" sz="2300" dirty="0"/>
          </a:p>
          <a:p>
            <a:r>
              <a:rPr lang="en-US" sz="2300" dirty="0">
                <a:solidFill>
                  <a:srgbClr val="1F2937"/>
                </a:solidFill>
              </a:rPr>
              <a:t>Check whether the result is reasonable before moving on.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11539728" y="6455664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776"/>
                </a:solidFill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1887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CTS Cohort 6 | PV101 | Day 7 | July 15, 2026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68096"/>
            <a:ext cx="11018520" cy="5120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F2937"/>
                </a:solidFill>
              </a:rPr>
              <a:t>The sizing chain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03504" y="1298448"/>
            <a:ext cx="107899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5B6776"/>
                </a:solidFill>
              </a:rPr>
              <a:t>Every later choice starts with documented loads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411480" y="2057400"/>
            <a:ext cx="1600200" cy="1005840"/>
          </a:xfrm>
          <a:prstGeom prst="roundRect">
            <a:avLst>
              <a:gd name="adj" fmla="val 7273"/>
            </a:avLst>
          </a:prstGeom>
          <a:solidFill>
            <a:srgbClr val="DDEEFF"/>
          </a:solidFill>
          <a:ln w="13970">
            <a:solidFill>
              <a:srgbClr val="1F77B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2130552"/>
            <a:ext cx="1453896" cy="8595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937"/>
                </a:solidFill>
              </a:rPr>
              <a:t>Loads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F2937"/>
                </a:solidFill>
              </a:rPr>
              <a:t>W + h/day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2075688" y="2560320"/>
            <a:ext cx="274320" cy="0"/>
          </a:xfrm>
          <a:prstGeom prst="line">
            <a:avLst/>
          </a:prstGeom>
          <a:noFill/>
          <a:ln w="20320">
            <a:solidFill>
              <a:srgbClr val="5B6776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350008" y="2057400"/>
            <a:ext cx="1600200" cy="1005840"/>
          </a:xfrm>
          <a:prstGeom prst="roundRect">
            <a:avLst>
              <a:gd name="adj" fmla="val 7273"/>
            </a:avLst>
          </a:prstGeom>
          <a:solidFill>
            <a:srgbClr val="DDEEFF"/>
          </a:solidFill>
          <a:ln w="13970">
            <a:solidFill>
              <a:srgbClr val="1F77B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23160" y="2130552"/>
            <a:ext cx="1453896" cy="8595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937"/>
                </a:solidFill>
              </a:rPr>
              <a:t>Energy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F2937"/>
                </a:solidFill>
              </a:rPr>
              <a:t>Wh/day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014216" y="2560320"/>
            <a:ext cx="274320" cy="0"/>
          </a:xfrm>
          <a:prstGeom prst="line">
            <a:avLst/>
          </a:prstGeom>
          <a:noFill/>
          <a:ln w="20320">
            <a:solidFill>
              <a:srgbClr val="5B6776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288536" y="2057400"/>
            <a:ext cx="1600200" cy="1005840"/>
          </a:xfrm>
          <a:prstGeom prst="roundRect">
            <a:avLst>
              <a:gd name="adj" fmla="val 7273"/>
            </a:avLst>
          </a:prstGeom>
          <a:solidFill>
            <a:srgbClr val="FFF2D8"/>
          </a:solidFill>
          <a:ln w="13970">
            <a:solidFill>
              <a:srgbClr val="E875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61688" y="2130552"/>
            <a:ext cx="1453896" cy="8595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937"/>
                </a:solidFill>
              </a:rPr>
              <a:t>Storage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F2937"/>
                </a:solidFill>
              </a:rPr>
              <a:t>Wh -&gt; Ah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952744" y="2560320"/>
            <a:ext cx="274320" cy="0"/>
          </a:xfrm>
          <a:prstGeom prst="line">
            <a:avLst/>
          </a:prstGeom>
          <a:noFill/>
          <a:ln w="20320">
            <a:solidFill>
              <a:srgbClr val="5B6776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227064" y="2057400"/>
            <a:ext cx="1600200" cy="1005840"/>
          </a:xfrm>
          <a:prstGeom prst="roundRect">
            <a:avLst>
              <a:gd name="adj" fmla="val 7273"/>
            </a:avLst>
          </a:prstGeom>
          <a:solidFill>
            <a:srgbClr val="FFF2D8"/>
          </a:solidFill>
          <a:ln w="13970">
            <a:solidFill>
              <a:srgbClr val="E875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0216" y="2130552"/>
            <a:ext cx="1453896" cy="8595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937"/>
                </a:solidFill>
              </a:rPr>
              <a:t>Array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F2937"/>
                </a:solidFill>
              </a:rPr>
              <a:t>PSH + loss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7891272" y="2560320"/>
            <a:ext cx="274320" cy="0"/>
          </a:xfrm>
          <a:prstGeom prst="line">
            <a:avLst/>
          </a:prstGeom>
          <a:noFill/>
          <a:ln w="20320">
            <a:solidFill>
              <a:srgbClr val="5B6776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165592" y="2057400"/>
            <a:ext cx="1600200" cy="1005840"/>
          </a:xfrm>
          <a:prstGeom prst="roundRect">
            <a:avLst>
              <a:gd name="adj" fmla="val 7273"/>
            </a:avLst>
          </a:prstGeom>
          <a:solidFill>
            <a:srgbClr val="E6F4EA"/>
          </a:solidFill>
          <a:ln w="13970">
            <a:solidFill>
              <a:srgbClr val="2E7D3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38744" y="2130552"/>
            <a:ext cx="1453896" cy="8595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937"/>
                </a:solidFill>
              </a:rPr>
              <a:t>Inverter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F2937"/>
                </a:solidFill>
              </a:rPr>
              <a:t>concurrent W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9829800" y="2560320"/>
            <a:ext cx="274320" cy="0"/>
          </a:xfrm>
          <a:prstGeom prst="line">
            <a:avLst/>
          </a:prstGeom>
          <a:noFill/>
          <a:ln w="20320">
            <a:solidFill>
              <a:srgbClr val="5B6776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10104120" y="2057400"/>
            <a:ext cx="1600200" cy="1005840"/>
          </a:xfrm>
          <a:prstGeom prst="roundRect">
            <a:avLst>
              <a:gd name="adj" fmla="val 7273"/>
            </a:avLst>
          </a:prstGeom>
          <a:solidFill>
            <a:srgbClr val="E6F4EA"/>
          </a:solidFill>
          <a:ln w="13970">
            <a:solidFill>
              <a:srgbClr val="2E7D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177272" y="2130552"/>
            <a:ext cx="1453896" cy="8595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937"/>
                </a:solidFill>
              </a:rPr>
              <a:t>One-line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F2937"/>
                </a:solidFill>
              </a:rPr>
              <a:t>protect + verify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14400" y="4251960"/>
            <a:ext cx="1033272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Do not choose equipment first and invent the load story later.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11539728" y="6455664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776"/>
                </a:solidFill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1887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CTS Cohort 6 | PV101 | Day 7 | July 15, 2026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68096"/>
            <a:ext cx="11018520" cy="5120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F2937"/>
                </a:solidFill>
              </a:rPr>
              <a:t>Worked example: daily energy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03504" y="1298448"/>
            <a:ext cx="107899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5B6776"/>
                </a:solidFill>
              </a:rPr>
              <a:t>Watts x hours = watt-hours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731520" y="1874520"/>
            <a:ext cx="2423160" cy="1097280"/>
          </a:xfrm>
          <a:prstGeom prst="roundRect">
            <a:avLst>
              <a:gd name="adj" fmla="val 6667"/>
            </a:avLst>
          </a:prstGeom>
          <a:solidFill>
            <a:srgbClr val="DDEEFF"/>
          </a:solidFill>
          <a:ln w="13970">
            <a:solidFill>
              <a:srgbClr val="1F77B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947672"/>
            <a:ext cx="2276856" cy="9509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F2937"/>
                </a:solidFill>
              </a:rPr>
              <a:t>3 lights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1F2937"/>
                </a:solidFill>
              </a:rPr>
              <a:t>3 x 8 W x 4 h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1F2937"/>
                </a:solidFill>
              </a:rPr>
              <a:t>= 96 Wh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3474720" y="1874520"/>
            <a:ext cx="2423160" cy="1097280"/>
          </a:xfrm>
          <a:prstGeom prst="roundRect">
            <a:avLst>
              <a:gd name="adj" fmla="val 6667"/>
            </a:avLst>
          </a:prstGeom>
          <a:solidFill>
            <a:srgbClr val="FFF2D8"/>
          </a:solidFill>
          <a:ln w="13970">
            <a:solidFill>
              <a:srgbClr val="E875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47872" y="1947672"/>
            <a:ext cx="2276856" cy="9509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F2937"/>
                </a:solidFill>
              </a:rPr>
              <a:t>Pump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1F2937"/>
                </a:solidFill>
              </a:rPr>
              <a:t>60 W x 0.5 h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1F2937"/>
                </a:solidFill>
              </a:rPr>
              <a:t>= 30 Wh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6217920" y="1874520"/>
            <a:ext cx="2423160" cy="1097280"/>
          </a:xfrm>
          <a:prstGeom prst="roundRect">
            <a:avLst>
              <a:gd name="adj" fmla="val 6667"/>
            </a:avLst>
          </a:prstGeom>
          <a:solidFill>
            <a:srgbClr val="E6F4EA"/>
          </a:solidFill>
          <a:ln w="13970">
            <a:solidFill>
              <a:srgbClr val="2E7D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91072" y="1947672"/>
            <a:ext cx="2276856" cy="9509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F2937"/>
                </a:solidFill>
              </a:rPr>
              <a:t>Vent fan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1F2937"/>
                </a:solidFill>
              </a:rPr>
              <a:t>36 W x 3 h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1F2937"/>
                </a:solidFill>
              </a:rPr>
              <a:t>= 108 Wh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8961120" y="1874520"/>
            <a:ext cx="2423160" cy="1097280"/>
          </a:xfrm>
          <a:prstGeom prst="roundRect">
            <a:avLst>
              <a:gd name="adj" fmla="val 6667"/>
            </a:avLst>
          </a:prstGeom>
          <a:solidFill>
            <a:srgbClr val="F3E8FF"/>
          </a:solidFill>
          <a:ln w="13970">
            <a:solidFill>
              <a:srgbClr val="7E22C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034272" y="1947672"/>
            <a:ext cx="2276856" cy="9509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F2937"/>
                </a:solidFill>
              </a:rPr>
              <a:t>Phone + laptop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1F2937"/>
                </a:solidFill>
              </a:rPr>
              <a:t>48 + 130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1F2937"/>
                </a:solidFill>
              </a:rPr>
              <a:t>= 178 Wh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914400" y="3931920"/>
            <a:ext cx="1033272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77B4"/>
                </a:solidFill>
              </a:rPr>
              <a:t>Daily total = 96 + 30 + 108 + 48 + 130 = 412 Wh/day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097280" y="5074920"/>
            <a:ext cx="996696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937"/>
                </a:solidFill>
              </a:rPr>
              <a:t>Check: every load has power, time, multiplication, and an energy unit.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1539728" y="6455664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776"/>
                </a:solidFill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1887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CTS Cohort 6 | PV101 | Day 7 | July 15, 2026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68096"/>
            <a:ext cx="11018520" cy="5120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F2937"/>
                </a:solidFill>
              </a:rPr>
              <a:t>Worked example: storage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03504" y="1298448"/>
            <a:ext cx="107899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5B6776"/>
                </a:solidFill>
              </a:rPr>
              <a:t>Use the exercise assumptions exactly as documented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731520" y="1874520"/>
            <a:ext cx="3108960" cy="1097280"/>
          </a:xfrm>
          <a:prstGeom prst="roundRect">
            <a:avLst>
              <a:gd name="adj" fmla="val 6667"/>
            </a:avLst>
          </a:prstGeom>
          <a:solidFill>
            <a:srgbClr val="DDEEFF"/>
          </a:solidFill>
          <a:ln w="13970">
            <a:solidFill>
              <a:srgbClr val="1F77B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947672"/>
            <a:ext cx="2962656" cy="9509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937"/>
                </a:solidFill>
              </a:rPr>
              <a:t>Required stored energy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1F2937"/>
                </a:solidFill>
              </a:rPr>
              <a:t>412 Wh/day x 1 day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1F2937"/>
                </a:solidFill>
              </a:rPr>
              <a:t>= 412 Wh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840480" y="2423160"/>
            <a:ext cx="502920" cy="0"/>
          </a:xfrm>
          <a:prstGeom prst="line">
            <a:avLst/>
          </a:prstGeom>
          <a:noFill/>
          <a:ln w="25400">
            <a:solidFill>
              <a:srgbClr val="5B6776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343400" y="1874520"/>
            <a:ext cx="3108960" cy="1097280"/>
          </a:xfrm>
          <a:prstGeom prst="roundRect">
            <a:avLst>
              <a:gd name="adj" fmla="val 6667"/>
            </a:avLst>
          </a:prstGeom>
          <a:solidFill>
            <a:srgbClr val="FFF2D8"/>
          </a:solidFill>
          <a:ln w="13970">
            <a:solidFill>
              <a:srgbClr val="E875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16552" y="1947672"/>
            <a:ext cx="2962656" cy="9509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937"/>
                </a:solidFill>
              </a:rPr>
              <a:t>Nameplate energy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1F2937"/>
                </a:solidFill>
              </a:rPr>
              <a:t>412 Wh / 0.80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1F2937"/>
                </a:solidFill>
              </a:rPr>
              <a:t>= 515 Wh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7452360" y="2423160"/>
            <a:ext cx="502920" cy="0"/>
          </a:xfrm>
          <a:prstGeom prst="line">
            <a:avLst/>
          </a:prstGeom>
          <a:noFill/>
          <a:ln w="25400">
            <a:solidFill>
              <a:srgbClr val="5B6776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955280" y="1874520"/>
            <a:ext cx="3108960" cy="1097280"/>
          </a:xfrm>
          <a:prstGeom prst="roundRect">
            <a:avLst>
              <a:gd name="adj" fmla="val 6667"/>
            </a:avLst>
          </a:prstGeom>
          <a:solidFill>
            <a:srgbClr val="E6F4EA"/>
          </a:solidFill>
          <a:ln w="13970">
            <a:solidFill>
              <a:srgbClr val="2E7D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28432" y="1947672"/>
            <a:ext cx="2962656" cy="9509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937"/>
                </a:solidFill>
              </a:rPr>
              <a:t>Basic capacity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1F2937"/>
                </a:solidFill>
              </a:rPr>
              <a:t>515 Wh / 12 V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1F2937"/>
                </a:solidFill>
              </a:rPr>
              <a:t>= 42.9 Ah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234440" y="3794760"/>
            <a:ext cx="9692640" cy="1600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2300" dirty="0">
                <a:solidFill>
                  <a:srgbClr val="1F2937"/>
                </a:solidFill>
              </a:rPr>
              <a:t>Autonomy: 1 day.</a:t>
            </a:r>
            <a:endParaRPr lang="en-US" sz="2300" dirty="0"/>
          </a:p>
          <a:p>
            <a:r>
              <a:rPr lang="en-US" sz="2300" dirty="0">
                <a:solidFill>
                  <a:srgbClr val="1F2937"/>
                </a:solidFill>
              </a:rPr>
              <a:t>Usable fraction / maximum depth of discharge for this exercise: 80%.</a:t>
            </a:r>
            <a:endParaRPr lang="en-US" sz="2300" dirty="0"/>
          </a:p>
          <a:p>
            <a:r>
              <a:rPr lang="en-US" sz="2300" dirty="0">
                <a:solidFill>
                  <a:srgbClr val="1F2937"/>
                </a:solidFill>
              </a:rPr>
              <a:t>System voltage: 12 V.</a:t>
            </a:r>
            <a:endParaRPr lang="en-US" sz="2300" dirty="0"/>
          </a:p>
          <a:p>
            <a:r>
              <a:rPr lang="en-US" sz="2300" dirty="0">
                <a:solidFill>
                  <a:srgbClr val="1F2937"/>
                </a:solidFill>
              </a:rPr>
              <a:t>Round clearly; do not hide the assumption.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11539728" y="6455664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776"/>
                </a:solidFill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1887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CTS Cohort 6 | PV101 | Day 7 | July 15, 2026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68096"/>
            <a:ext cx="11018520" cy="5120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F2937"/>
                </a:solidFill>
              </a:rPr>
              <a:t>Worked example: array watts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03504" y="1298448"/>
            <a:ext cx="107899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5B6776"/>
                </a:solidFill>
              </a:rPr>
              <a:t>Document peak sun hours and the loss multiplier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1051560" y="1965960"/>
            <a:ext cx="2971800" cy="1097280"/>
          </a:xfrm>
          <a:prstGeom prst="roundRect">
            <a:avLst>
              <a:gd name="adj" fmla="val 6667"/>
            </a:avLst>
          </a:prstGeom>
          <a:solidFill>
            <a:srgbClr val="DDEEFF"/>
          </a:solidFill>
          <a:ln w="13970">
            <a:solidFill>
              <a:srgbClr val="1F77B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24712" y="2039112"/>
            <a:ext cx="2825496" cy="9509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F2937"/>
                </a:solidFill>
              </a:rPr>
              <a:t>Raw array watts</a:t>
            </a:r>
            <a:endParaRPr lang="en-US" sz="2300" dirty="0"/>
          </a:p>
          <a:p>
            <a:pPr algn="ctr" indent="0" marL="0">
              <a:buNone/>
            </a:pPr>
            <a:r>
              <a:rPr lang="en-US" sz="2300" b="1" dirty="0">
                <a:solidFill>
                  <a:srgbClr val="1F2937"/>
                </a:solidFill>
              </a:rPr>
              <a:t>412 Wh / 4 h</a:t>
            </a:r>
            <a:endParaRPr lang="en-US" sz="2300" dirty="0"/>
          </a:p>
          <a:p>
            <a:pPr algn="ctr" indent="0" marL="0">
              <a:buNone/>
            </a:pPr>
            <a:r>
              <a:rPr lang="en-US" sz="2300" b="1" dirty="0">
                <a:solidFill>
                  <a:srgbClr val="1F2937"/>
                </a:solidFill>
              </a:rPr>
              <a:t>= 103 W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4023360" y="2514600"/>
            <a:ext cx="594360" cy="0"/>
          </a:xfrm>
          <a:prstGeom prst="line">
            <a:avLst/>
          </a:prstGeom>
          <a:noFill/>
          <a:ln w="25400">
            <a:solidFill>
              <a:srgbClr val="5B6776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617720" y="1965960"/>
            <a:ext cx="2971800" cy="1097280"/>
          </a:xfrm>
          <a:prstGeom prst="roundRect">
            <a:avLst>
              <a:gd name="adj" fmla="val 6667"/>
            </a:avLst>
          </a:prstGeom>
          <a:solidFill>
            <a:srgbClr val="FFF2D8"/>
          </a:solidFill>
          <a:ln w="13970">
            <a:solidFill>
              <a:srgbClr val="E875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90872" y="2039112"/>
            <a:ext cx="2825496" cy="9509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F2937"/>
                </a:solidFill>
              </a:rPr>
              <a:t>Adjusted array watts</a:t>
            </a:r>
            <a:endParaRPr lang="en-US" sz="2300" dirty="0"/>
          </a:p>
          <a:p>
            <a:pPr algn="ctr" indent="0" marL="0">
              <a:buNone/>
            </a:pPr>
            <a:r>
              <a:rPr lang="en-US" sz="2300" b="1" dirty="0">
                <a:solidFill>
                  <a:srgbClr val="1F2937"/>
                </a:solidFill>
              </a:rPr>
              <a:t>103 W x 1.25</a:t>
            </a:r>
            <a:endParaRPr lang="en-US" sz="2300" dirty="0"/>
          </a:p>
          <a:p>
            <a:pPr algn="ctr" indent="0" marL="0">
              <a:buNone/>
            </a:pPr>
            <a:r>
              <a:rPr lang="en-US" sz="2300" b="1" dirty="0">
                <a:solidFill>
                  <a:srgbClr val="1F2937"/>
                </a:solidFill>
              </a:rPr>
              <a:t>= 128.75 W</a:t>
            </a:r>
            <a:endParaRPr lang="en-US" sz="2300" dirty="0"/>
          </a:p>
        </p:txBody>
      </p:sp>
      <p:sp>
        <p:nvSpPr>
          <p:cNvPr id="11" name="Shape 9"/>
          <p:cNvSpPr/>
          <p:nvPr/>
        </p:nvSpPr>
        <p:spPr>
          <a:xfrm>
            <a:off x="7589520" y="2514600"/>
            <a:ext cx="594360" cy="0"/>
          </a:xfrm>
          <a:prstGeom prst="line">
            <a:avLst/>
          </a:prstGeom>
          <a:noFill/>
          <a:ln w="25400">
            <a:solidFill>
              <a:srgbClr val="5B6776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183880" y="1965960"/>
            <a:ext cx="2971800" cy="1097280"/>
          </a:xfrm>
          <a:prstGeom prst="roundRect">
            <a:avLst>
              <a:gd name="adj" fmla="val 6667"/>
            </a:avLst>
          </a:prstGeom>
          <a:solidFill>
            <a:srgbClr val="E6F4EA"/>
          </a:solidFill>
          <a:ln w="13970">
            <a:solidFill>
              <a:srgbClr val="2E7D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57032" y="2039112"/>
            <a:ext cx="2825496" cy="9509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F2937"/>
                </a:solidFill>
              </a:rPr>
              <a:t>Report clearly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1F2937"/>
                </a:solidFill>
              </a:rPr>
              <a:t>about 129 W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1F2937"/>
                </a:solidFill>
              </a:rPr>
              <a:t>minimum exercise result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005840" y="4251960"/>
            <a:ext cx="1014984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</a:rPr>
              <a:t>Peak sun hours are an input. If the input changes, the answer changes.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11539728" y="6455664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776"/>
                </a:solidFill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1887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CTS Cohort 6 | PV101 | Day 7 | July 15, 2026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68096"/>
            <a:ext cx="11018520" cy="5120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F2937"/>
                </a:solidFill>
              </a:rPr>
              <a:t>Inverter sizing starts with power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03504" y="1298448"/>
            <a:ext cx="107899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5B6776"/>
                </a:solidFill>
              </a:rPr>
              <a:t>Daily energy is not the same as simultaneous load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1051560" y="1965960"/>
            <a:ext cx="2834640" cy="1005840"/>
          </a:xfrm>
          <a:prstGeom prst="roundRect">
            <a:avLst>
              <a:gd name="adj" fmla="val 7273"/>
            </a:avLst>
          </a:prstGeom>
          <a:solidFill>
            <a:srgbClr val="DDEEFF"/>
          </a:solidFill>
          <a:ln w="13970">
            <a:solidFill>
              <a:srgbClr val="1F77B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24712" y="2039112"/>
            <a:ext cx="2688336" cy="8595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F2937"/>
                </a:solidFill>
              </a:rPr>
              <a:t>Concurrent AC load</a:t>
            </a:r>
            <a:endParaRPr lang="en-US" sz="2300" dirty="0"/>
          </a:p>
          <a:p>
            <a:pPr algn="ctr" indent="0" marL="0">
              <a:buNone/>
            </a:pPr>
            <a:r>
              <a:rPr lang="en-US" sz="2300" b="1" dirty="0">
                <a:solidFill>
                  <a:srgbClr val="1F2937"/>
                </a:solidFill>
              </a:rPr>
              <a:t>Laptop charger = 65 W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3886200" y="2468880"/>
            <a:ext cx="640080" cy="0"/>
          </a:xfrm>
          <a:prstGeom prst="line">
            <a:avLst/>
          </a:prstGeom>
          <a:noFill/>
          <a:ln w="25400">
            <a:solidFill>
              <a:srgbClr val="5B6776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526280" y="1965960"/>
            <a:ext cx="2834640" cy="1005840"/>
          </a:xfrm>
          <a:prstGeom prst="roundRect">
            <a:avLst>
              <a:gd name="adj" fmla="val 7273"/>
            </a:avLst>
          </a:prstGeom>
          <a:solidFill>
            <a:srgbClr val="FFF2D8"/>
          </a:solidFill>
          <a:ln w="13970">
            <a:solidFill>
              <a:srgbClr val="E875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99432" y="2039112"/>
            <a:ext cx="2688336" cy="8595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F2937"/>
                </a:solidFill>
              </a:rPr>
              <a:t>Add exercise headroom</a:t>
            </a:r>
            <a:endParaRPr lang="en-US" sz="2300" dirty="0"/>
          </a:p>
          <a:p>
            <a:pPr algn="ctr" indent="0" marL="0">
              <a:buNone/>
            </a:pPr>
            <a:r>
              <a:rPr lang="en-US" sz="2300" b="1" dirty="0">
                <a:solidFill>
                  <a:srgbClr val="1F2937"/>
                </a:solidFill>
              </a:rPr>
              <a:t>65 W x 1.25</a:t>
            </a:r>
            <a:endParaRPr lang="en-US" sz="2300" dirty="0"/>
          </a:p>
        </p:txBody>
      </p:sp>
      <p:sp>
        <p:nvSpPr>
          <p:cNvPr id="11" name="Shape 9"/>
          <p:cNvSpPr/>
          <p:nvPr/>
        </p:nvSpPr>
        <p:spPr>
          <a:xfrm>
            <a:off x="7360920" y="2468880"/>
            <a:ext cx="640080" cy="0"/>
          </a:xfrm>
          <a:prstGeom prst="line">
            <a:avLst/>
          </a:prstGeom>
          <a:noFill/>
          <a:ln w="25400">
            <a:solidFill>
              <a:srgbClr val="5B6776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001000" y="1965960"/>
            <a:ext cx="2834640" cy="1005840"/>
          </a:xfrm>
          <a:prstGeom prst="roundRect">
            <a:avLst>
              <a:gd name="adj" fmla="val 7273"/>
            </a:avLst>
          </a:prstGeom>
          <a:solidFill>
            <a:srgbClr val="E6F4EA"/>
          </a:solidFill>
          <a:ln w="13970">
            <a:solidFill>
              <a:srgbClr val="2E7D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74152" y="2039112"/>
            <a:ext cx="2688336" cy="8595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F2937"/>
                </a:solidFill>
              </a:rPr>
              <a:t>Minimum exercise rating</a:t>
            </a:r>
            <a:endParaRPr lang="en-US" sz="2300" dirty="0"/>
          </a:p>
          <a:p>
            <a:pPr algn="ctr" indent="0" marL="0">
              <a:buNone/>
            </a:pPr>
            <a:r>
              <a:rPr lang="en-US" sz="2300" b="1" dirty="0">
                <a:solidFill>
                  <a:srgbClr val="1F2937"/>
                </a:solidFill>
              </a:rPr>
              <a:t>81.25 W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1097280" y="3977640"/>
            <a:ext cx="9966960" cy="1554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2300" dirty="0">
                <a:solidFill>
                  <a:srgbClr val="1F2937"/>
                </a:solidFill>
              </a:rPr>
              <a:t>List the AC loads that can operate at the same time.</a:t>
            </a:r>
            <a:endParaRPr lang="en-US" sz="2300" dirty="0"/>
          </a:p>
          <a:p>
            <a:r>
              <a:rPr lang="en-US" sz="2300" dirty="0">
                <a:solidFill>
                  <a:srgbClr val="1F2937"/>
                </a:solidFill>
              </a:rPr>
              <a:t>Document surge information when a load has a starting surge.</a:t>
            </a:r>
            <a:endParaRPr lang="en-US" sz="2300" dirty="0"/>
          </a:p>
          <a:p>
            <a:r>
              <a:rPr lang="en-US" sz="2300" dirty="0">
                <a:solidFill>
                  <a:srgbClr val="1F2937"/>
                </a:solidFill>
              </a:rPr>
              <a:t>Select from real product ratings only after actual specifications are available.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11539728" y="6455664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776"/>
                </a:solidFill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1887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CTS Cohort 6 | PV101 | Day 7 | July 15, 2026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68096"/>
            <a:ext cx="11018520" cy="5120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F2937"/>
                </a:solidFill>
              </a:rPr>
              <a:t>One-line system path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03504" y="1298448"/>
            <a:ext cx="107899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5B6776"/>
                </a:solidFill>
              </a:rPr>
              <a:t>Show energy flow, return paths, protection, and test points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502920" y="2103120"/>
            <a:ext cx="1554480" cy="914400"/>
          </a:xfrm>
          <a:prstGeom prst="roundRect">
            <a:avLst>
              <a:gd name="adj" fmla="val 8000"/>
            </a:avLst>
          </a:prstGeom>
          <a:solidFill>
            <a:srgbClr val="DDEEFF"/>
          </a:solidFill>
          <a:ln w="13970">
            <a:solidFill>
              <a:srgbClr val="1F77B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6072" y="2176272"/>
            <a:ext cx="1408176" cy="7680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F2937"/>
                </a:solidFill>
              </a:rPr>
              <a:t>PV array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2057400" y="2560320"/>
            <a:ext cx="502920" cy="0"/>
          </a:xfrm>
          <a:prstGeom prst="line">
            <a:avLst/>
          </a:prstGeom>
          <a:noFill/>
          <a:ln w="25400">
            <a:solidFill>
              <a:srgbClr val="1F77B4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560320" y="2103120"/>
            <a:ext cx="1645920" cy="914400"/>
          </a:xfrm>
          <a:prstGeom prst="roundRect">
            <a:avLst>
              <a:gd name="adj" fmla="val 8000"/>
            </a:avLst>
          </a:prstGeom>
          <a:solidFill>
            <a:srgbClr val="FFF2D8"/>
          </a:solidFill>
          <a:ln w="13970">
            <a:solidFill>
              <a:srgbClr val="E875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33472" y="2176272"/>
            <a:ext cx="1499616" cy="7680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F2937"/>
                </a:solidFill>
              </a:rPr>
              <a:t>Controller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4206240" y="2560320"/>
            <a:ext cx="502920" cy="0"/>
          </a:xfrm>
          <a:prstGeom prst="line">
            <a:avLst/>
          </a:prstGeom>
          <a:noFill/>
          <a:ln w="25400">
            <a:solidFill>
              <a:srgbClr val="E87500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709160" y="2103120"/>
            <a:ext cx="1645920" cy="914400"/>
          </a:xfrm>
          <a:prstGeom prst="roundRect">
            <a:avLst>
              <a:gd name="adj" fmla="val 8000"/>
            </a:avLst>
          </a:prstGeom>
          <a:solidFill>
            <a:srgbClr val="E6F4EA"/>
          </a:solidFill>
          <a:ln w="13970">
            <a:solidFill>
              <a:srgbClr val="2E7D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82312" y="2176272"/>
            <a:ext cx="1499616" cy="7680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F2937"/>
                </a:solidFill>
              </a:rPr>
              <a:t>Battery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6355080" y="2560320"/>
            <a:ext cx="502920" cy="0"/>
          </a:xfrm>
          <a:prstGeom prst="line">
            <a:avLst/>
          </a:prstGeom>
          <a:noFill/>
          <a:ln w="25400">
            <a:solidFill>
              <a:srgbClr val="2E7D32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858000" y="210312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FCE8E6"/>
          </a:solidFill>
          <a:ln w="13970">
            <a:solidFill>
              <a:srgbClr val="B3261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31152" y="2176272"/>
            <a:ext cx="1773936" cy="7680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F2937"/>
                </a:solidFill>
              </a:rPr>
              <a:t>Fuse + disconnect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8778240" y="2560320"/>
            <a:ext cx="502920" cy="0"/>
          </a:xfrm>
          <a:prstGeom prst="line">
            <a:avLst/>
          </a:prstGeom>
          <a:noFill/>
          <a:ln w="25400">
            <a:solidFill>
              <a:srgbClr val="7E22CE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281160" y="2103120"/>
            <a:ext cx="2148840" cy="914400"/>
          </a:xfrm>
          <a:prstGeom prst="roundRect">
            <a:avLst>
              <a:gd name="adj" fmla="val 8000"/>
            </a:avLst>
          </a:prstGeom>
          <a:solidFill>
            <a:srgbClr val="F3E8FF"/>
          </a:solidFill>
          <a:ln w="13970">
            <a:solidFill>
              <a:srgbClr val="7E22C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54312" y="2176272"/>
            <a:ext cx="2002536" cy="7680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Inverter / loads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3794760"/>
            <a:ext cx="10241280" cy="1645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2200" dirty="0">
                <a:solidFill>
                  <a:srgbClr val="1F2937"/>
                </a:solidFill>
              </a:rPr>
              <a:t>Mark polarity and the complete return path.</a:t>
            </a:r>
            <a:endParaRPr lang="en-US" sz="2200" dirty="0"/>
          </a:p>
          <a:p>
            <a:r>
              <a:rPr lang="en-US" sz="2200" dirty="0">
                <a:solidFill>
                  <a:srgbClr val="1F2937"/>
                </a:solidFill>
              </a:rPr>
              <a:t>Place protection so it protects the conductor near the source.</a:t>
            </a:r>
            <a:endParaRPr lang="en-US" sz="2200" dirty="0"/>
          </a:p>
          <a:p>
            <a:r>
              <a:rPr lang="en-US" sz="2200" dirty="0">
                <a:solidFill>
                  <a:srgbClr val="1F2937"/>
                </a:solidFill>
              </a:rPr>
              <a:t>Add labels and logical meter points.</a:t>
            </a:r>
            <a:endParaRPr lang="en-US" sz="2200" dirty="0"/>
          </a:p>
          <a:p>
            <a:r>
              <a:rPr lang="en-US" sz="2200" dirty="0">
                <a:solidFill>
                  <a:srgbClr val="1F2937"/>
                </a:solidFill>
              </a:rPr>
              <a:t>Today the diagram is conceptual and must use the provided training assumptions.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1539728" y="6455664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776"/>
                </a:solidFill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1887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CTS Cohort 6 | PV101 | Day 7 | July 15, 2026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68096"/>
            <a:ext cx="11018520" cy="5120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F2937"/>
                </a:solidFill>
              </a:rPr>
              <a:t>Instructor checkpoints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03504" y="1298448"/>
            <a:ext cx="107899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5B6776"/>
                </a:solidFill>
              </a:rPr>
              <a:t>A correct answer must also be inspectable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960120" y="1755648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DDEEFF"/>
          </a:solidFill>
          <a:ln w="13970">
            <a:solidFill>
              <a:srgbClr val="1F77B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1828800"/>
            <a:ext cx="356616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691640" y="1755648"/>
            <a:ext cx="3931920" cy="502920"/>
          </a:xfrm>
          <a:prstGeom prst="roundRect">
            <a:avLst>
              <a:gd name="adj" fmla="val 14545"/>
            </a:avLst>
          </a:prstGeom>
          <a:solidFill>
            <a:srgbClr val="E7ECF2"/>
          </a:solidFill>
          <a:ln w="13970">
            <a:solidFill>
              <a:srgbClr val="5B677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64792" y="1828800"/>
            <a:ext cx="3785616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</a:rPr>
              <a:t>Loads + hours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989320" y="1755648"/>
            <a:ext cx="5120640" cy="502920"/>
          </a:xfrm>
          <a:prstGeom prst="roundRect">
            <a:avLst>
              <a:gd name="adj" fmla="val 14545"/>
            </a:avLst>
          </a:prstGeom>
          <a:solidFill>
            <a:srgbClr val="E7ECF2"/>
          </a:solidFill>
          <a:ln w="13970">
            <a:solidFill>
              <a:srgbClr val="5B677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62472" y="1828800"/>
            <a:ext cx="4974336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Show units + assumptions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960120" y="2414016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DDEEFF"/>
          </a:solidFill>
          <a:ln w="13970">
            <a:solidFill>
              <a:srgbClr val="1F77B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33272" y="2487168"/>
            <a:ext cx="356616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</a:rPr>
              <a:t>2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691640" y="2414016"/>
            <a:ext cx="3931920" cy="502920"/>
          </a:xfrm>
          <a:prstGeom prst="roundRect">
            <a:avLst>
              <a:gd name="adj" fmla="val 14545"/>
            </a:avLst>
          </a:prstGeom>
          <a:solidFill>
            <a:srgbClr val="E7ECF2"/>
          </a:solidFill>
          <a:ln w="13970">
            <a:solidFill>
              <a:srgbClr val="5B677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64792" y="2487168"/>
            <a:ext cx="3785616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</a:rPr>
              <a:t>Daily Wh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989320" y="2414016"/>
            <a:ext cx="5120640" cy="502920"/>
          </a:xfrm>
          <a:prstGeom prst="roundRect">
            <a:avLst>
              <a:gd name="adj" fmla="val 14545"/>
            </a:avLst>
          </a:prstGeom>
          <a:solidFill>
            <a:srgbClr val="FFF2D8"/>
          </a:solidFill>
          <a:ln w="13970">
            <a:solidFill>
              <a:srgbClr val="E875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2487168"/>
            <a:ext cx="4974336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Show units + assumptions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960120" y="3072384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DDEEFF"/>
          </a:solidFill>
          <a:ln w="13970">
            <a:solidFill>
              <a:srgbClr val="1F77B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33272" y="3145536"/>
            <a:ext cx="356616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</a:rPr>
              <a:t>3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691640" y="3072384"/>
            <a:ext cx="3931920" cy="502920"/>
          </a:xfrm>
          <a:prstGeom prst="roundRect">
            <a:avLst>
              <a:gd name="adj" fmla="val 14545"/>
            </a:avLst>
          </a:prstGeom>
          <a:solidFill>
            <a:srgbClr val="E7ECF2"/>
          </a:solidFill>
          <a:ln w="13970">
            <a:solidFill>
              <a:srgbClr val="5B677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764792" y="3145536"/>
            <a:ext cx="3785616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</a:rPr>
              <a:t>Storage Wh/Ah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989320" y="3072384"/>
            <a:ext cx="5120640" cy="502920"/>
          </a:xfrm>
          <a:prstGeom prst="roundRect">
            <a:avLst>
              <a:gd name="adj" fmla="val 14545"/>
            </a:avLst>
          </a:prstGeom>
          <a:solidFill>
            <a:srgbClr val="E7ECF2"/>
          </a:solidFill>
          <a:ln w="13970">
            <a:solidFill>
              <a:srgbClr val="5B677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62472" y="3145536"/>
            <a:ext cx="4974336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Show units + assumptions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960120" y="3730752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E6F4EA"/>
          </a:solidFill>
          <a:ln w="13970">
            <a:solidFill>
              <a:srgbClr val="2E7D3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33272" y="3803904"/>
            <a:ext cx="356616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</a:rPr>
              <a:t>4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691640" y="3730752"/>
            <a:ext cx="3931920" cy="502920"/>
          </a:xfrm>
          <a:prstGeom prst="roundRect">
            <a:avLst>
              <a:gd name="adj" fmla="val 14545"/>
            </a:avLst>
          </a:prstGeom>
          <a:solidFill>
            <a:srgbClr val="E7ECF2"/>
          </a:solidFill>
          <a:ln w="13970">
            <a:solidFill>
              <a:srgbClr val="5B677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764792" y="3803904"/>
            <a:ext cx="3785616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</a:rPr>
              <a:t>Array + inverter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5989320" y="3730752"/>
            <a:ext cx="5120640" cy="502920"/>
          </a:xfrm>
          <a:prstGeom prst="roundRect">
            <a:avLst>
              <a:gd name="adj" fmla="val 14545"/>
            </a:avLst>
          </a:prstGeom>
          <a:solidFill>
            <a:srgbClr val="FFF2D8"/>
          </a:solidFill>
          <a:ln w="13970">
            <a:solidFill>
              <a:srgbClr val="E875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62472" y="3803904"/>
            <a:ext cx="4974336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Show units + assumptions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960120" y="43891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E6F4EA"/>
          </a:solidFill>
          <a:ln w="13970">
            <a:solidFill>
              <a:srgbClr val="2E7D3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33272" y="4462272"/>
            <a:ext cx="356616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</a:rPr>
              <a:t>5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1691640" y="4389120"/>
            <a:ext cx="3931920" cy="502920"/>
          </a:xfrm>
          <a:prstGeom prst="roundRect">
            <a:avLst>
              <a:gd name="adj" fmla="val 14545"/>
            </a:avLst>
          </a:prstGeom>
          <a:solidFill>
            <a:srgbClr val="E7ECF2"/>
          </a:solidFill>
          <a:ln w="13970">
            <a:solidFill>
              <a:srgbClr val="5B677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764792" y="4462272"/>
            <a:ext cx="3785616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</a:rPr>
              <a:t>One-line diagram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5989320" y="4389120"/>
            <a:ext cx="5120640" cy="502920"/>
          </a:xfrm>
          <a:prstGeom prst="roundRect">
            <a:avLst>
              <a:gd name="adj" fmla="val 14545"/>
            </a:avLst>
          </a:prstGeom>
          <a:solidFill>
            <a:srgbClr val="E7ECF2"/>
          </a:solidFill>
          <a:ln w="13970">
            <a:solidFill>
              <a:srgbClr val="5B677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62472" y="4462272"/>
            <a:ext cx="4974336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Show units + assumptions</a:t>
            </a:r>
            <a:endParaRPr lang="en-US" sz="1700" dirty="0"/>
          </a:p>
        </p:txBody>
      </p:sp>
      <p:sp>
        <p:nvSpPr>
          <p:cNvPr id="36" name="Shape 34"/>
          <p:cNvSpPr/>
          <p:nvPr/>
        </p:nvSpPr>
        <p:spPr>
          <a:xfrm>
            <a:off x="960120" y="5047488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E6F4EA"/>
          </a:solidFill>
          <a:ln w="13970">
            <a:solidFill>
              <a:srgbClr val="2E7D3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33272" y="5120640"/>
            <a:ext cx="356616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</a:rPr>
              <a:t>6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1691640" y="5047488"/>
            <a:ext cx="3931920" cy="502920"/>
          </a:xfrm>
          <a:prstGeom prst="roundRect">
            <a:avLst>
              <a:gd name="adj" fmla="val 14545"/>
            </a:avLst>
          </a:prstGeom>
          <a:solidFill>
            <a:srgbClr val="E7ECF2"/>
          </a:solidFill>
          <a:ln w="13970">
            <a:solidFill>
              <a:srgbClr val="5B677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764792" y="5120640"/>
            <a:ext cx="3785616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</a:rPr>
              <a:t>Peer check + signoff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5989320" y="5047488"/>
            <a:ext cx="5120640" cy="502920"/>
          </a:xfrm>
          <a:prstGeom prst="roundRect">
            <a:avLst>
              <a:gd name="adj" fmla="val 14545"/>
            </a:avLst>
          </a:prstGeom>
          <a:solidFill>
            <a:srgbClr val="FFF2D8"/>
          </a:solidFill>
          <a:ln w="13970">
            <a:solidFill>
              <a:srgbClr val="E875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062472" y="5120640"/>
            <a:ext cx="4974336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Revise before signature</a:t>
            </a:r>
            <a:endParaRPr lang="en-US" sz="1700" dirty="0"/>
          </a:p>
        </p:txBody>
      </p:sp>
      <p:sp>
        <p:nvSpPr>
          <p:cNvPr id="42" name="Text 40"/>
          <p:cNvSpPr/>
          <p:nvPr/>
        </p:nvSpPr>
        <p:spPr>
          <a:xfrm>
            <a:off x="11539728" y="6455664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776"/>
                </a:solidFill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1887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CTS Cohort 6 | PV101 | Day 7 | July 15, 2026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68096"/>
            <a:ext cx="11018520" cy="5120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F2937"/>
                </a:solidFill>
              </a:rPr>
              <a:t>Verification check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03504" y="1298448"/>
            <a:ext cx="107899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5B6776"/>
                </a:solidFill>
              </a:rPr>
              <a:t>Before instructor signoff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14400" y="1691640"/>
            <a:ext cx="10287000" cy="4069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2400" dirty="0">
                <a:solidFill>
                  <a:srgbClr val="1F2937"/>
                </a:solidFill>
              </a:rPr>
              <a:t>Loads and hours copied correctly.</a:t>
            </a:r>
            <a:endParaRPr lang="en-US" sz="2400" dirty="0"/>
          </a:p>
          <a:p>
            <a:r>
              <a:rPr lang="en-US" sz="2400" dirty="0">
                <a:solidFill>
                  <a:srgbClr val="1F2937"/>
                </a:solidFill>
              </a:rPr>
              <a:t>Every calculation shows the formula and unit.</a:t>
            </a:r>
            <a:endParaRPr lang="en-US" sz="2400" dirty="0"/>
          </a:p>
          <a:p>
            <a:r>
              <a:rPr lang="en-US" sz="2400" dirty="0">
                <a:solidFill>
                  <a:srgbClr val="1F2937"/>
                </a:solidFill>
              </a:rPr>
              <a:t>Autonomy, usable fraction / depth of discharge, peak sun hours, and loss multiplier match the worksheet.</a:t>
            </a:r>
            <a:endParaRPr lang="en-US" sz="2400" dirty="0"/>
          </a:p>
          <a:p>
            <a:r>
              <a:rPr lang="en-US" sz="2400" dirty="0">
                <a:solidFill>
                  <a:srgbClr val="1F2937"/>
                </a:solidFill>
              </a:rPr>
              <a:t>Answers are reasonable and rounded clearly.</a:t>
            </a:r>
            <a:endParaRPr lang="en-US" sz="2400" dirty="0"/>
          </a:p>
          <a:p>
            <a:r>
              <a:rPr lang="en-US" sz="2400" dirty="0">
                <a:solidFill>
                  <a:srgbClr val="1F2937"/>
                </a:solidFill>
              </a:rPr>
              <a:t>Diagram shows protection, disconnects, labels, meter points, and return path.</a:t>
            </a:r>
            <a:endParaRPr lang="en-US" sz="2400" dirty="0"/>
          </a:p>
          <a:p>
            <a:r>
              <a:rPr lang="en-US" sz="2400" dirty="0">
                <a:solidFill>
                  <a:srgbClr val="1F2937"/>
                </a:solidFill>
              </a:rPr>
              <a:t>Peer check completed and corrections visible.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1539728" y="6455664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776"/>
                </a:solidFill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1887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CTS Cohort 6 | PV101 | Day 7 | July 15, 2026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68096"/>
            <a:ext cx="11018520" cy="5120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F2937"/>
                </a:solidFill>
              </a:rPr>
              <a:t>Day 7 closeout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03504" y="1298448"/>
            <a:ext cx="107899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5B6776"/>
                </a:solidFill>
              </a:rPr>
              <a:t>Reflection, evidence, cleanup, final reminder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822960" y="1920240"/>
            <a:ext cx="3063240" cy="1051560"/>
          </a:xfrm>
          <a:prstGeom prst="roundRect">
            <a:avLst>
              <a:gd name="adj" fmla="val 6957"/>
            </a:avLst>
          </a:prstGeom>
          <a:solidFill>
            <a:srgbClr val="DDEEFF"/>
          </a:solidFill>
          <a:ln w="13970">
            <a:solidFill>
              <a:srgbClr val="1F77B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993392"/>
            <a:ext cx="2916936" cy="9052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F2937"/>
                </a:solidFill>
              </a:rPr>
              <a:t>Submit</a:t>
            </a:r>
            <a:endParaRPr lang="en-US" sz="2300" dirty="0"/>
          </a:p>
          <a:p>
            <a:pPr algn="ctr" indent="0" marL="0">
              <a:buNone/>
            </a:pPr>
            <a:r>
              <a:rPr lang="en-US" sz="2300" b="1" dirty="0">
                <a:solidFill>
                  <a:srgbClr val="1F2937"/>
                </a:solidFill>
              </a:rPr>
              <a:t>worksheet + reflection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4572000" y="1920240"/>
            <a:ext cx="3063240" cy="1051560"/>
          </a:xfrm>
          <a:prstGeom prst="roundRect">
            <a:avLst>
              <a:gd name="adj" fmla="val 6957"/>
            </a:avLst>
          </a:prstGeom>
          <a:solidFill>
            <a:srgbClr val="FFF2D8"/>
          </a:solidFill>
          <a:ln w="13970">
            <a:solidFill>
              <a:srgbClr val="E875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45152" y="1993392"/>
            <a:ext cx="2916936" cy="9052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F2937"/>
                </a:solidFill>
              </a:rPr>
              <a:t>Return</a:t>
            </a:r>
            <a:endParaRPr lang="en-US" sz="2300" dirty="0"/>
          </a:p>
          <a:p>
            <a:pPr algn="ctr" indent="0" marL="0">
              <a:buNone/>
            </a:pPr>
            <a:r>
              <a:rPr lang="en-US" sz="2300" b="1" dirty="0">
                <a:solidFill>
                  <a:srgbClr val="1F2937"/>
                </a:solidFill>
              </a:rPr>
              <a:t>calculators + rulers</a:t>
            </a:r>
            <a:endParaRPr lang="en-US" sz="2300" dirty="0"/>
          </a:p>
        </p:txBody>
      </p:sp>
      <p:sp>
        <p:nvSpPr>
          <p:cNvPr id="10" name="Shape 8"/>
          <p:cNvSpPr/>
          <p:nvPr/>
        </p:nvSpPr>
        <p:spPr>
          <a:xfrm>
            <a:off x="8321040" y="1920240"/>
            <a:ext cx="3063240" cy="1051560"/>
          </a:xfrm>
          <a:prstGeom prst="roundRect">
            <a:avLst>
              <a:gd name="adj" fmla="val 6957"/>
            </a:avLst>
          </a:prstGeom>
          <a:solidFill>
            <a:srgbClr val="E6F4EA"/>
          </a:solidFill>
          <a:ln w="13970">
            <a:solidFill>
              <a:srgbClr val="2E7D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94192" y="1993392"/>
            <a:ext cx="2916936" cy="9052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F2937"/>
                </a:solidFill>
              </a:rPr>
              <a:t>Leave</a:t>
            </a:r>
            <a:endParaRPr lang="en-US" sz="2300" dirty="0"/>
          </a:p>
          <a:p>
            <a:pPr algn="ctr" indent="0" marL="0">
              <a:buNone/>
            </a:pPr>
            <a:r>
              <a:rPr lang="en-US" sz="2300" b="1" dirty="0">
                <a:solidFill>
                  <a:srgbClr val="1F2937"/>
                </a:solidFill>
              </a:rPr>
              <a:t>tables clear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914400" y="4160520"/>
            <a:ext cx="1033272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1F2937"/>
                </a:solidFill>
              </a:rPr>
              <a:t>Tomorrow: cumulative review and a 25-question final assessment.</a:t>
            </a:r>
            <a:endParaRPr lang="en-US" sz="2900" dirty="0"/>
          </a:p>
        </p:txBody>
      </p:sp>
      <p:sp>
        <p:nvSpPr>
          <p:cNvPr id="13" name="Text 11"/>
          <p:cNvSpPr/>
          <p:nvPr/>
        </p:nvSpPr>
        <p:spPr>
          <a:xfrm>
            <a:off x="1097280" y="5166360"/>
            <a:ext cx="99669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5B6776"/>
                </a:solidFill>
              </a:rPr>
              <a:t>Cleanup begins at 2:55. Dismissal follows the room reset.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1539728" y="6455664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776"/>
                </a:solidFill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Alternative Youth Activities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PV101 Day 7 - Load Assessment and System Sizing</dc:title>
  <dc:subject>Chapters 11-12 reading check and guided sizing practice</dc:subject>
  <dc:creator>CTS</dc:creator>
  <cp:lastModifiedBy>CTS</cp:lastModifiedBy>
  <cp:revision>1</cp:revision>
  <dcterms:created xsi:type="dcterms:W3CDTF">2026-07-15T05:03:43Z</dcterms:created>
  <dcterms:modified xsi:type="dcterms:W3CDTF">2026-07-15T05:03:43Z</dcterms:modified>
</cp:coreProperties>
</file>