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calm. Tell students this module is hands-on but not rushed. The first day is about how professionals move around tools, systems, and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lower anxiety. Students should know the shape of the day before tools come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whole day. Keep referring back to them during lab and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RCS as a continuation of CTS, not a new unrelated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capstone concrete now. Students should know why Day 1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for examples of each system. Keep it practical and familiar.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direct. RCS is about becoming employable, not just completing school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let safety become a lecture cloud. Keep it behavioral.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glasses, hearing protection, gloves as appropriate, and when gloves are not appropriate around rotating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explicit. Stop-work authority is not drama or getting someone in trouble.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this to real shops. Tool chaos wastes time and erodes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that today is introduction and supervised demonstration. Independent use requires instructor clearance.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drill/driver as the first live demonstration if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circular saw, miter saw, and jigsaw only at a high level. Do not clear students for independent use without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to Day 2 framing. Use a tape and speed square as visible props.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supply vs drain. Keep it beginner friendly.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predict what the trap does before explaining. Then state it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the workflow before handing out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roles even with small groups. Rotate halfway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examples if you have old fittings. This prevents shame during leaks.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lab pause. No water until the group can explain the assembly.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students the exact kind of entry you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cleanup part of grading and professional habits.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quiet time. This checks what landed and what needs reteaching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making tomorrow feel connected to today and the final wall.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B55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RCS Day 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Residential Systems &amp; Shop Safety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1993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CTS Cohort 6 | Monday, July 20,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2788920"/>
            <a:ext cx="5303520" cy="150876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53512"/>
            <a:ext cx="4974336" cy="1197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Today's rule: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A professional does not guess. A professional checks, protects, and verifies.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37960" y="2880360"/>
            <a:ext cx="1024128" cy="713232"/>
          </a:xfrm>
          <a:prstGeom prst="roundRect">
            <a:avLst>
              <a:gd name="adj" fmla="val 7692"/>
            </a:avLst>
          </a:prstGeom>
          <a:solidFill>
            <a:srgbClr val="F5C54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313639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Structure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2880360"/>
            <a:ext cx="1024128" cy="713232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18704" y="313639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Electrical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89720" y="2880360"/>
            <a:ext cx="1024128" cy="713232"/>
          </a:xfrm>
          <a:prstGeom prst="roundRect">
            <a:avLst>
              <a:gd name="adj" fmla="val 7692"/>
            </a:avLst>
          </a:prstGeom>
          <a:solidFill>
            <a:srgbClr val="F5C54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44584" y="313639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Plumbing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515600" y="2880360"/>
            <a:ext cx="1024128" cy="713232"/>
          </a:xfrm>
          <a:prstGeom prst="roundRect">
            <a:avLst>
              <a:gd name="adj" fmla="val 769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70464" y="313639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Finish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37960" y="3886200"/>
            <a:ext cx="49834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One building. Many systems. One standard: verify before covering.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" y="647395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CTS Cohort 6 | RCS Day 1 | 7/20/2026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Today's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Start safe, learn the system, then build and test a simple plumbing assembly.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85800" y="1399032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9504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47218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10:00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1453896"/>
            <a:ext cx="7543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Arrival + safety reset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1901952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99796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197510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10:15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1956816"/>
            <a:ext cx="7543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RCS overview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2404872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50088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47802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10:40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31720" y="2459736"/>
            <a:ext cx="7543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PPE + shop rules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" y="2907792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00380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298094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11:10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2962656"/>
            <a:ext cx="7543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Power tool intro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" y="3410712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50672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348386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11:35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31720" y="3465576"/>
            <a:ext cx="7543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Quiz + review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85800" y="3913632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00964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8720" y="398678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12:30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31720" y="3968496"/>
            <a:ext cx="7543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Rolling sink lab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85800" y="4416552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51256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88720" y="448970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2:35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331720" y="4471416"/>
            <a:ext cx="7543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Document + cleanup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85800" y="4919472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01548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8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88720" y="499262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2:50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331720" y="4974336"/>
            <a:ext cx="7543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Exit ticket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818120" y="5166360"/>
            <a:ext cx="3383280" cy="749808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82712" y="5330952"/>
            <a:ext cx="3054096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Quiet quiz first. Hands-on work after the safety frame is clear.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targets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By dismissal, students should be able to do these without guessing.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649224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Name the major residential building systems.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Select PPE for common shop tasks.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Explain stop-work authority and tool accountability.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Identify common power tools and their main hazards.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Assemble a simple sink drain and P-trap.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Leak test, correct, and document the assembly.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818120" y="19202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82712" y="2084832"/>
            <a:ext cx="3191256" cy="1837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</a:rPr>
              <a:t>Today is about professional habits before capstone work starts.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RCS means in CTS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Residential Construction Specialty is where technical habits become jobsite habits.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68680" y="14447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</a:rPr>
              <a:t>Work habits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46520" y="14447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</a:rPr>
              <a:t>Trade content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438912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Measure before cutting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Inspect before covering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Communicate before moving material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Clean before calling a task finished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438912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Framing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Electrical rough-in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Plumbing basics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Drywall and inspection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57800" y="2514600"/>
            <a:ext cx="1051560" cy="777240"/>
          </a:xfrm>
          <a:prstGeom prst="chevron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3320" y="4983480"/>
            <a:ext cx="4800600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67912" y="5148072"/>
            <a:ext cx="4471416" cy="374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The habit is the portable skill.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final wall project starts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Every day points toward the individual 4 ft x 3 ft wall build.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68680" y="1417320"/>
            <a:ext cx="5303520" cy="3840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Frame a small wall section.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Build a window rough opening.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Install two receptacle boxes.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Install one switch and light circuit.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Drywall the whole board with proper cutouts.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Explain and inspect the finished work.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949440" y="1691640"/>
            <a:ext cx="3566160" cy="269748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2148840"/>
            <a:ext cx="1051560" cy="868680"/>
          </a:xfrm>
          <a:prstGeom prst="rect">
            <a:avLst/>
          </a:prstGeom>
          <a:solidFill>
            <a:srgbClr val="F8FAFC"/>
          </a:solidFill>
          <a:ln w="1524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3840480"/>
            <a:ext cx="5943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72600" y="3840480"/>
            <a:ext cx="5943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3657600"/>
            <a:ext cx="438912" cy="594360"/>
          </a:xfrm>
          <a:prstGeom prst="rect">
            <a:avLst/>
          </a:prstGeom>
          <a:solidFill>
            <a:srgbClr val="F5C542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4617720"/>
            <a:ext cx="3291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4 ft x 3 ft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individual wall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Residential systems 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Buildings are not random parts. They are connected systems.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97280" y="160020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5C54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929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Structure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023360" y="160020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929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Electrical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949440" y="160020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5C54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9293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Plumbing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560320" y="333756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366674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HVAC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0" y="333756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5C54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366674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Envelope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412480" y="333756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366674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Finish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463040" y="5074920"/>
            <a:ext cx="905256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5239512"/>
            <a:ext cx="8723376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A good builder understands what will be hidden, protected, or affected by the next trade.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Professional expectations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Employers notice habits before they trust skill.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649224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800" dirty="0">
                <a:solidFill>
                  <a:srgbClr val="111827"/>
                </a:solidFill>
              </a:rPr>
              <a:t>Show up ready to work.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Ask before touching unknown tools or systems.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Keep your area organized enough to be safe.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Tell the truth about mistakes quickly.</a:t>
            </a:r>
            <a:endParaRPr lang="en-US" sz="1800" dirty="0"/>
          </a:p>
          <a:p>
            <a:r>
              <a:rPr lang="en-US" sz="1800" dirty="0">
                <a:solidFill>
                  <a:srgbClr val="111827"/>
                </a:solidFill>
              </a:rPr>
              <a:t>Document work so another person can understand it.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818120" y="19202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82712" y="2084832"/>
            <a:ext cx="3191256" cy="1837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</a:rPr>
              <a:t>Today is about professional habits before capstone work starts.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is not a speech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Safety is the way the work gets done.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3063240" cy="3154680"/>
          </a:xfrm>
          <a:prstGeom prst="roundRect">
            <a:avLst>
              <a:gd name="adj" fmla="val 179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PPE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2532888"/>
            <a:ext cx="2578608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Eyes, ears, hands, lungs, and clothing match the task.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80560" y="1417320"/>
            <a:ext cx="3063240" cy="3154680"/>
          </a:xfrm>
          <a:prstGeom prst="roundRect">
            <a:avLst>
              <a:gd name="adj" fmla="val 1791"/>
            </a:avLst>
          </a:prstGeom>
          <a:solidFill>
            <a:srgbClr val="F5C54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Position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9160" y="2532888"/>
            <a:ext cx="2578608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Stable feet, clear hands, clear blade path, no body parts in the line of fire.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063240" cy="3154680"/>
          </a:xfrm>
          <a:prstGeom prst="roundRect">
            <a:avLst>
              <a:gd name="adj" fmla="val 179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Communication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66760" y="2532888"/>
            <a:ext cx="2578608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Call out before cuts, moving material, energizing, or testing.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PPE for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Use the protection that matches the hazard. More is not always better; wrong PPE is still wrong.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868680" y="1508760"/>
            <a:ext cx="4663440" cy="1325880"/>
          </a:xfrm>
          <a:prstGeom prst="roundRect">
            <a:avLst>
              <a:gd name="adj" fmla="val 4138"/>
            </a:avLst>
          </a:prstGeom>
          <a:solidFill>
            <a:srgbClr val="F5C54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170992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Eye protection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9848" y="21671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Required during cutting, drilling, fastening, and leak-test cleanup.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3474720"/>
            <a:ext cx="4663440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67588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Hearing protection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69848" y="413308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Required around saws and loud tools.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4663440" cy="1325880"/>
          </a:xfrm>
          <a:prstGeom prst="roundRect">
            <a:avLst>
              <a:gd name="adj" fmla="val 4138"/>
            </a:avLst>
          </a:prstGeom>
          <a:solidFill>
            <a:srgbClr val="F5C54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70992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Gloves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73368" y="21671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Useful for carrying material. Not for rotating blades/bits.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72200" y="3474720"/>
            <a:ext cx="4663440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367588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Dust control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73368" y="413308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</a:rPr>
              <a:t>Drywall and cutting dust need cleanup and breathing awareness.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Stop-work authority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Stopping is a skill. Guessing is not a method.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65836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Something feels unsafe or unclear.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A tool is damaged or behaving oddly.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A cut, route, or connection does not match the plan.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Someone is in the path of material, blade, cord, water, or tool movement.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You cannot explain the next step.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96596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82712" y="2130552"/>
            <a:ext cx="3145536" cy="1517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Stop. Ask. Verify.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accountability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A missing tool is not a mystery. It is a future problem.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Check out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25880" y="2249424"/>
            <a:ext cx="411480" cy="201168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16352" y="2148840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6352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9192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Inspect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10712" y="2249424"/>
            <a:ext cx="411480" cy="201168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01184" y="2148840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64024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Use correctly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95544" y="2249424"/>
            <a:ext cx="411480" cy="201168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86016" y="2148840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86016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48856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Return clean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0376" y="2249424"/>
            <a:ext cx="411480" cy="201168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70848" y="2148840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70848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33688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Report damage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828800" y="4645152"/>
            <a:ext cx="84582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93392" y="4809744"/>
            <a:ext cx="8129016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Same tool. Same place. Every time.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tool safety ladder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Students earn tool use through demonstrated control, not confidence.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Identify tool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25880" y="2249424"/>
            <a:ext cx="411480" cy="201168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0686" y="2148840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20686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83526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Inspect condition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15046" y="2249424"/>
            <a:ext cx="411480" cy="201168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9851" y="2148840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9851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72691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Set material support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04211" y="2249424"/>
            <a:ext cx="411480" cy="201168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99017" y="2148840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9017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61857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Check body position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93377" y="2249424"/>
            <a:ext cx="411480" cy="201168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88183" y="2148840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88183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51023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Operate slowly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82543" y="2249424"/>
            <a:ext cx="411480" cy="201168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77349" y="2148840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77349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0189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Shut down safely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771709" y="2249424"/>
            <a:ext cx="411480" cy="201168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66514" y="2148840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66514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29354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Clean and return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828800" y="4645152"/>
            <a:ext cx="84582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93392" y="4809744"/>
            <a:ext cx="8129016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Confidence is not clearance. Demonstration is clearance.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Drill and driver safety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Small tools can still injure people and ruin work.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65836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Correct bit or driver tip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Battery removed during bit changes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Clamp or secure material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Two hands when needed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Low speed for starting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Stop before stripping or splitting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96596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82712" y="2130552"/>
            <a:ext cx="3145536" cy="1517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Slow is smooth. Smooth is safe.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Saw safety 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A saw cut is a planned movement, not a surprise event.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65836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Know the blade path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Support both sides of material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Keep hands outside the danger zone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Wait for full stop before moving off cut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Never bypass guards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Ask before any unfamiliar cut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96596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82712" y="2130552"/>
            <a:ext cx="3145536" cy="1517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Slow is smooth. Smooth is safe.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Measurement habit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The cut is only as good as the layout.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65836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Read the tape correctly.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Mark the waste side.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Use the square for straight lines.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Verify with a partner before cutting.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Write important dimensions down.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96596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82712" y="2130552"/>
            <a:ext cx="3145536" cy="1517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Mark it so someone else can understand it.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Plumbing system example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Today's lab uses plumbing because leaks tell the truth quickly.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1234440" cy="685800"/>
          </a:xfrm>
          <a:prstGeom prst="roundRect">
            <a:avLst>
              <a:gd name="adj" fmla="val 6667"/>
            </a:avLst>
          </a:prstGeom>
          <a:solidFill>
            <a:srgbClr val="F5C54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30428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Water source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11096" y="2258568"/>
            <a:ext cx="246888" cy="210312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280" y="2057400"/>
            <a:ext cx="123444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95144" y="230428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Shutoff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11296" y="2258568"/>
            <a:ext cx="246888" cy="210312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2057400"/>
            <a:ext cx="1234440" cy="685800"/>
          </a:xfrm>
          <a:prstGeom prst="roundRect">
            <a:avLst>
              <a:gd name="adj" fmla="val 6667"/>
            </a:avLst>
          </a:prstGeom>
          <a:solidFill>
            <a:srgbClr val="F5C54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95344" y="230428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Faucet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11496" y="2258568"/>
            <a:ext cx="246888" cy="210312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0680" y="2057400"/>
            <a:ext cx="123444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95544" y="230428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Sink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11696" y="2258568"/>
            <a:ext cx="246888" cy="210312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2057400"/>
            <a:ext cx="1234440" cy="685800"/>
          </a:xfrm>
          <a:prstGeom prst="roundRect">
            <a:avLst>
              <a:gd name="adj" fmla="val 6667"/>
            </a:avLst>
          </a:prstGeom>
          <a:solidFill>
            <a:srgbClr val="F5C54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95744" y="230428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Tailpiece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311896" y="2258568"/>
            <a:ext cx="246888" cy="210312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41080" y="2057400"/>
            <a:ext cx="123444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95944" y="230428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P-trap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912096" y="2258568"/>
            <a:ext cx="246888" cy="210312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41280" y="2057400"/>
            <a:ext cx="1234440" cy="685800"/>
          </a:xfrm>
          <a:prstGeom prst="roundRect">
            <a:avLst>
              <a:gd name="adj" fmla="val 6667"/>
            </a:avLst>
          </a:prstGeom>
          <a:solidFill>
            <a:srgbClr val="F5C54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96144" y="230428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Drain outlet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0" y="416052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76272" y="4325112"/>
            <a:ext cx="7808976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Supply brings clean water in. Drainage carries used water out. The trap protects the space.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 P-trap exists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The bend is not decorative. It is a simple safety system.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65836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Holds water to block sewer gas.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Creates a removable service point.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Needs correct washer orientation and tight joints.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Leaks usually come from alignment, missing washers, or overtightening.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96596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82712" y="2130552"/>
            <a:ext cx="3145536" cy="1517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The part has a job. Know the job before tightening.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Afternoon lab mission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Rolling sink module: assemble, test, correct, document.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Inventory parts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25880" y="2249424"/>
            <a:ext cx="411480" cy="201168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0686" y="2148840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20686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83526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Dry-fit layout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15046" y="2249424"/>
            <a:ext cx="411480" cy="201168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9851" y="2148840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9851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72691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Assemble by hand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04211" y="2249424"/>
            <a:ext cx="411480" cy="201168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99017" y="2148840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9017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61857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Leak test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93377" y="2249424"/>
            <a:ext cx="411480" cy="201168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88183" y="2148840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88183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51023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Troubleshoot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82543" y="2249424"/>
            <a:ext cx="411480" cy="201168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77349" y="2148840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77349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0189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Document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771709" y="2249424"/>
            <a:ext cx="411480" cy="201168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66514" y="2148840"/>
            <a:ext cx="384048" cy="384048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66514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29354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Reset station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828800" y="4645152"/>
            <a:ext cx="845820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93392" y="4809744"/>
            <a:ext cx="8129016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Build - test - correct - document.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roles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Clear roles prevent six hands from becoming one plumbing octopus.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3063240" cy="3154680"/>
          </a:xfrm>
          <a:prstGeom prst="roundRect">
            <a:avLst>
              <a:gd name="adj" fmla="val 179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Builder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2532888"/>
            <a:ext cx="2578608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Assembles parts and calls out each step.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80560" y="1417320"/>
            <a:ext cx="3063240" cy="3154680"/>
          </a:xfrm>
          <a:prstGeom prst="roundRect">
            <a:avLst>
              <a:gd name="adj" fmla="val 1791"/>
            </a:avLst>
          </a:prstGeom>
          <a:solidFill>
            <a:srgbClr val="F5C54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Inspector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9160" y="2532888"/>
            <a:ext cx="2578608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Checks alignment, washers, tightness, and leaks.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063240" cy="3154680"/>
          </a:xfrm>
          <a:prstGeom prst="roundRect">
            <a:avLst>
              <a:gd name="adj" fmla="val 179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Documenter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66760" y="2532888"/>
            <a:ext cx="2578608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Records parts, problems, fixes, and evidence photos.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mistakes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Mistakes are data when they are noticed early.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65836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Cross-threaded slip nut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Washer missing or reversed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Trap arm not aligned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Overtightened plastic fitting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No bucket or towel during testing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Leak not documented before repair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96596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82712" y="2130552"/>
            <a:ext cx="3145536" cy="1517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Find it early. Fix it clean.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checkpoint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Stop before water. Inspect before testing.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65836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All washers present and facing correctly.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Slip nuts started straight.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Trap path can be explained.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Bucket/towel ready.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Instructor or peer check complete.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96596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82712" y="2130552"/>
            <a:ext cx="3145536" cy="1517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No water until the path makes sense.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log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Documentation is safety support, not paperwork theater.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65836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What I checked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What I expected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What I observed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Tool or method used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What I corrected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What still needs checking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96596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82712" y="2130552"/>
            <a:ext cx="3145536" cy="1517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If it is not documented, the next person has to guess.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Cleanup standard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The job is not done until the next person can start safely.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65836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Water off and area dry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Parts counted and returned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Tools cleaned and stored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Floor clear of trip/slip hazards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Evidence uploaded or turned in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96596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82712" y="2130552"/>
            <a:ext cx="3145536" cy="1517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Reset is part of the work.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Write complete sentences. Short is fine. Vague is not.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65836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One residential system I can name is...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One safety rule I need to remember is...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One thing I verified during lab was...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One thing I want more practice with is...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96596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82712" y="2130552"/>
            <a:ext cx="3145536" cy="1517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This tells us what to reteach.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Tomorrow preview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104241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Day 2: measuring, layout, framing, and controlled tool use.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CTS Cohort 6 | RCS Day 1 | 7/20/2026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8275320" y="6473952"/>
            <a:ext cx="3337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4B5563"/>
                </a:solidFill>
              </a:rPr>
              <a:t>Residential Construction Specialty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65836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700" dirty="0">
                <a:solidFill>
                  <a:srgbClr val="111827"/>
                </a:solidFill>
              </a:rPr>
              <a:t>Tape measure accuracy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Speed square layout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Cut list basics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Wall parts: plates, studs, rough opening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Power tool clearance and supervised cuts</a:t>
            </a:r>
            <a:endParaRPr lang="en-US" sz="1700" dirty="0"/>
          </a:p>
          <a:p>
            <a:r>
              <a:rPr lang="en-US" sz="1700" dirty="0">
                <a:solidFill>
                  <a:srgbClr val="111827"/>
                </a:solidFill>
              </a:rPr>
              <a:t>Building toward the individual wall project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96596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651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82712" y="2130552"/>
            <a:ext cx="3145536" cy="1517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Tomorrow starts the wall.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Alternative Youth Activities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RCS Day 1 - Residential Systems and Shop Safety</dc:title>
  <dc:subject>CTS Cohort 6 RCS Day 1</dc:subject>
  <dc:creator>AYA CTS / CANONICAL</dc:creator>
  <cp:lastModifiedBy>AYA CTS / CANONICAL</cp:lastModifiedBy>
  <cp:revision>1</cp:revision>
  <dcterms:created xsi:type="dcterms:W3CDTF">2026-07-17T00:52:45Z</dcterms:created>
  <dcterms:modified xsi:type="dcterms:W3CDTF">2026-07-17T00:52:45Z</dcterms:modified>
</cp:coreProperties>
</file>