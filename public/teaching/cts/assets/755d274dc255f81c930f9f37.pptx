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PV101 Day 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2026-07-08 | Tim with trail crew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Rich leads today</a:t>
            </a:r>
          </a:p>
          <a:p>
            <a:pPr>
              <a:spcAft>
                <a:spcPts val="800"/>
              </a:spcAft>
              <a:defRPr sz="2400"/>
            </a:pPr>
            <a:r>
              <a:t>Morning: Chapters 3-4 reading quiz</a:t>
            </a:r>
          </a:p>
          <a:p>
            <a:pPr>
              <a:spcAft>
                <a:spcPts val="800"/>
              </a:spcAft>
              <a:defRPr sz="2400"/>
            </a:pPr>
            <a:r>
              <a:t>Afternoon: wire stripping and crimping lab</a:t>
            </a:r>
          </a:p>
          <a:p>
            <a:pPr>
              <a:spcAft>
                <a:spcPts val="800"/>
              </a:spcAft>
              <a:defRPr sz="2400"/>
            </a:pPr>
            <a:r>
              <a:t>6 students: 2 groups of 3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Today's Target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Understand the solar system path</a:t>
            </a:r>
          </a:p>
          <a:p>
            <a:pPr>
              <a:spcAft>
                <a:spcPts val="800"/>
              </a:spcAft>
              <a:defRPr sz="2400"/>
            </a:pPr>
            <a:r>
              <a:t>Use PV vocabulary without guessing</a:t>
            </a:r>
          </a:p>
          <a:p>
            <a:pPr>
              <a:spcAft>
                <a:spcPts val="800"/>
              </a:spcAft>
              <a:defRPr sz="2400"/>
            </a:pPr>
            <a:r>
              <a:t>Prepare wire cleanly</a:t>
            </a:r>
          </a:p>
          <a:p>
            <a:pPr>
              <a:spcAft>
                <a:spcPts val="800"/>
              </a:spcAft>
              <a:defRPr sz="2400"/>
            </a:pPr>
            <a:r>
              <a:t>Make and inspect crimped practice connections</a:t>
            </a:r>
          </a:p>
          <a:p>
            <a:pPr>
              <a:spcAft>
                <a:spcPts val="800"/>
              </a:spcAft>
              <a:defRPr sz="2400"/>
            </a:pPr>
            <a:r>
              <a:t>Slow is smooth. Smooth becomes reliable.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Morning Quiz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Based on Solar Photovoltaics Basics, Chapters 3 and 4</a:t>
            </a:r>
          </a:p>
          <a:p>
            <a:pPr>
              <a:spcAft>
                <a:spcPts val="800"/>
              </a:spcAft>
              <a:defRPr sz="2400"/>
            </a:pPr>
            <a:r>
              <a:t>Individual first</a:t>
            </a:r>
          </a:p>
          <a:p>
            <a:pPr>
              <a:spcAft>
                <a:spcPts val="800"/>
              </a:spcAft>
              <a:defRPr sz="2400"/>
            </a:pPr>
            <a:r>
              <a:t>Review together after</a:t>
            </a:r>
          </a:p>
          <a:p>
            <a:pPr>
              <a:spcAft>
                <a:spcPts val="800"/>
              </a:spcAft>
              <a:defRPr sz="2400"/>
            </a:pPr>
            <a:r>
              <a:t>Correct mistakes in a different color</a:t>
            </a:r>
          </a:p>
          <a:p>
            <a:pPr>
              <a:spcAft>
                <a:spcPts val="800"/>
              </a:spcAft>
              <a:defRPr sz="2400"/>
            </a:pPr>
            <a:r>
              <a:t>Missed questions tell us what to reteach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PV System Path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Draw this before explaining details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85800" y="2011680"/>
            <a:ext cx="1874519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t>Sun</a:t>
            </a:r>
          </a:p>
        </p:txBody>
      </p:sp>
      <p:sp>
        <p:nvSpPr>
          <p:cNvPr id="6" name="Right Arrow 5"/>
          <p:cNvSpPr/>
          <p:nvPr/>
        </p:nvSpPr>
        <p:spPr>
          <a:xfrm>
            <a:off x="2560320" y="2194560"/>
            <a:ext cx="347472" cy="411480"/>
          </a:xfrm>
          <a:prstGeom prst="rightArrow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2926080" y="2011680"/>
            <a:ext cx="1874519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t>PV Module</a:t>
            </a:r>
          </a:p>
        </p:txBody>
      </p:sp>
      <p:sp>
        <p:nvSpPr>
          <p:cNvPr id="8" name="Right Arrow 7"/>
          <p:cNvSpPr/>
          <p:nvPr/>
        </p:nvSpPr>
        <p:spPr>
          <a:xfrm>
            <a:off x="4800600" y="2194560"/>
            <a:ext cx="347472" cy="411480"/>
          </a:xfrm>
          <a:prstGeom prst="rightArrow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5166360" y="2011680"/>
            <a:ext cx="1874519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t>Charge Controller</a:t>
            </a:r>
          </a:p>
        </p:txBody>
      </p:sp>
      <p:sp>
        <p:nvSpPr>
          <p:cNvPr id="10" name="Right Arrow 9"/>
          <p:cNvSpPr/>
          <p:nvPr/>
        </p:nvSpPr>
        <p:spPr>
          <a:xfrm>
            <a:off x="7040880" y="2194560"/>
            <a:ext cx="347472" cy="411480"/>
          </a:xfrm>
          <a:prstGeom prst="rightArrow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7406640" y="2011680"/>
            <a:ext cx="1874519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t>Battery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9281160" y="2194560"/>
            <a:ext cx="347472" cy="411480"/>
          </a:xfrm>
          <a:prstGeom prst="rightArrow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646920" y="2011680"/>
            <a:ext cx="1874519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>
                <a:solidFill>
                  <a:srgbClr val="282828"/>
                </a:solidFill>
              </a:defRPr>
            </a:pPr>
            <a:r>
              <a:t>DC Loads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0760" y="3657600"/>
            <a:ext cx="1874519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Inverter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321040" y="3657600"/>
            <a:ext cx="1874519" cy="777240"/>
          </a:xfrm>
          <a:prstGeom prst="roundRect">
            <a:avLst/>
          </a:prstGeom>
          <a:solidFill>
            <a:srgbClr val="EEF4F8"/>
          </a:solidFill>
          <a:ln>
            <a:solidFill>
              <a:srgbClr val="4682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AC Loads</a:t>
            </a:r>
          </a:p>
        </p:txBody>
      </p:sp>
      <p:sp>
        <p:nvSpPr>
          <p:cNvPr id="16" name="Right Arrow 15"/>
          <p:cNvSpPr/>
          <p:nvPr/>
        </p:nvSpPr>
        <p:spPr>
          <a:xfrm>
            <a:off x="7955279" y="3840480"/>
            <a:ext cx="365760" cy="411480"/>
          </a:xfrm>
          <a:prstGeom prst="rightArrow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498348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183750"/>
                </a:solidFill>
              </a:defRPr>
            </a:pPr>
            <a:r>
              <a:t>Keep asking: What is the source? What stores energy? What controls it? What uses it?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Reading Frame: Chapters 3-4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Sunlight is the resource</a:t>
            </a:r>
          </a:p>
          <a:p>
            <a:pPr>
              <a:spcAft>
                <a:spcPts val="800"/>
              </a:spcAft>
              <a:defRPr sz="2400"/>
            </a:pPr>
            <a:r>
              <a:t>PV cells convert light into DC electricity</a:t>
            </a:r>
          </a:p>
          <a:p>
            <a:pPr>
              <a:spcAft>
                <a:spcPts val="800"/>
              </a:spcAft>
              <a:defRPr sz="2400"/>
            </a:pPr>
            <a:r>
              <a:t>Modules combine cells</a:t>
            </a:r>
          </a:p>
          <a:p>
            <a:pPr>
              <a:spcAft>
                <a:spcPts val="800"/>
              </a:spcAft>
              <a:defRPr sz="2400"/>
            </a:pPr>
            <a:r>
              <a:t>Arrays combine modules</a:t>
            </a:r>
          </a:p>
          <a:p>
            <a:pPr>
              <a:spcAft>
                <a:spcPts val="800"/>
              </a:spcAft>
              <a:defRPr sz="2400"/>
            </a:pPr>
            <a:r>
              <a:t>System parts control, store, and use energy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Solar Resource Words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Irradiance: sunlight power right now</a:t>
            </a:r>
          </a:p>
          <a:p>
            <a:pPr>
              <a:spcAft>
                <a:spcPts val="800"/>
              </a:spcAft>
              <a:defRPr sz="2400"/>
            </a:pPr>
            <a:r>
              <a:t>Insolation: solar energy over time</a:t>
            </a:r>
          </a:p>
          <a:p>
            <a:pPr>
              <a:spcAft>
                <a:spcPts val="800"/>
              </a:spcAft>
              <a:defRPr sz="2400"/>
            </a:pPr>
            <a:r>
              <a:t>Both affect how much useful energy a PV system can make</a:t>
            </a:r>
          </a:p>
          <a:p>
            <a:pPr>
              <a:spcAft>
                <a:spcPts val="800"/>
              </a:spcAft>
              <a:defRPr sz="2400"/>
            </a:pPr>
            <a:r>
              <a:t>Weather, tilt, direction, and shade all matter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Power Language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Voltage = electrical pressure</a:t>
            </a:r>
          </a:p>
          <a:p>
            <a:pPr>
              <a:spcAft>
                <a:spcPts val="800"/>
              </a:spcAft>
              <a:defRPr sz="2400"/>
            </a:pPr>
            <a:r>
              <a:t>Current = electrical flow</a:t>
            </a:r>
          </a:p>
          <a:p>
            <a:pPr>
              <a:spcAft>
                <a:spcPts val="800"/>
              </a:spcAft>
              <a:defRPr sz="2400"/>
            </a:pPr>
            <a:r>
              <a:t>Power = work being done</a:t>
            </a:r>
          </a:p>
          <a:p>
            <a:pPr>
              <a:spcAft>
                <a:spcPts val="800"/>
              </a:spcAft>
              <a:defRPr sz="2400"/>
            </a:pPr>
            <a:r>
              <a:t>Watts = Volts x Amps</a:t>
            </a:r>
          </a:p>
          <a:p>
            <a:pPr>
              <a:spcAft>
                <a:spcPts val="800"/>
              </a:spcAft>
              <a:defRPr sz="2400"/>
            </a:pPr>
            <a:r>
              <a:t>Energy = power over time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Why Wire Prep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Bad wiring creates unreliable systems</a:t>
            </a:r>
          </a:p>
          <a:p>
            <a:pPr>
              <a:spcAft>
                <a:spcPts val="800"/>
              </a:spcAft>
              <a:defRPr sz="2400"/>
            </a:pPr>
            <a:r>
              <a:t>Loose connections become troubleshooting nightmares</a:t>
            </a:r>
          </a:p>
          <a:p>
            <a:pPr>
              <a:spcAft>
                <a:spcPts val="800"/>
              </a:spcAft>
              <a:defRPr sz="2400"/>
            </a:pPr>
            <a:r>
              <a:t>Clean work is easier to inspect</a:t>
            </a:r>
          </a:p>
          <a:p>
            <a:pPr>
              <a:spcAft>
                <a:spcPts val="800"/>
              </a:spcAft>
              <a:defRPr sz="2400"/>
            </a:pPr>
            <a:r>
              <a:t>Serviceability matters for the next person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Strip Quality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868680"/>
            <a:ext cx="109728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282828"/>
                </a:solidFill>
              </a:defRPr>
            </a:pPr>
            <a:r>
              <a:t>Good connections start before the crimp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44646"/>
                </a:solidFill>
              </a:defRPr>
            </a:pPr>
            <a:r>
              <a:t>Bad: too much copper</a:t>
            </a:r>
          </a:p>
        </p:txBody>
      </p:sp>
      <p:sp>
        <p:nvSpPr>
          <p:cNvPr id="6" name="Rectangle 5"/>
          <p:cNvSpPr/>
          <p:nvPr/>
        </p:nvSpPr>
        <p:spPr>
          <a:xfrm>
            <a:off x="1005840" y="1920240"/>
            <a:ext cx="2194560" cy="22860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154680" y="1920240"/>
            <a:ext cx="822960" cy="228600"/>
          </a:xfrm>
          <a:prstGeom prst="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75488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46965A"/>
                </a:solidFill>
              </a:defRPr>
            </a:pPr>
            <a:r>
              <a:t>Good: clean strip</a:t>
            </a:r>
          </a:p>
        </p:txBody>
      </p:sp>
      <p:sp>
        <p:nvSpPr>
          <p:cNvPr id="9" name="Rectangle 8"/>
          <p:cNvSpPr/>
          <p:nvPr/>
        </p:nvSpPr>
        <p:spPr>
          <a:xfrm>
            <a:off x="4754880" y="1920240"/>
            <a:ext cx="2194560" cy="22860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903720" y="1920240"/>
            <a:ext cx="411480" cy="228600"/>
          </a:xfrm>
          <a:prstGeom prst="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0" y="1280160"/>
            <a:ext cx="27432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 b="1">
                <a:solidFill>
                  <a:srgbClr val="B44646"/>
                </a:solidFill>
              </a:defRPr>
            </a:pPr>
            <a:r>
              <a:t>Bad: damaged strands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412480" y="1920240"/>
            <a:ext cx="2194560" cy="228600"/>
          </a:xfrm>
          <a:prstGeom prst="rect">
            <a:avLst/>
          </a:prstGeom>
          <a:solidFill>
            <a:srgbClr val="141414"/>
          </a:solidFill>
          <a:ln>
            <a:solidFill>
              <a:srgbClr val="14141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10561319" y="1920240"/>
            <a:ext cx="411480" cy="228600"/>
          </a:xfrm>
          <a:prstGeom prst="rect">
            <a:avLst/>
          </a:prstGeom>
          <a:solidFill>
            <a:srgbClr val="E69138"/>
          </a:solidFill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Straight Connector 13"/>
          <p:cNvSpPr/>
          <p:nvPr/>
        </p:nvSpPr>
        <p:spPr>
          <a:xfrm>
            <a:off x="10579608" y="1810512"/>
            <a:ext cx="182880" cy="457200"/>
          </a:xfrm>
          <a:prstGeom prst="lineInv">
            <a:avLst/>
          </a:prstGeom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Straight Connector 14"/>
          <p:cNvSpPr/>
          <p:nvPr/>
        </p:nvSpPr>
        <p:spPr>
          <a:xfrm>
            <a:off x="10689336" y="1810512"/>
            <a:ext cx="182880" cy="457200"/>
          </a:xfrm>
          <a:prstGeom prst="lineInv">
            <a:avLst/>
          </a:prstGeom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Straight Connector 15"/>
          <p:cNvSpPr/>
          <p:nvPr/>
        </p:nvSpPr>
        <p:spPr>
          <a:xfrm>
            <a:off x="10799064" y="1810512"/>
            <a:ext cx="182880" cy="457200"/>
          </a:xfrm>
          <a:prstGeom prst="lineInv">
            <a:avLst/>
          </a:prstGeom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Straight Connector 16"/>
          <p:cNvSpPr/>
          <p:nvPr/>
        </p:nvSpPr>
        <p:spPr>
          <a:xfrm>
            <a:off x="10908792" y="1810512"/>
            <a:ext cx="182880" cy="457200"/>
          </a:xfrm>
          <a:prstGeom prst="lineInv">
            <a:avLst/>
          </a:prstGeom>
          <a:ln>
            <a:solidFill>
              <a:srgbClr val="E6913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02336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183750"/>
                </a:solidFill>
              </a:defRPr>
            </a:pPr>
            <a:r>
              <a:t>Inspect before crimping. If it looks wrong now, it will not become right later by wishing. Humans keep trying this anyway.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Crimping Rules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Match connector to wire size</a:t>
            </a:r>
          </a:p>
          <a:p>
            <a:pPr>
              <a:spcAft>
                <a:spcPts val="800"/>
              </a:spcAft>
              <a:defRPr sz="2400"/>
            </a:pPr>
            <a:r>
              <a:t>Insert wire fully</a:t>
            </a:r>
          </a:p>
          <a:p>
            <a:pPr>
              <a:spcAft>
                <a:spcPts val="800"/>
              </a:spcAft>
              <a:defRPr sz="2400"/>
            </a:pPr>
            <a:r>
              <a:t>Crimp on the metal barrel</a:t>
            </a:r>
          </a:p>
          <a:p>
            <a:pPr>
              <a:spcAft>
                <a:spcPts val="800"/>
              </a:spcAft>
              <a:defRPr sz="2400"/>
            </a:pPr>
            <a:r>
              <a:t>Use the correct die/slot</a:t>
            </a:r>
          </a:p>
          <a:p>
            <a:pPr>
              <a:spcAft>
                <a:spcPts val="800"/>
              </a:spcAft>
              <a:defRPr sz="2400"/>
            </a:pPr>
            <a:r>
              <a:t>Do not crimp loose insulation and call it optimism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Tug Test + Visual Check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Pull with reasonable hand force</a:t>
            </a:r>
          </a:p>
          <a:p>
            <a:pPr>
              <a:spcAft>
                <a:spcPts val="800"/>
              </a:spcAft>
              <a:defRPr sz="2400"/>
            </a:pPr>
            <a:r>
              <a:t>Connector should not slide off</a:t>
            </a:r>
          </a:p>
          <a:p>
            <a:pPr>
              <a:spcAft>
                <a:spcPts val="800"/>
              </a:spcAft>
              <a:defRPr sz="2400"/>
            </a:pPr>
            <a:r>
              <a:t>No bare copper hairs sticking out</a:t>
            </a:r>
          </a:p>
          <a:p>
            <a:pPr>
              <a:spcAft>
                <a:spcPts val="800"/>
              </a:spcAft>
              <a:defRPr sz="2400"/>
            </a:pPr>
            <a:r>
              <a:t>No missing strands</a:t>
            </a:r>
          </a:p>
          <a:p>
            <a:pPr>
              <a:spcAft>
                <a:spcPts val="800"/>
              </a:spcAft>
              <a:defRPr sz="2400"/>
            </a:pPr>
            <a:r>
              <a:t>Connection should be easy to inspect later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Lab Groups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Group A: 3 students</a:t>
            </a:r>
          </a:p>
          <a:p>
            <a:pPr>
              <a:spcAft>
                <a:spcPts val="800"/>
              </a:spcAft>
              <a:defRPr sz="2400"/>
            </a:pPr>
            <a:r>
              <a:t>Group B: 3 students</a:t>
            </a:r>
          </a:p>
          <a:p>
            <a:pPr>
              <a:spcAft>
                <a:spcPts val="800"/>
              </a:spcAft>
              <a:defRPr sz="2400"/>
            </a:pPr>
            <a:r>
              <a:t>Roles: Tool Lead, Quality Inspector, Recorder</a:t>
            </a:r>
          </a:p>
          <a:p>
            <a:pPr>
              <a:spcAft>
                <a:spcPts val="800"/>
              </a:spcAft>
              <a:defRPr sz="2400"/>
            </a:pPr>
            <a:r>
              <a:t>Rotate after each completed connection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Lab Rule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Practice wire only</a:t>
            </a:r>
          </a:p>
          <a:p>
            <a:pPr>
              <a:spcAft>
                <a:spcPts val="800"/>
              </a:spcAft>
              <a:defRPr sz="2400"/>
            </a:pPr>
            <a:r>
              <a:t>No live circuits</a:t>
            </a:r>
          </a:p>
          <a:p>
            <a:pPr>
              <a:spcAft>
                <a:spcPts val="800"/>
              </a:spcAft>
              <a:defRPr sz="2400"/>
            </a:pPr>
            <a:r>
              <a:t>No unknown equipment</a:t>
            </a:r>
          </a:p>
          <a:p>
            <a:pPr>
              <a:spcAft>
                <a:spcPts val="800"/>
              </a:spcAft>
              <a:defRPr sz="2400"/>
            </a:pPr>
            <a:r>
              <a:t>Ask Rich before changing wire, connector, or tool</a:t>
            </a:r>
          </a:p>
          <a:p>
            <a:pPr>
              <a:spcAft>
                <a:spcPts val="800"/>
              </a:spcAft>
              <a:defRPr sz="2400"/>
            </a:pPr>
            <a:r>
              <a:t>Quality before speed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58368"/>
          </a:xfrm>
          <a:prstGeom prst="rect">
            <a:avLst/>
          </a:prstGeom>
          <a:solidFill>
            <a:srgbClr val="183750"/>
          </a:solidFill>
          <a:ln>
            <a:solidFill>
              <a:srgbClr val="1837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18872"/>
            <a:ext cx="11430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b="1" sz="2400">
                <a:solidFill>
                  <a:srgbClr val="FFFFFF"/>
                </a:solidFill>
              </a:defRPr>
            </a:pPr>
            <a:r>
              <a:t>Exit Ticket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417320"/>
            <a:ext cx="107899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2400"/>
            </a:pPr>
            <a:r>
              <a:t>One thing I can do now</a:t>
            </a:r>
          </a:p>
          <a:p>
            <a:pPr>
              <a:spcAft>
                <a:spcPts val="800"/>
              </a:spcAft>
              <a:defRPr sz="2400"/>
            </a:pPr>
            <a:r>
              <a:t>One thing I still need to practice</a:t>
            </a:r>
          </a:p>
          <a:p>
            <a:pPr>
              <a:spcAft>
                <a:spcPts val="800"/>
              </a:spcAft>
              <a:defRPr sz="2400"/>
            </a:pPr>
            <a:r>
              <a:t>Why clean wiring matters in RV solar</a:t>
            </a:r>
          </a:p>
          <a:p>
            <a:pPr>
              <a:spcAft>
                <a:spcPts val="800"/>
              </a:spcAft>
              <a:defRPr sz="2400"/>
            </a:pPr>
            <a:r>
              <a:t>Tools counted and benches cleaned before leaving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