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corrected lab mission. All kits remain disconnected until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keep Rich and students oriented.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inverter is not a tiny controller 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point out positive and negative paths.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“most controllers” because manuals vary. Teach general practice plus verify equipment.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matches the actual five-kit/six-student constraint.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practice the measurement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overdo calculations today. Keep the principle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Unless the equipment manual says otherwise, teach inverter battery-side with protection.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rework normal. Bad crimps are data. Hidden bad crimps are future pain.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as the afternoon pass standard.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control of the final power-up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before cleanup so the room ends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Match the worksheet measurement 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tickets and use them to decide what Day 5 needs.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4 | July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PV101 Day 4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Small solar system build: panel, controller, 12.8V LiFePO4 battery, wiring, inverter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07899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77B4"/>
                </a:solidFill>
              </a:rPr>
              <a:t>VERIFY FIRST. CONNECT SECOND.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60120" y="3246120"/>
            <a:ext cx="10241280" cy="960120"/>
          </a:xfrm>
          <a:prstGeom prst="roundRect">
            <a:avLst>
              <a:gd name="adj" fmla="val 7619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3319272"/>
            <a:ext cx="1009497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5 kits. 6 students. One shared station. Every build gets peer-checked before power.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14400" y="4892040"/>
            <a:ext cx="10332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Today the goal is not “make the inverter light up.” The goal is a safe, traceable system.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4 | July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Today's flow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Quiz -&gt; system pieces -&gt; wiring sequence -&gt; kit build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87452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0292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Quiz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10:20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356616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9456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6771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System map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10:55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25780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88620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935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Demo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11:20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94944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57784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5099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Kit roles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12:30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64108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26948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4263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Build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12:45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10332720" y="2578608"/>
            <a:ext cx="320040" cy="0"/>
          </a:xfrm>
          <a:prstGeom prst="line">
            <a:avLst/>
          </a:prstGeom>
          <a:noFill/>
          <a:ln w="2286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6112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3427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Commission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2:20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10652760" y="2084832"/>
            <a:ext cx="1371600" cy="987552"/>
          </a:xfrm>
          <a:prstGeom prst="roundRect">
            <a:avLst>
              <a:gd name="adj" fmla="val 7407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25912" y="2157984"/>
            <a:ext cx="1225296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Exit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1F2937"/>
                </a:solidFill>
              </a:rPr>
              <a:t>2:40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14400" y="3794760"/>
            <a:ext cx="10241280" cy="1554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200" dirty="0">
                <a:solidFill>
                  <a:srgbClr val="1F2937"/>
                </a:solidFill>
              </a:rPr>
              <a:t>Morning: make the system understandable before anyone touches a conductor.</a:t>
            </a:r>
            <a:endParaRPr lang="en-US" sz="2200" dirty="0"/>
          </a:p>
          <a:p>
            <a:r>
              <a:rPr lang="en-US" sz="2200" dirty="0">
                <a:solidFill>
                  <a:srgbClr val="1F2937"/>
                </a:solidFill>
              </a:rPr>
              <a:t>Afternoon: build five small systems with one two-student shared kit.</a:t>
            </a:r>
            <a:endParaRPr lang="en-US" sz="2200" dirty="0"/>
          </a:p>
          <a:p>
            <a:r>
              <a:rPr lang="en-US" sz="2200" dirty="0">
                <a:solidFill>
                  <a:srgbClr val="1F2937"/>
                </a:solidFill>
              </a:rPr>
              <a:t>End: every kit is shut down, measured, documented, and returned safely.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4 | July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The kit parts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Each station builds one small solar system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947672"/>
            <a:ext cx="159105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PV panel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source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788920" y="18745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1947672"/>
            <a:ext cx="168249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Charge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controller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983480" y="187452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56632" y="1947672"/>
            <a:ext cx="191109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12.8V LiFePO4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50Ah battery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406640" y="187452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FCE8E6"/>
          </a:solidFill>
          <a:ln w="13970">
            <a:solidFill>
              <a:srgbClr val="B326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79792" y="1947672"/>
            <a:ext cx="163677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Fuse /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disconnect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555480" y="187452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3E8FF"/>
          </a:solidFill>
          <a:ln w="13970">
            <a:solidFill>
              <a:srgbClr val="7E22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28632" y="1947672"/>
            <a:ext cx="1728216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Inverter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DC -&gt; AC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3657600"/>
            <a:ext cx="1024128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300" dirty="0">
                <a:solidFill>
                  <a:srgbClr val="1F2937"/>
                </a:solidFill>
              </a:rPr>
              <a:t>One PV panel feeds the charge controller.</a:t>
            </a:r>
            <a:endParaRPr lang="en-US" sz="2300" dirty="0"/>
          </a:p>
          <a:p>
            <a:r>
              <a:rPr lang="en-US" sz="2300" dirty="0">
                <a:solidFill>
                  <a:srgbClr val="1F2937"/>
                </a:solidFill>
              </a:rPr>
              <a:t>The battery stores energy and stabilizes the system.</a:t>
            </a:r>
            <a:endParaRPr lang="en-US" sz="2300" dirty="0"/>
          </a:p>
          <a:p>
            <a:r>
              <a:rPr lang="en-US" sz="2300" dirty="0">
                <a:solidFill>
                  <a:srgbClr val="1F2937"/>
                </a:solidFill>
              </a:rPr>
              <a:t>The inverter draws from the battery side through protection.</a:t>
            </a:r>
            <a:endParaRPr lang="en-US" sz="2300" dirty="0"/>
          </a:p>
          <a:p>
            <a:r>
              <a:rPr lang="en-US" sz="2300" dirty="0">
                <a:solidFill>
                  <a:srgbClr val="1F2937"/>
                </a:solidFill>
              </a:rPr>
              <a:t>Labels and meter readings make the system serviceable.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4 | July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System path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Trace it before building it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2286000" y="2743200"/>
            <a:ext cx="594360" cy="0"/>
          </a:xfrm>
          <a:prstGeom prst="line">
            <a:avLst/>
          </a:prstGeom>
          <a:noFill/>
          <a:ln w="25400">
            <a:solidFill>
              <a:srgbClr val="1F77B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709160" y="2743200"/>
            <a:ext cx="548640" cy="0"/>
          </a:xfrm>
          <a:prstGeom prst="line">
            <a:avLst/>
          </a:prstGeom>
          <a:noFill/>
          <a:ln w="25400">
            <a:solidFill>
              <a:srgbClr val="E8750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223760" y="2743200"/>
            <a:ext cx="59436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464040" y="2743200"/>
            <a:ext cx="548640" cy="0"/>
          </a:xfrm>
          <a:prstGeom prst="line">
            <a:avLst/>
          </a:prstGeom>
          <a:noFill/>
          <a:ln w="25400">
            <a:solidFill>
              <a:srgbClr val="7E22CE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1520" y="2240280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313432"/>
            <a:ext cx="140817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Sunlight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+ PV panel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880360" y="22402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2313432"/>
            <a:ext cx="168249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Charge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controller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257800" y="224028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30952" y="2313432"/>
            <a:ext cx="181965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Battery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12.8V 50Ah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818120" y="2240280"/>
            <a:ext cx="1645920" cy="1005840"/>
          </a:xfrm>
          <a:prstGeom prst="roundRect">
            <a:avLst>
              <a:gd name="adj" fmla="val 7273"/>
            </a:avLst>
          </a:prstGeom>
          <a:solidFill>
            <a:srgbClr val="FCE8E6"/>
          </a:solidFill>
          <a:ln w="13970">
            <a:solidFill>
              <a:srgbClr val="B326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91272" y="2313432"/>
            <a:ext cx="149961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Protection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fuse/disconnect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12680" y="2240280"/>
            <a:ext cx="1508760" cy="1005840"/>
          </a:xfrm>
          <a:prstGeom prst="roundRect">
            <a:avLst>
              <a:gd name="adj" fmla="val 7273"/>
            </a:avLst>
          </a:prstGeom>
          <a:solidFill>
            <a:srgbClr val="F3E8FF"/>
          </a:solidFill>
          <a:ln w="13970">
            <a:solidFill>
              <a:srgbClr val="7E22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85832" y="2313432"/>
            <a:ext cx="136245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Inverter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AC output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05840" y="4343400"/>
            <a:ext cx="10058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2937"/>
                </a:solidFill>
              </a:rPr>
              <a:t>Every positive path needs a matching return path. Every power path needs a safe way to stop.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4 | July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Connection order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Most controllers want battery first, then PV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68680" y="18745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947672"/>
            <a:ext cx="218541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1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Battery to controller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BAT + / -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2487168"/>
            <a:ext cx="54864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49040" y="1874520"/>
            <a:ext cx="2377440" cy="1234440"/>
          </a:xfrm>
          <a:prstGeom prst="roundRect">
            <a:avLst>
              <a:gd name="adj" fmla="val 5926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2192" y="1947672"/>
            <a:ext cx="223113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2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Meter battery side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~12.8V nominal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26480" y="2487168"/>
            <a:ext cx="54864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75120" y="187452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48272" y="1947672"/>
            <a:ext cx="200253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3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PV to controller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PV + / -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823960" y="2487168"/>
            <a:ext cx="54864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372600" y="18745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F3E8FF"/>
          </a:solidFill>
          <a:ln w="13970">
            <a:solidFill>
              <a:srgbClr val="7E22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45752" y="1947672"/>
            <a:ext cx="1911096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Inverter to battery side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through protection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60120" y="3977640"/>
            <a:ext cx="10241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200" dirty="0">
                <a:solidFill>
                  <a:srgbClr val="1F2937"/>
                </a:solidFill>
              </a:rPr>
              <a:t>Keep the PV panel covered or disconnected while wiring.</a:t>
            </a:r>
            <a:endParaRPr lang="en-US" sz="2200" dirty="0"/>
          </a:p>
          <a:p>
            <a:r>
              <a:rPr lang="en-US" sz="2200" dirty="0">
                <a:solidFill>
                  <a:srgbClr val="1F2937"/>
                </a:solidFill>
              </a:rPr>
              <a:t>Keep the battery fuse open/removed until approval.</a:t>
            </a:r>
            <a:endParaRPr lang="en-US" sz="2200" dirty="0"/>
          </a:p>
          <a:p>
            <a:r>
              <a:rPr lang="en-US" sz="2200" dirty="0">
                <a:solidFill>
                  <a:srgbClr val="1F2937"/>
                </a:solidFill>
              </a:rPr>
              <a:t>When unsure, stop. Solar equipment is not impressed by confidence.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4 | July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Station roles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5 kits for 6 students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2834640" cy="1005840"/>
          </a:xfrm>
          <a:prstGeom prst="roundRect">
            <a:avLst>
              <a:gd name="adj" fmla="val 7273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39112"/>
            <a:ext cx="268833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Stations 1-4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solo builder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617720" y="1965960"/>
            <a:ext cx="2926080" cy="1005840"/>
          </a:xfrm>
          <a:prstGeom prst="roundRect">
            <a:avLst>
              <a:gd name="adj" fmla="val 7273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90872" y="2039112"/>
            <a:ext cx="277977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Station 5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2-student shared kit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8458200" y="1965960"/>
            <a:ext cx="2880360" cy="1005840"/>
          </a:xfrm>
          <a:prstGeom prst="roundRect">
            <a:avLst>
              <a:gd name="adj" fmla="val 7273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31352" y="2039112"/>
            <a:ext cx="2734056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All stations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peer-check before power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3703320"/>
            <a:ext cx="102412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300" dirty="0">
                <a:solidFill>
                  <a:srgbClr val="1F2937"/>
                </a:solidFill>
              </a:rPr>
              <a:t>Two-student station swaps Builder and Inspector roles halfway through.</a:t>
            </a:r>
            <a:endParaRPr lang="en-US" sz="2300" dirty="0"/>
          </a:p>
          <a:p>
            <a:r>
              <a:rPr lang="en-US" sz="2300" dirty="0">
                <a:solidFill>
                  <a:srgbClr val="1F2937"/>
                </a:solidFill>
              </a:rPr>
              <a:t>Solo builders call over a neighbor for peer-check before energizing.</a:t>
            </a:r>
            <a:endParaRPr lang="en-US" sz="2300" dirty="0"/>
          </a:p>
          <a:p>
            <a:r>
              <a:rPr lang="en-US" sz="2300" dirty="0">
                <a:solidFill>
                  <a:srgbClr val="1F2937"/>
                </a:solidFill>
              </a:rPr>
              <a:t>Nobody approves their own mystery wiring. Civilization has suffered enough.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4 | July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Polarity check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Do not trust colors alone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1874520"/>
            <a:ext cx="2057400" cy="822960"/>
          </a:xfrm>
          <a:prstGeom prst="roundRect">
            <a:avLst>
              <a:gd name="adj" fmla="val 8889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47672"/>
            <a:ext cx="191109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Battery + / -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0" y="18745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1947672"/>
            <a:ext cx="223113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Controller BAT + / -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629400" y="187452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02552" y="1947672"/>
            <a:ext cx="218541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Controller PV + / -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464040" y="18745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F3E8FF"/>
          </a:solidFill>
          <a:ln w="13970">
            <a:solidFill>
              <a:srgbClr val="7E2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37192" y="1947672"/>
            <a:ext cx="1773936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Inverter + / -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60120" y="3657600"/>
            <a:ext cx="102412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400" dirty="0">
                <a:solidFill>
                  <a:srgbClr val="1F2937"/>
                </a:solidFill>
              </a:rPr>
              <a:t>Call the meter setup: DC volts, correct lead ports, expected range.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Say the reading and probe placement out loud.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A reversed connection can damage controller or inverter hardware.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4 | July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Protection matters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A 50Ah battery is not a toy just because it fits on a bench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13970">
            <a:solidFill>
              <a:srgbClr val="B326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901952"/>
            <a:ext cx="241401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Fuse close to battery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886200" y="18288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9352" y="1901952"/>
            <a:ext cx="241401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Correct conductor path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903720" y="18288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76872" y="1901952"/>
            <a:ext cx="218541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Visible disconnect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9692640" y="18288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65792" y="1901952"/>
            <a:ext cx="154533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937"/>
                </a:solidFill>
              </a:rPr>
              <a:t>No loose copper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60120" y="3657600"/>
            <a:ext cx="1014984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400" dirty="0">
                <a:solidFill>
                  <a:srgbClr val="1F2937"/>
                </a:solidFill>
              </a:rPr>
              <a:t>Protection exists to protect conductors and equipment from fault current.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Put protection where it protects the most wire.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Open/remove protection before changing wiring.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4 | July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Inverter rule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The inverter belongs on the battery side through protection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205740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130552"/>
            <a:ext cx="405993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F2937"/>
                </a:solidFill>
              </a:rPr>
              <a:t>Good path</a:t>
            </a:r>
            <a:endParaRPr lang="en-US" sz="2500" dirty="0"/>
          </a:p>
          <a:p>
            <a:pPr algn="ctr" indent="0" marL="0">
              <a:buNone/>
            </a:pPr>
            <a:r>
              <a:rPr lang="en-US" sz="2500" b="1" dirty="0">
                <a:solidFill>
                  <a:srgbClr val="1F2937"/>
                </a:solidFill>
              </a:rPr>
              <a:t>Battery -&gt; fuse -&gt; inverter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7040880" y="2057400"/>
            <a:ext cx="4206240" cy="1097280"/>
          </a:xfrm>
          <a:prstGeom prst="roundRect">
            <a:avLst>
              <a:gd name="adj" fmla="val 6667"/>
            </a:avLst>
          </a:prstGeom>
          <a:solidFill>
            <a:srgbClr val="FCE8E6"/>
          </a:solidFill>
          <a:ln w="13970">
            <a:solidFill>
              <a:srgbClr val="B326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14032" y="2130552"/>
            <a:ext cx="405993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Bad habit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Controller load terminals -&gt; inverter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" y="4251960"/>
            <a:ext cx="102412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</a:rPr>
              <a:t>Inverters can draw high current. Controller load terminals are often for small DC loads, not “whatever fits.”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4 | July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Mechanical quality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Good electrical work starts as good physical work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10287000" cy="3383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600" dirty="0">
                <a:solidFill>
                  <a:srgbClr val="1F2937"/>
                </a:solidFill>
              </a:rPr>
              <a:t>Strip without nicking strands.</a:t>
            </a:r>
            <a:endParaRPr lang="en-US" sz="2600" dirty="0"/>
          </a:p>
          <a:p>
            <a:r>
              <a:rPr lang="en-US" sz="2600" dirty="0">
                <a:solidFill>
                  <a:srgbClr val="1F2937"/>
                </a:solidFill>
              </a:rPr>
              <a:t>Use the correct crimp die and complete the ratchet cycle.</a:t>
            </a:r>
            <a:endParaRPr lang="en-US" sz="2600" dirty="0"/>
          </a:p>
          <a:p>
            <a:r>
              <a:rPr lang="en-US" sz="2600" dirty="0">
                <a:solidFill>
                  <a:srgbClr val="1F2937"/>
                </a:solidFill>
              </a:rPr>
              <a:t>Tug test every crimp.</a:t>
            </a:r>
            <a:endParaRPr lang="en-US" sz="2600" dirty="0"/>
          </a:p>
          <a:p>
            <a:r>
              <a:rPr lang="en-US" sz="2600" dirty="0">
                <a:solidFill>
                  <a:srgbClr val="1F2937"/>
                </a:solidFill>
              </a:rPr>
              <a:t>Route wires so terminals are not holding mechanical strain.</a:t>
            </a:r>
            <a:endParaRPr lang="en-US" sz="2600" dirty="0"/>
          </a:p>
          <a:p>
            <a:r>
              <a:rPr lang="en-US" sz="2600" dirty="0">
                <a:solidFill>
                  <a:srgbClr val="1F2937"/>
                </a:solidFill>
              </a:rPr>
              <a:t>Leave enough slack for service, but not a spaghetti shrine.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828800" y="5486400"/>
            <a:ext cx="8503920" cy="594360"/>
          </a:xfrm>
          <a:prstGeom prst="roundRect">
            <a:avLst>
              <a:gd name="adj" fmla="val 12308"/>
            </a:avLst>
          </a:prstGeom>
          <a:solidFill>
            <a:srgbClr val="FCE8E6"/>
          </a:solidFill>
          <a:ln w="13970">
            <a:solidFill>
              <a:srgbClr val="B326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01952" y="5559552"/>
            <a:ext cx="8357616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Bad crimp? Cut it off and redo it.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4 | July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Commissioning checklist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A kit earns power only after the checks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0332720" cy="3977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400" dirty="0">
                <a:solidFill>
                  <a:srgbClr val="1F2937"/>
                </a:solidFill>
              </a:rPr>
              <a:t>PV covered or disconnected during wiring.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Battery fuse/breaker open until approval.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Battery voltage measured directly and at controller.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PV polarity and voltage measured before final connection.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Inverter input path traced and protected.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Peer check complete, then instructor approval.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4 | July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Energizing order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Slow sequence. Clear callouts. No surprises.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130552"/>
            <a:ext cx="195681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Close battery protection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80360" y="2542032"/>
            <a:ext cx="54864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9000" y="20574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2130552"/>
            <a:ext cx="186537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2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Controller wakes up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40680" y="2542032"/>
            <a:ext cx="54864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89320" y="20574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62472" y="2130552"/>
            <a:ext cx="191109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Uncover/connect PV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046720" y="2542032"/>
            <a:ext cx="54864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595360" y="205740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3E8FF"/>
          </a:solidFill>
          <a:ln w="13970">
            <a:solidFill>
              <a:srgbClr val="7E22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68512" y="2130552"/>
            <a:ext cx="1911096" cy="8138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4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Turn inverter 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4114800"/>
            <a:ext cx="10332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Test only with an approved small load. No creative experiments. This is class, not a mythology generator.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4 | July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Shutdown order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End safe, not merely “done”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F3E8FF"/>
          </a:solidFill>
          <a:ln w="13970">
            <a:solidFill>
              <a:srgbClr val="7E22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2084832"/>
            <a:ext cx="168249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1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Inverter off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43200" y="2468880"/>
            <a:ext cx="59436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37560" y="201168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2D8"/>
          </a:solidFill>
          <a:ln w="13970">
            <a:solidFill>
              <a:srgbClr val="E87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2084832"/>
            <a:ext cx="209397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2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Cover/disconnect PV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577840" y="2468880"/>
            <a:ext cx="59436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72200" y="201168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CE8E6"/>
          </a:solidFill>
          <a:ln w="13970">
            <a:solidFill>
              <a:srgbClr val="B326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2084832"/>
            <a:ext cx="218541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3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Open battery protection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503920" y="2468880"/>
            <a:ext cx="594360" cy="0"/>
          </a:xfrm>
          <a:prstGeom prst="line">
            <a:avLst/>
          </a:prstGeom>
          <a:noFill/>
          <a:ln w="25400">
            <a:solidFill>
              <a:srgbClr val="5B677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98280" y="201168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71432" y="2084832"/>
            <a:ext cx="1911096" cy="7680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4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F2937"/>
                </a:solidFill>
              </a:rPr>
              <a:t>Document + clean kit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60120" y="3931920"/>
            <a:ext cx="1024128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2400" dirty="0">
                <a:solidFill>
                  <a:srgbClr val="1F2937"/>
                </a:solidFill>
              </a:rPr>
              <a:t>Record readings before forgetting them, the classic human speedrun.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Return all kit parts together.</a:t>
            </a:r>
            <a:endParaRPr lang="en-US" sz="2400" dirty="0"/>
          </a:p>
          <a:p>
            <a:r>
              <a:rPr lang="en-US" sz="2400" dirty="0">
                <a:solidFill>
                  <a:srgbClr val="1F2937"/>
                </a:solidFill>
              </a:rPr>
              <a:t>Leave no energized mystery wiring.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4 | July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Measurement log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What students write down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14400" y="1783080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856232"/>
            <a:ext cx="2779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Battery direct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069080" y="1783080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42232" y="1856232"/>
            <a:ext cx="28712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VDC + polarity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0" y="1783080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88352" y="1856232"/>
            <a:ext cx="2779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Measured: ________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2404872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E7ECF2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478024"/>
            <a:ext cx="2779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Controller BAT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69080" y="2404872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42232" y="2478024"/>
            <a:ext cx="28712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VDC + polarity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0" y="2404872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88352" y="2478024"/>
            <a:ext cx="2779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Measured: ________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14400" y="3026664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099816"/>
            <a:ext cx="2779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PV open circuit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069080" y="3026664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42232" y="3099816"/>
            <a:ext cx="28712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VDC + polarity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15200" y="3026664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88352" y="3099816"/>
            <a:ext cx="2779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Measured: ________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14400" y="3648456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E7ECF2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3721608"/>
            <a:ext cx="2779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Controller PV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069080" y="3648456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42232" y="3721608"/>
            <a:ext cx="28712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VDC + polarity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315200" y="3648456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88352" y="3721608"/>
            <a:ext cx="2779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Measured: ________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14400" y="4270248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7552" y="4343400"/>
            <a:ext cx="2779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Inverter input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069080" y="4270248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42232" y="4343400"/>
            <a:ext cx="28712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VDC + protection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315200" y="4270248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88352" y="4343400"/>
            <a:ext cx="2779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Measured: ________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14400" y="4892040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E7ECF2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4965192"/>
            <a:ext cx="2779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AC output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069080" y="4892040"/>
            <a:ext cx="3017520" cy="438912"/>
          </a:xfrm>
          <a:prstGeom prst="roundRect">
            <a:avLst>
              <a:gd name="adj" fmla="val 16667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42232" y="4965192"/>
            <a:ext cx="287121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approved load only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315200" y="4892040"/>
            <a:ext cx="2926080" cy="438912"/>
          </a:xfrm>
          <a:prstGeom prst="roundRect">
            <a:avLst>
              <a:gd name="adj" fmla="val 16667"/>
            </a:avLst>
          </a:prstGeom>
          <a:solidFill>
            <a:srgbClr val="E7ECF2"/>
          </a:solidFill>
          <a:ln w="13970">
            <a:solidFill>
              <a:srgbClr val="5B67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88352" y="4965192"/>
            <a:ext cx="2779776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Measured: ________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1005840" y="5806440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F2937"/>
                </a:solidFill>
              </a:rPr>
              <a:t>No measurement, no approval. The electrons can wait.</a:t>
            </a:r>
            <a:endParaRPr lang="en-US" sz="2300" dirty="0"/>
          </a:p>
        </p:txBody>
      </p:sp>
      <p:sp>
        <p:nvSpPr>
          <p:cNvPr id="43" name="Text 41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188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CTS Cohort 6 | PV101 | Day 4 | July 9,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66928" y="768096"/>
            <a:ext cx="110185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F2937"/>
                </a:solidFill>
              </a:rPr>
              <a:t>Exit ticket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03504" y="1298448"/>
            <a:ext cx="107899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5B6776"/>
                </a:solidFill>
              </a:rPr>
              <a:t>Three checks before dismissal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960120" y="1828800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DDEEFF"/>
          </a:solidFill>
          <a:ln w="13970">
            <a:solidFill>
              <a:srgbClr val="1F77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901952"/>
            <a:ext cx="1000353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1. Trace: PV -&gt; controller -&gt; battery -&gt; inverter -&gt; load.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60120" y="2971800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1397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3044952"/>
            <a:ext cx="1000353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2. What connects first on most controllers: battery or PV? Why?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60120" y="4114800"/>
            <a:ext cx="10149840" cy="731520"/>
          </a:xfrm>
          <a:prstGeom prst="roundRect">
            <a:avLst>
              <a:gd name="adj" fmla="val 10000"/>
            </a:avLst>
          </a:prstGeom>
          <a:solidFill>
            <a:srgbClr val="FCE8E6"/>
          </a:solidFill>
          <a:ln w="13970">
            <a:solidFill>
              <a:srgbClr val="B326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3272" y="4187952"/>
            <a:ext cx="10003536" cy="5852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3. Name one STOP condition from today's lab.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60120" y="5623560"/>
            <a:ext cx="10149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</a:rPr>
              <a:t>Tools counted. Kits safe. Panels covered. Batteries protected.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539728" y="6455664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776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Alternative Youth Activities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PV101 Day 4 - Small Solar System Build</dc:title>
  <dc:subject>CTS Cohort 6 PV101 Day 4 corrected</dc:subject>
  <dc:creator>ChatGPT</dc:creator>
  <cp:lastModifiedBy>ChatGPT</cp:lastModifiedBy>
  <cp:revision>1</cp:revision>
  <dcterms:created xsi:type="dcterms:W3CDTF">2026-07-09T17:36:17Z</dcterms:created>
  <dcterms:modified xsi:type="dcterms:W3CDTF">2026-07-09T17:36:17Z</dcterms:modified>
</cp:coreProperties>
</file>