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97d2349c8d4767" /><Relationship Type="http://schemas.openxmlformats.org/officeDocument/2006/relationships/extended-properties" Target="/docProps/app.xml" Id="Rd0e5dd8bf65f4210" /><Relationship Type="http://schemas.openxmlformats.org/officeDocument/2006/relationships/officeDocument" Target="/ppt/presentation.xml" Id="Rc8e50a306a6b44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45ff872e244afd"/>
  </p:sldMasterIdLst>
  <p:notesMasterIdLst>
    <p:notesMasterId xmlns:r="http://schemas.openxmlformats.org/officeDocument/2006/relationships" r:id="Rab2fe7f90fb94473"/>
  </p:notesMasterIdLst>
  <p:sldIdLst>
    <p:sldId xmlns:r="http://schemas.openxmlformats.org/officeDocument/2006/relationships" id="256" r:id="R22d2282bf3744357"/>
    <p:sldId xmlns:r="http://schemas.openxmlformats.org/officeDocument/2006/relationships" id="257" r:id="R518df2f4ba494fed"/>
    <p:sldId xmlns:r="http://schemas.openxmlformats.org/officeDocument/2006/relationships" id="258" r:id="R6dc5909dd3b94cd1"/>
    <p:sldId xmlns:r="http://schemas.openxmlformats.org/officeDocument/2006/relationships" id="259" r:id="Re8677c7ca6034081"/>
    <p:sldId xmlns:r="http://schemas.openxmlformats.org/officeDocument/2006/relationships" id="260" r:id="R1d3bbd634bfb49a0"/>
    <p:sldId xmlns:r="http://schemas.openxmlformats.org/officeDocument/2006/relationships" id="261" r:id="R51df9f1a068b4da1"/>
    <p:sldId xmlns:r="http://schemas.openxmlformats.org/officeDocument/2006/relationships" id="262" r:id="Rcc780b9dfd394d09"/>
    <p:sldId xmlns:r="http://schemas.openxmlformats.org/officeDocument/2006/relationships" id="263" r:id="R2d08af8627814d3f"/>
    <p:sldId xmlns:r="http://schemas.openxmlformats.org/officeDocument/2006/relationships" id="264" r:id="Rcbb08b056e5a420d"/>
    <p:sldId xmlns:r="http://schemas.openxmlformats.org/officeDocument/2006/relationships" id="265" r:id="R97520df70b0d4496"/>
    <p:sldId xmlns:r="http://schemas.openxmlformats.org/officeDocument/2006/relationships" id="266" r:id="Rb86ae16e30bc4d57"/>
    <p:sldId xmlns:r="http://schemas.openxmlformats.org/officeDocument/2006/relationships" id="267" r:id="Rbdd2ed719067447f"/>
    <p:sldId xmlns:r="http://schemas.openxmlformats.org/officeDocument/2006/relationships" id="268" r:id="Ra831d46ffc7c490e"/>
    <p:sldId xmlns:r="http://schemas.openxmlformats.org/officeDocument/2006/relationships" id="269" r:id="R7ba9130e8af545b7"/>
    <p:sldId xmlns:r="http://schemas.openxmlformats.org/officeDocument/2006/relationships" id="270" r:id="Rdbfeb4d0785a4908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a5a1cdf0a14bea" /><Relationship Type="http://schemas.openxmlformats.org/officeDocument/2006/relationships/slideMaster" Target="/ppt/slideMasters/slideMaster1.xml" Id="Rc145ff872e244afd" /><Relationship Type="http://schemas.openxmlformats.org/officeDocument/2006/relationships/notesMaster" Target="/ppt/notesMasters/notesMaster1.xml" Id="Rab2fe7f90fb94473" /><Relationship Type="http://schemas.openxmlformats.org/officeDocument/2006/relationships/presProps" Target="/ppt/presProps.xml" Id="Rc887208daf5947f7" /><Relationship Type="http://schemas.openxmlformats.org/officeDocument/2006/relationships/viewProps" Target="/ppt/viewProps.xml" Id="Rb768f185e8884aa7" /><Relationship Type="http://schemas.openxmlformats.org/officeDocument/2006/relationships/tableStyles" Target="/ppt/tableStyles.xml" Id="R20b605a6fd424284" /><Relationship Type="http://schemas.openxmlformats.org/officeDocument/2006/relationships/slide" Target="/ppt/slides/slide1.xml" Id="R22d2282bf3744357" /><Relationship Type="http://schemas.openxmlformats.org/officeDocument/2006/relationships/slide" Target="/ppt/slides/slide2.xml" Id="R518df2f4ba494fed" /><Relationship Type="http://schemas.openxmlformats.org/officeDocument/2006/relationships/slide" Target="/ppt/slides/slide3.xml" Id="R6dc5909dd3b94cd1" /><Relationship Type="http://schemas.openxmlformats.org/officeDocument/2006/relationships/slide" Target="/ppt/slides/slide4.xml" Id="Re8677c7ca6034081" /><Relationship Type="http://schemas.openxmlformats.org/officeDocument/2006/relationships/slide" Target="/ppt/slides/slide5.xml" Id="R1d3bbd634bfb49a0" /><Relationship Type="http://schemas.openxmlformats.org/officeDocument/2006/relationships/slide" Target="/ppt/slides/slide6.xml" Id="R51df9f1a068b4da1" /><Relationship Type="http://schemas.openxmlformats.org/officeDocument/2006/relationships/slide" Target="/ppt/slides/slide7.xml" Id="Rcc780b9dfd394d09" /><Relationship Type="http://schemas.openxmlformats.org/officeDocument/2006/relationships/slide" Target="/ppt/slides/slide8.xml" Id="R2d08af8627814d3f" /><Relationship Type="http://schemas.openxmlformats.org/officeDocument/2006/relationships/slide" Target="/ppt/slides/slide9.xml" Id="Rcbb08b056e5a420d" /><Relationship Type="http://schemas.openxmlformats.org/officeDocument/2006/relationships/slide" Target="/ppt/slides/slide10.xml" Id="R97520df70b0d4496" /><Relationship Type="http://schemas.openxmlformats.org/officeDocument/2006/relationships/slide" Target="/ppt/slides/slide11.xml" Id="Rb86ae16e30bc4d57" /><Relationship Type="http://schemas.openxmlformats.org/officeDocument/2006/relationships/slide" Target="/ppt/slides/slide12.xml" Id="Rbdd2ed719067447f" /><Relationship Type="http://schemas.openxmlformats.org/officeDocument/2006/relationships/slide" Target="/ppt/slides/slide13.xml" Id="Ra831d46ffc7c490e" /><Relationship Type="http://schemas.openxmlformats.org/officeDocument/2006/relationships/slide" Target="/ppt/slides/slide14.xml" Id="R7ba9130e8af545b7" /><Relationship Type="http://schemas.openxmlformats.org/officeDocument/2006/relationships/slide" Target="/ppt/slides/slide15.xml" Id="Rdbfeb4d0785a49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c1285e6a114e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3e2235450b44cb" /><Relationship Type="http://schemas.openxmlformats.org/officeDocument/2006/relationships/notesMaster" Target="/ppt/notesMasters/notesMaster1.xml" Id="Rb4bf5a3f6b1144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32771f74d3497e" /><Relationship Type="http://schemas.openxmlformats.org/officeDocument/2006/relationships/notesMaster" Target="/ppt/notesMasters/notesMaster1.xml" Id="Rf3bfdca571b340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b6bf87cb9a4735" /><Relationship Type="http://schemas.openxmlformats.org/officeDocument/2006/relationships/notesMaster" Target="/ppt/notesMasters/notesMaster1.xml" Id="R640fd9d448c649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f8dfa454614b86" /><Relationship Type="http://schemas.openxmlformats.org/officeDocument/2006/relationships/notesMaster" Target="/ppt/notesMasters/notesMaster1.xml" Id="R3c2f7e2934ea40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6855a6ee4942b1" /><Relationship Type="http://schemas.openxmlformats.org/officeDocument/2006/relationships/notesMaster" Target="/ppt/notesMasters/notesMaster1.xml" Id="Rf65468814fc644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a07a4757604afc" /><Relationship Type="http://schemas.openxmlformats.org/officeDocument/2006/relationships/notesMaster" Target="/ppt/notesMasters/notesMaster1.xml" Id="Rc706aa48e0b148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6f784186544125" /><Relationship Type="http://schemas.openxmlformats.org/officeDocument/2006/relationships/notesMaster" Target="/ppt/notesMasters/notesMaster1.xml" Id="Reec65cd21efe4f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fa49aca5c94b21" /><Relationship Type="http://schemas.openxmlformats.org/officeDocument/2006/relationships/notesMaster" Target="/ppt/notesMasters/notesMaster1.xml" Id="R2486912085c540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a20bc5c86244ce" /><Relationship Type="http://schemas.openxmlformats.org/officeDocument/2006/relationships/notesMaster" Target="/ppt/notesMasters/notesMaster1.xml" Id="Rb5ab7fedb67642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b1e3de82dc4ce7" /><Relationship Type="http://schemas.openxmlformats.org/officeDocument/2006/relationships/notesMaster" Target="/ppt/notesMasters/notesMaster1.xml" Id="R92bb9e2502874c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96c92b12e04e1d" /><Relationship Type="http://schemas.openxmlformats.org/officeDocument/2006/relationships/notesMaster" Target="/ppt/notesMasters/notesMaster1.xml" Id="R6486caf48fdf4b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4ce6a1e71f4f5c" /><Relationship Type="http://schemas.openxmlformats.org/officeDocument/2006/relationships/notesMaster" Target="/ppt/notesMasters/notesMaster1.xml" Id="R8d94b104e24b44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136d722cdd4344" /><Relationship Type="http://schemas.openxmlformats.org/officeDocument/2006/relationships/notesMaster" Target="/ppt/notesMasters/notesMaster1.xml" Id="Ra188b78adc5444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fd5cce37a14505" /><Relationship Type="http://schemas.openxmlformats.org/officeDocument/2006/relationships/notesMaster" Target="/ppt/notesMasters/notesMaster1.xml" Id="R53d7ca55b90a4a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f55ac0aab3474a" /><Relationship Type="http://schemas.openxmlformats.org/officeDocument/2006/relationships/notesMaster" Target="/ppt/notesMasters/notesMaster1.xml" Id="R7486fb45a1c348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corrected lab mission. All kits remain disconnected until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keep Rich and students oriented.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inverter is not a tiny controller 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point out positive and negative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“most controllers” because manuals vary. Teach general practice plus verify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matches the actual five-kit/six-student constraint.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practice the measurement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overdo calculations today. Keep the principle concrete.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Unless the equipment manual says otherwise, teach inverter battery-side with protection.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rework normal. Bad crimps are data. Hidden bad crimps are future pain.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afternoon pass standard.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control of the final power-up moment.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before cleanup so the room ends clean.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 the worksheet measurement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tickets and use them to decide what Day 5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6e00c05a4450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24b5fe33bf468d" /><Relationship Type="http://schemas.openxmlformats.org/officeDocument/2006/relationships/slideLayout" Target="/ppt/slideLayouts/slideLayout1.xml" Id="R9da42697a143475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a42697a1434758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c9235621c4358" /><Relationship Type="http://schemas.openxmlformats.org/officeDocument/2006/relationships/notesSlide" Target="/ppt/notesSlides/notesSlide1.xml" Id="Rc2a32452bc084a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9a446978d4898" /><Relationship Type="http://schemas.openxmlformats.org/officeDocument/2006/relationships/notesSlide" Target="/ppt/notesSlides/notesSlide2.xml" Id="Rc3d4728d3a4441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a735d4f044914" /><Relationship Type="http://schemas.openxmlformats.org/officeDocument/2006/relationships/notesSlide" Target="/ppt/notesSlides/notesSlide3.xml" Id="R4e39626cf1fb41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3320b3bfa48f2" /><Relationship Type="http://schemas.openxmlformats.org/officeDocument/2006/relationships/notesSlide" Target="/ppt/notesSlides/notesSlide4.xml" Id="Ra1abc990749149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2f439257b43a4" /><Relationship Type="http://schemas.openxmlformats.org/officeDocument/2006/relationships/notesSlide" Target="/ppt/notesSlides/notesSlide5.xml" Id="R2e0c4c3976514f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aeb2ffb7b40c8" /><Relationship Type="http://schemas.openxmlformats.org/officeDocument/2006/relationships/notesSlide" Target="/ppt/notesSlides/notesSlide6.xml" Id="Rca7de7a976b348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644ab47274092" /><Relationship Type="http://schemas.openxmlformats.org/officeDocument/2006/relationships/notesSlide" Target="/ppt/notesSlides/notesSlide7.xml" Id="Rb922bd09280949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c494bbfb04149" /><Relationship Type="http://schemas.openxmlformats.org/officeDocument/2006/relationships/notesSlide" Target="/ppt/notesSlides/notesSlide8.xml" Id="Rfb4f878d9a9849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9e23eccb84d05" /><Relationship Type="http://schemas.openxmlformats.org/officeDocument/2006/relationships/notesSlide" Target="/ppt/notesSlides/notesSlide9.xml" Id="R96d5d011b73543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3b78a943c4e14" /><Relationship Type="http://schemas.openxmlformats.org/officeDocument/2006/relationships/notesSlide" Target="/ppt/notesSlides/notesSlide10.xml" Id="R96cd0e5a339c47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f010eeda847a3" /><Relationship Type="http://schemas.openxmlformats.org/officeDocument/2006/relationships/notesSlide" Target="/ppt/notesSlides/notesSlide11.xml" Id="R44a13973be8c49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b0583d5634167" /><Relationship Type="http://schemas.openxmlformats.org/officeDocument/2006/relationships/notesSlide" Target="/ppt/notesSlides/notesSlide12.xml" Id="Rf100ec9f762047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e471f6c2f422c" /><Relationship Type="http://schemas.openxmlformats.org/officeDocument/2006/relationships/notesSlide" Target="/ppt/notesSlides/notesSlide13.xml" Id="R6776590574624c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eb2b8d4bd494d" /><Relationship Type="http://schemas.openxmlformats.org/officeDocument/2006/relationships/notesSlide" Target="/ppt/notesSlides/notesSlide14.xml" Id="Rfce41dc1eaaf4b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28e146e6643b5" /><Relationship Type="http://schemas.openxmlformats.org/officeDocument/2006/relationships/notesSlide" Target="/ppt/notesSlides/notesSlide15.xml" Id="R9599a7f4a35e4c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5AB60A-CC21-4556-A43D-6C329F93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C01A6B-8DF8-46C9-BF48-0514026C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A14668-DE3F-44C2-93BB-ED4D0A7D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RCS Day 3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5FC1B3-EAE4-4BF0-90FC-929EE99A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Receptacle boxes, conductor paths, terminations, and de-energized checks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9CF27AF-1BFF-4202-BD6E-3382D593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1078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336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200" b="1">
                <a:solidFill>
                  <a:srgbClr val="1F77B4"/>
                </a:solidFill>
              </a:rPr>
              <a:t>DE-ENERGIZE. TRACE. TERMINATE. VERIFY.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9A4032-519A-4FC3-94EA-6A202A6A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46120"/>
            <a:ext cx="102412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3FCBB46-DE91-46AC-99C6-580A42E1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319272"/>
            <a:ext cx="1009497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F2937"/>
                </a:solidFill>
              </a:rPr>
              <a:t>Training mock-ups only. No connection to building power. Every circuit stays isolated.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6746C2F-56E1-4922-99FF-8FEDE02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705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Today the goal is not to make power. The goal is a safe, inspectable wiring path.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D4922EB-AEE5-4D84-B01A-56F44425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2452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A22B82-4507-425B-B1B4-DF0B96A7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6E2208-1C51-430D-B2A3-EA61543C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D6FEB07-D6E2-4811-B55E-F04AC6E6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Today's flow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A9F913-5CD4-4396-8677-B908F70E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Quiz -&gt; model -&gt; guided practice -&gt; capstone lab -&gt; QC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DE0E472-71D3-4B03-955F-93B3A56B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E66DA70-8F24-4DD2-A891-75CA1AF1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06A36F-C98F-4814-996F-246022D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Quiz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10:15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8EDD20-BB29-49DB-8089-D3C38148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B2EE07E-882A-4DE8-B665-D8D7F3E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E1EB40-4D4D-42B9-BA0F-59EC1A6A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Circuit path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10:50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D73B09-3547-4AFE-99FD-DEE71987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8E22162-6289-4E9D-94F7-1A576B3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7F92FB-96A2-4EE0-9CB3-99A63973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Box demo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11:20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B881503-55C8-4A94-87F1-928847B6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C21E774-1981-4848-BEFB-C6130872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DB85F47-E87F-44DA-AA3E-8E1AA5D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QC ladder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12:00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6808D4E-B662-49A4-A884-5FD2C5B2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8E6F05D-EA75-4759-B5DD-7887656A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87D999-3835-4FB4-AEDE-02627E56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Build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1:00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F6A1FB8-6C3B-4D84-AD6B-D3D3D055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8440EA1-F28E-4D79-8651-7BEDB6E1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790AF42-50BF-47EE-AFE2-946A57C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Verify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2:25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6230706-D3B4-4EC5-A89D-9F7BFE27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A6EA47-CF17-49D3-A7EB-80AE2530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Exit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2:45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71F06DA-0344-4120-8596-E41525F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102412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F2937"/>
                </a:solidFill>
              </a:rPr>
              <a:t>Morning: trace hot, neutral, and equipment-grounding paths.</a:t>
            </a:r>
          </a:p>
          <a:p xmlns:a="http://schemas.openxmlformats.org/drawingml/2006/main">
            <a:r>
              <a:rPr sz="2200">
                <a:solidFill>
                  <a:srgbClr val="1F2937"/>
                </a:solidFill>
              </a:rPr>
              <a:t>Afternoon: mount two boxes and terminate two training receptacles.</a:t>
            </a:r>
          </a:p>
          <a:p xmlns:a="http://schemas.openxmlformats.org/drawingml/2006/main">
            <a:r>
              <a:rPr sz="2200">
                <a:solidFill>
                  <a:srgbClr val="1F2937"/>
                </a:solidFill>
              </a:rPr>
              <a:t>End: visual check, tug check, continuity, label, photo, reset.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32BD675-34C1-4C74-B936-3B2380A5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4459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9B87DBA-DCCF-4173-80C3-76533576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EAF00AB-872B-4F42-BFA2-41B4431D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89BED8F-B164-4B7E-B059-12F5CA23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Today's targets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3AD781-89AB-4B20-80BD-BC663EED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What successful work must demonstrate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EB26E99-7E75-4A62-81ED-40B66AE0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17373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7B9852E-E785-46DE-8C78-690F1B2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947672"/>
            <a:ext cx="159105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Hot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path out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E3CD08B-4BC5-4543-A556-B73818D1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74520"/>
            <a:ext cx="1828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6650543-6E3D-4C88-B54F-8E35A883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1947672"/>
            <a:ext cx="168249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Neutral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path back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0DC0979-C025-4C7E-8078-08F9A712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874520"/>
            <a:ext cx="20574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E77F068-CE60-4818-AEDA-F40C07DC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947672"/>
            <a:ext cx="191109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Grounding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fault path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A9BF2FA-3B42-4251-8E4F-7E8D397A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874520"/>
            <a:ext cx="17830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BD6360-62B8-4B31-8966-9F94AC7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947672"/>
            <a:ext cx="163677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Device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boxes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7A7B66-7812-4537-B156-579A3BB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874520"/>
            <a:ext cx="18745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CEB6A7-627E-438D-9A66-A5E28FE1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1947672"/>
            <a:ext cx="172821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Receptacles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+ evidence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903FBDE-85E9-429B-A7AC-DA58D63C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02412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1F2937"/>
                </a:solidFill>
              </a:rPr>
              <a:t>Trace hot, neutral, and equipment-grounding paths in a training circuit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Lay out two receptacle boxes on the capstone wall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Prepare and terminate conductors on training receptacles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Complete visual, mechanical, and continuity checks while de-energized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14CAA9B-DF47-4589-BE59-846BF17F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66203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D5DA4E-A1EC-4AF0-89F9-DD8133A7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CE0B25-3748-4A2C-8CFF-7366769F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95946E-F18E-4FE7-8327-0EF59763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The day's path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50E325-ADF1-4847-B4EE-D43DED6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Trace the work before building it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2D90FBA-4DB4-4730-B12D-776F546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432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E9D207-235A-4217-9401-369708C7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7432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87500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8AE47AD-9651-4471-ADC7-CF32CDE5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7432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385F165-ED82-4E7D-A747-8B2E77D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7432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E22C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C86A6C7-4632-447F-88BE-1692DBA7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40280"/>
            <a:ext cx="15544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4EAC2F-93C5-4DA7-AC0B-BB0661B8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13432"/>
            <a:ext cx="140817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Source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isolated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CE9C82-D81A-4DC9-B0A1-C7AD27AF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240280"/>
            <a:ext cx="182880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6C1C034-442A-4B37-830D-468DB1D5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313432"/>
            <a:ext cx="168249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Protection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identified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A41670-1A7F-4079-9B34-CB025A16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0280"/>
            <a:ext cx="19659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9726C6-C17E-47D1-B496-0D5D4497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13432"/>
            <a:ext cx="18196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Hot to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device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2298B46-451D-46FC-A7E9-E9F0630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240280"/>
            <a:ext cx="164592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5AC3F9-1B64-45A5-9C28-4D9331C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313432"/>
            <a:ext cx="149961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2937"/>
                </a:solidFill>
              </a:rPr>
              <a:t>Neutral</a:t>
            </a:r>
          </a:p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2937"/>
                </a:solidFill>
              </a:rPr>
              <a:t>return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1B21B32-0EBA-4FEE-9A88-36FBC8C5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240280"/>
            <a:ext cx="15087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BC8D2AC-A867-4E0D-A76D-FAC0D348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313432"/>
            <a:ext cx="13624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Ground +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document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17A5940-CB13-462A-9BC5-02941ACE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4340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7793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Trace the expected circuit before routing cable. Every student calls the energy state before touching a conductor.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6909C79-6A1F-4B15-84E7-7A8ED8A7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88464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D91085-2D72-4B41-8BC4-F75661F9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0634D6-6DF7-4C2A-987D-441B9D8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4F2598-4AEC-4D98-A2F3-29CB3A11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Controlled sequence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94923E-2ED2-4FC2-8D55-F87FEAC4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Release each stage only after its check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C51CFAF-68FB-40D5-BED2-186C2236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23317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096B7C-D142-437B-A69D-4FD22D69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47672"/>
            <a:ext cx="218541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Verify isolation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50B0C53-7CA1-4143-9D75-2D85C5C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D94B5D2-0206-4D3B-9176-7DCA693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874520"/>
            <a:ext cx="23774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86F07E-76F2-48A5-BF96-1C304F2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947672"/>
            <a:ext cx="223113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Lay out + mount boxes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EB438E8-3A63-4EAE-82F4-97B49434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878C8F6-163A-498D-87C8-4FBB2F5C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874520"/>
            <a:ext cx="21488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B7B62C1-647B-421A-A4D8-23AC3A94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947672"/>
            <a:ext cx="200253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Route + terminate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7AE1A1A-4A75-4B8D-84EA-EB46664D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1B01038-DCBE-488C-80BE-5C36AF9C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74520"/>
            <a:ext cx="20574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D4FF253-4BE4-4BD0-AA53-11BE5FB4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947672"/>
            <a:ext cx="191109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Inspect + continuity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2A9ACE-01C5-4DD3-9F79-DC1C6B5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77640"/>
            <a:ext cx="102412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F2937"/>
                </a:solidFill>
              </a:rPr>
              <a:t>Instructor approves both box locations before drilling. No student test begins until isolation is verified.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00427AC-F4B7-4584-90B9-ECCDCB06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03344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40F37A4-5648-4E98-99A1-C027FFB3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1AD75F-610F-42DA-8CBA-CF7008B3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6FA8AA4-50E8-4204-A25F-CF367CEE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Working roles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A5FB39-F043-4057-AC6B-8491594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6 students; every result receives another set of eyes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6C5FA03-1A27-40A8-9C95-5CD2403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283464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80FE5A7-5A3D-437B-9986-4BFFC73D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39112"/>
            <a:ext cx="268833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Builder</a:t>
            </a:r>
          </a:p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routes + terminates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B404C3E-375D-4C4F-B880-F4663D1B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65960"/>
            <a:ext cx="29260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5DEF13-F504-4A1C-98E4-57335897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039112"/>
            <a:ext cx="277977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Inspector</a:t>
            </a:r>
          </a:p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visual + tug check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A496A04-2F74-4721-BFE7-F1491D11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5960"/>
            <a:ext cx="28803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4E9F9E-C735-4CB0-A36C-B5456C12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039112"/>
            <a:ext cx="27340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Documenter</a:t>
            </a:r>
          </a:p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logs + photographs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CDB06E-0DD8-4C84-93CA-2C2BF89B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0332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1F2937"/>
                </a:solidFill>
              </a:rPr>
              <a:t>Rotate at the first completed receptacle.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The Inspector checks jacket entry, insulation, copper, and terminal security.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The instructor controls any test source.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CB1AEEE-37F0-4492-AA5B-DC1E9C23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533326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7C9BBFB-D18B-48C2-9AAD-34FE2D9C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F37A19-5E70-4DD5-90E2-D738445E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67AFAD-D157-4075-A32A-95680739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Verification checkpoints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83A7E8-7704-498D-9593-38F227C8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Do not trust appearance alone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9DF98CD-9C0C-4F5C-AA29-25A9FFD4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4520"/>
            <a:ext cx="20574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AE7D333-EFD1-4E8A-A281-9AF95F90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47672"/>
            <a:ext cx="19110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Isolation proven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7584D0D-35A9-485C-82A3-BAB1D4B9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74520"/>
            <a:ext cx="23774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977C3B4-1CE1-4DFA-8473-8FEAF202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947672"/>
            <a:ext cx="22311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Visual inspection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B062DFC-AAF7-4A3F-90B5-05DAA8C6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74520"/>
            <a:ext cx="233172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0ACC3F-30C6-4035-8DAD-881E3D3E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1947672"/>
            <a:ext cx="218541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Mechanical tug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7C4569C-FF26-470B-ADED-4998D003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74520"/>
            <a:ext cx="19202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B22E2D-CE2B-4665-A245-9685A8F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1947672"/>
            <a:ext cx="17739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Continuity check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422518D-00CA-48A6-9C25-DE1CF779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5760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Use continuity only on an isolated circuit.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Expected path first; meter setup second; reading third.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A continuity result does not authorize energized operation.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D1CA0B2-C2CB-4CC2-B415-AD849BC6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21897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F2B341-55BE-4B1E-99D7-D23EE236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39DFE3-6D3D-4F0B-A167-17B9D34A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22843E-D4BE-4789-836D-EF065CDF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Safety boundaries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8B29FEF-0885-474B-8CB9-F9F27C63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The lab begins only inside these controls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EC567A-C26D-47CF-A953-C63217FE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2560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76DFC8-DDE3-45F1-8522-9365622E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01952"/>
            <a:ext cx="24140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No building power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86C5A55-A6E9-493F-B67D-C654B10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28800"/>
            <a:ext cx="2560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1D5AB6-C976-423C-A72F-BFD389BC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1901952"/>
            <a:ext cx="24140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Treat unknown as live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7FF82D0-A558-45C5-AC20-E6B8C8C2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82880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7F727A7-8650-4580-A8C3-EFD1F8E5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1901952"/>
            <a:ext cx="21854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Eyes for drilling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92D94F8-E88E-4B11-B271-8F71A2FE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828800"/>
            <a:ext cx="169164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C053C01-427B-490E-962C-911FC9FC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1901952"/>
            <a:ext cx="154533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Instructor test control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D1B9912-FBFF-4B88-8AEB-E914B23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57600"/>
            <a:ext cx="101498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Keep the mock-up de-energized and separate from premises wiring. Stop for damaged insulation, exposed loose copper, or an unverified energy state.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D206C48-6A38-498A-94A5-740903BB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46908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C35AB6-FA8D-4791-A4E5-4BB3714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36822A-6310-43E6-8D29-7859FE48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4B4A3E-4081-4BFC-AA03-76906DF7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Professional judgment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F05121E-18D6-446D-BD44-981F8025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Safe work pauses when the evidence conflicts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A193DE-1C5E-4065-A8C7-DDD28D39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206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F5DEC1-26E0-42A2-8E41-9A848CB2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130552"/>
            <a:ext cx="405993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315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Good path</a:t>
            </a:r>
          </a:p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isolate -&gt; trace -&gt; terminate -&gt; check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D0DB987-BDFC-4746-94A7-5C8A36C9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057400"/>
            <a:ext cx="4206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CC281C-1EF3-40C2-862E-950E7865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130552"/>
            <a:ext cx="405993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0136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Bad habit</a:t>
            </a:r>
          </a:p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color guess -&gt; connect -&gt; hope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FFEDDFA-AB4D-45E3-AEAB-9008D5AE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10241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64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F2937"/>
                </a:solidFill>
              </a:rPr>
              <a:t>A professional proves the source state and conductor path. Course practice does not authorize unlicensed field electrical work.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B2BADA8-6E98-4206-98F1-11864576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076995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35B03E-E021-40D9-99D5-CBE15983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EA128-4D98-4A55-A24E-9F8C4FE5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A34FB0-2928-4B2E-B839-53042BF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Quality criteria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D23102-D566-4AAB-B003-027F47FD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Good physical work leaves visible proof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5695CD5-F6C5-4453-9517-EA3032BE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2870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600">
                <a:solidFill>
                  <a:srgbClr val="1F2937"/>
                </a:solidFill>
              </a:rPr>
              <a:t>Mount boxes at the approved layout marks.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Protect cable and bring jacket into the box.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Strip without damaging conductor.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Keep loose copper out of the enclosure.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Visual, tug, continuity, and instructor approval.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67AAF38-29B8-4268-874D-C4A3A3D3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86400"/>
            <a:ext cx="8503920" cy="59436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08DA74-4C9E-4BAC-A0E1-17CA714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5559552"/>
            <a:ext cx="8357616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Unknown energy state? Stop and verify.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BD2BCFF-A810-42BF-86EC-E4D0677C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65779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565C80-D4E7-4846-B096-1A655209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7BC135-6CDB-484A-BA49-2691911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EB4D9E-7135-46C1-8658-AB717ABD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Lab release checklist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FB28F72-3D5A-4DE4-B099-8422EF74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The station earns work only after the checks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18BEBD4-2E48-4AA4-8DA9-D3441AE1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10332720" cy="397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Training source isolated and identified.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Box measurements recorded.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Drilling layout approved.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Conductors match the training diagram.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Continuity mode used only while isolated.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No connection to premises wiring.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6D4233-633F-44F2-A295-5201A64A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75512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571FCC-2204-47C0-B05B-6C968783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02CB13-118E-4501-AFA2-FD9EDF70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EA5C473-1732-44B6-949A-C300815F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Afternoon lab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4EA4C0-4FAA-480E-AAD4-635053F9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Slow sequence. Clear callouts. No surprises.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C757039-29CA-4C27-923A-67879671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21031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87BC81-92E4-4BF7-A045-DFAD829D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30552"/>
            <a:ext cx="195681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Isolate + lay out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0D54EEE-A66A-4228-9E5B-22F2CD7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27EF1E3-1DAB-41C5-9AAF-D5C1B396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20116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E5E95B5-7B87-409B-8884-D50B9922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130552"/>
            <a:ext cx="186537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Mount + route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9522323-4A80-43D0-AD51-2022DFF3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A30CAF2-DA14-45A2-8088-12CCC49A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05740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211A356-BD49-4032-879E-AF271127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130552"/>
            <a:ext cx="191109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Terminate two devices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CA5E873-FC1F-4834-B5CD-6741851D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5CE4A53-E879-42E5-91BA-B76F137A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7335695-F4B2-4966-92F3-83239149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130552"/>
            <a:ext cx="191109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Inspect + document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46C3109-8E7A-4302-B368-3FC29305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0332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743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Complete two de-energized receptacle terminations on the capstone wall. Instructor approval is the final checkpoint.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7893F80-01FA-477E-B380-7DADE21B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962444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BB467D-E68E-444B-8DE0-9F7917ED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268C29-84DE-4DD2-B142-1399755D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95605E8-4218-4618-A288-0418EDC6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Closeout order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E9307D5-81DA-4747-A554-396219F1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End verified, documented, and reset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C6E3434-0BA0-430D-85CF-B364BA6D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18288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E23C91D-DB15-408A-8DEB-CAB3F6AF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084832"/>
            <a:ext cx="1682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394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Visual inspection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DDE9ADE-8AE5-4535-ADD9-0096A5E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B6FCF18-A24B-40A8-B4D4-ABAB4094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011680"/>
            <a:ext cx="22402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BF6F8F8-68E5-47EF-A0CE-6671C28F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084832"/>
            <a:ext cx="209397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Tug test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211F4B-8293-4086-A6E3-80684862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7995C79-0344-489E-95E9-311BB8C0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168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C7D3330-D46F-4A31-996D-410482E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084832"/>
            <a:ext cx="21854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Continuity check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98E7A71-EFE0-40ED-B3E9-8713F160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8CEDC28-C760-43CB-9667-8402EA03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11680"/>
            <a:ext cx="20574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3D135FA-BA51-47B0-8A0A-F12D972B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084832"/>
            <a:ext cx="19110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Label + close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8359502-66F3-48C2-BA16-5B8C1E3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31920"/>
            <a:ext cx="102412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Record expected and observed results. Leave no exposed conductor, unidentified cable, or energized mystery circuit.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1407CF-64D2-4B2A-B4AA-43AD9BE1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573353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F1505B8-1F62-42C0-962A-E250FEE9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07B989-030E-4FF9-BDA7-9AB92582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1CD3937-EC14-4C60-95AA-9AC5ECF4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Evidence log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8E9340-7E33-4FC7-9C96-A62574B2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What students write down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FBDFDD-73E2-433F-9660-82B07EEB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A22B0C-EED9-41E4-A7B0-D9ABA83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85623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Source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C6B50B4-8298-48CB-B5EE-6A3E665F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783080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E75621F-7DC5-47C8-8346-0B40F53B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856232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isolated + tagged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0CD52B2-F7B3-40A3-A385-40FEC317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8308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3562DD-7C5B-4EBE-8742-68E58BB0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85623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Initials: ______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009A3A7-BA87-4C29-9D27-72422F7F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4872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6A05B7-EA78-41BC-8933-A185AD59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478024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Box 1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19232CF-C080-4974-9FCD-CE847338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404872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257811-A289-45A1-8E33-B160CEA3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478024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layout + secure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D459576-9567-419E-BB98-FDDF39A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4872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D763563-8300-46BD-A1D0-FE6498DB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478024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Measure: _____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F84DEF1-B0DB-4C08-AEF3-113DC117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6664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FE14E77-170E-4663-8B2B-016767C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099816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Box 2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8F841B2-109C-4E68-8FD6-BF7D4FBB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026664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F17044D-0C73-44E3-84E9-C24278FB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99816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layout + secure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61D76DE-82EE-4D1A-97E1-0A3A15FD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6664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67B715B-0BA5-4300-A994-71E99337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099816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Measure: _____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22830D0-E04F-408A-B5B2-F9AE2E3A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456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8EE420C-25C6-46B7-9240-21B37338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721608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Visual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DEC7CE0-2599-4F7C-A58B-92277183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648456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34EBD3-7580-4FE5-AF23-D7CBBEA5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21608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copper + insulation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08EF2ED-DF19-4AC4-839D-A38F6107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48456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98C6FE7-B231-46D3-8BF8-0CA613CF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721608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Pass: ________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EB3FD7E-7348-4784-B136-C6726F5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0248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8F1804E-C34F-49EE-8529-53090A1E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343400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Tug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0EA6858-B573-47AF-BA0C-A886AEAC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270248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7CE1A6C-3DF4-415A-9D69-062A875E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343400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secure terminals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986FAEF-066C-47E5-BE13-CBF39C6F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70248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1A208C0-50F1-443E-BA10-C02E3ABD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343400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Pass: ________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43EA0D7-4C1F-4605-B9A5-9825F105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5467643-9C9A-4F0F-B0F5-1BE4F3AA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96519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Continuity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D61E7A1-B5CB-4943-8E8F-BB19D82F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892040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7EED2A-50A4-4EF4-8504-784F3BC3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965192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expected path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403569A-4EBC-4C58-8DAA-230632E2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9204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0553DF4-2BFE-4D20-880C-32A2D6B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96519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Result: _______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F0731B2-8B35-4649-A485-D0A49A76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0644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F2937"/>
                </a:solidFill>
              </a:rPr>
              <a:t>No verified isolation, no meter use. No complete QC, no lab approval.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6567C6F-F0F7-4832-BA5B-9341D4F1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8936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148702-CFB6-4C26-9B49-E7B94C4B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1D5CCD-76CF-4919-B592-C5F657FA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RCS03 | Day 11 | July 22,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9F7949B-6F8E-4FAD-BACA-904A6BCA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Exit ticket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C59B75D-FD14-4C4D-9DFE-8A2CE704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Three checks before dismissal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9837785-4053-41D9-99BA-F1C619A9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BA446D9-38E6-4AD4-83CF-1F2A6F33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01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1. Trace hot, neutral, and equipment-grounding paths.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1EF4191-B682-414B-9738-08373CBA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71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5DF450C-0364-4352-AC4D-2DD9BD25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044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2. Name the four verification stages used today.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44D51E-C651-4DE4-AB2C-B5804FC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14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08F4BF1-7720-43B7-A7F8-AB1AA356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187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3. State the boundary for continuity testing.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18BABE7-0FF2-400C-BFDA-4D513D81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Mock-up isolated. Devices checked. Conductors labeled. Evidence saved.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54212A6-04DC-4CCA-8E9D-1E58A1AF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791484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2026-07-20T22:24:38.9690000Z</dcterms:created>
  <dcterms:modified xsi:type="dcterms:W3CDTF">2026-07-20T22:24:38.9690000Z</dcterms:modified>
</coreProperties>
</file>