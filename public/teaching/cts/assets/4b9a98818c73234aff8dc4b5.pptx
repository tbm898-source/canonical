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207d6c3acad4adb" /><Relationship Type="http://schemas.openxmlformats.org/officeDocument/2006/relationships/extended-properties" Target="/docProps/app.xml" Id="R531a7a49f8cb4acc" /><Relationship Type="http://schemas.openxmlformats.org/officeDocument/2006/relationships/officeDocument" Target="/ppt/presentation.xml" Id="R60d2fd7f79f143b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d593e2fbe714add"/>
  </p:sldMasterIdLst>
  <p:notesMasterIdLst>
    <p:notesMasterId xmlns:r="http://schemas.openxmlformats.org/officeDocument/2006/relationships" r:id="R0c2764e03e3d4a3c"/>
  </p:notesMasterIdLst>
  <p:sldIdLst>
    <p:sldId xmlns:r="http://schemas.openxmlformats.org/officeDocument/2006/relationships" id="256" r:id="R9f890e77b5374aa0"/>
    <p:sldId xmlns:r="http://schemas.openxmlformats.org/officeDocument/2006/relationships" id="257" r:id="Rb4c74e62ab094751"/>
    <p:sldId xmlns:r="http://schemas.openxmlformats.org/officeDocument/2006/relationships" id="258" r:id="R4adb07a9a4fb4f71"/>
    <p:sldId xmlns:r="http://schemas.openxmlformats.org/officeDocument/2006/relationships" id="259" r:id="R85b883d52fe04835"/>
    <p:sldId xmlns:r="http://schemas.openxmlformats.org/officeDocument/2006/relationships" id="260" r:id="Rd1a3a03333f84344"/>
    <p:sldId xmlns:r="http://schemas.openxmlformats.org/officeDocument/2006/relationships" id="261" r:id="Rb8e9c6f0496c4b6f"/>
    <p:sldId xmlns:r="http://schemas.openxmlformats.org/officeDocument/2006/relationships" id="262" r:id="Ra9f5335d9d9448f3"/>
    <p:sldId xmlns:r="http://schemas.openxmlformats.org/officeDocument/2006/relationships" id="263" r:id="R7abd67b2246942c5"/>
    <p:sldId xmlns:r="http://schemas.openxmlformats.org/officeDocument/2006/relationships" id="264" r:id="R668f74d7cd0448d9"/>
    <p:sldId xmlns:r="http://schemas.openxmlformats.org/officeDocument/2006/relationships" id="265" r:id="R2779eedd16bf45bb"/>
    <p:sldId xmlns:r="http://schemas.openxmlformats.org/officeDocument/2006/relationships" id="266" r:id="R15c71c6b14d84095"/>
    <p:sldId xmlns:r="http://schemas.openxmlformats.org/officeDocument/2006/relationships" id="267" r:id="R74b9850173cd4816"/>
    <p:sldId xmlns:r="http://schemas.openxmlformats.org/officeDocument/2006/relationships" id="268" r:id="Rb7b965dc19704281"/>
    <p:sldId xmlns:r="http://schemas.openxmlformats.org/officeDocument/2006/relationships" id="269" r:id="Re4f25252f90f4168"/>
    <p:sldId xmlns:r="http://schemas.openxmlformats.org/officeDocument/2006/relationships" id="270" r:id="R7295dfc749cd4653"/>
  </p:sldIdLst>
  <p:sldSz cx="12191695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b93602a23da4d2c" /><Relationship Type="http://schemas.openxmlformats.org/officeDocument/2006/relationships/slideMaster" Target="/ppt/slideMasters/slideMaster1.xml" Id="R2d593e2fbe714add" /><Relationship Type="http://schemas.openxmlformats.org/officeDocument/2006/relationships/notesMaster" Target="/ppt/notesMasters/notesMaster1.xml" Id="R0c2764e03e3d4a3c" /><Relationship Type="http://schemas.openxmlformats.org/officeDocument/2006/relationships/presProps" Target="/ppt/presProps.xml" Id="R7466ecec5c4c4e33" /><Relationship Type="http://schemas.openxmlformats.org/officeDocument/2006/relationships/viewProps" Target="/ppt/viewProps.xml" Id="Rbc4b2566f0a94217" /><Relationship Type="http://schemas.openxmlformats.org/officeDocument/2006/relationships/tableStyles" Target="/ppt/tableStyles.xml" Id="R5b88b9531b61452e" /><Relationship Type="http://schemas.openxmlformats.org/officeDocument/2006/relationships/slide" Target="/ppt/slides/slide1.xml" Id="R9f890e77b5374aa0" /><Relationship Type="http://schemas.openxmlformats.org/officeDocument/2006/relationships/slide" Target="/ppt/slides/slide2.xml" Id="Rb4c74e62ab094751" /><Relationship Type="http://schemas.openxmlformats.org/officeDocument/2006/relationships/slide" Target="/ppt/slides/slide3.xml" Id="R4adb07a9a4fb4f71" /><Relationship Type="http://schemas.openxmlformats.org/officeDocument/2006/relationships/slide" Target="/ppt/slides/slide4.xml" Id="R85b883d52fe04835" /><Relationship Type="http://schemas.openxmlformats.org/officeDocument/2006/relationships/slide" Target="/ppt/slides/slide5.xml" Id="Rd1a3a03333f84344" /><Relationship Type="http://schemas.openxmlformats.org/officeDocument/2006/relationships/slide" Target="/ppt/slides/slide6.xml" Id="Rb8e9c6f0496c4b6f" /><Relationship Type="http://schemas.openxmlformats.org/officeDocument/2006/relationships/slide" Target="/ppt/slides/slide7.xml" Id="Ra9f5335d9d9448f3" /><Relationship Type="http://schemas.openxmlformats.org/officeDocument/2006/relationships/slide" Target="/ppt/slides/slide8.xml" Id="R7abd67b2246942c5" /><Relationship Type="http://schemas.openxmlformats.org/officeDocument/2006/relationships/slide" Target="/ppt/slides/slide9.xml" Id="R668f74d7cd0448d9" /><Relationship Type="http://schemas.openxmlformats.org/officeDocument/2006/relationships/slide" Target="/ppt/slides/slide10.xml" Id="R2779eedd16bf45bb" /><Relationship Type="http://schemas.openxmlformats.org/officeDocument/2006/relationships/slide" Target="/ppt/slides/slide11.xml" Id="R15c71c6b14d84095" /><Relationship Type="http://schemas.openxmlformats.org/officeDocument/2006/relationships/slide" Target="/ppt/slides/slide12.xml" Id="R74b9850173cd4816" /><Relationship Type="http://schemas.openxmlformats.org/officeDocument/2006/relationships/slide" Target="/ppt/slides/slide13.xml" Id="Rb7b965dc19704281" /><Relationship Type="http://schemas.openxmlformats.org/officeDocument/2006/relationships/slide" Target="/ppt/slides/slide14.xml" Id="Re4f25252f90f4168" /><Relationship Type="http://schemas.openxmlformats.org/officeDocument/2006/relationships/slide" Target="/ppt/slides/slide15.xml" Id="R7295dfc749cd465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e5ca2ec3c4c4de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1d8b2ad538946e2" /><Relationship Type="http://schemas.openxmlformats.org/officeDocument/2006/relationships/notesMaster" Target="/ppt/notesMasters/notesMaster1.xml" Id="Rddb111bfb64b43e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44fedde77f04f09" /><Relationship Type="http://schemas.openxmlformats.org/officeDocument/2006/relationships/notesMaster" Target="/ppt/notesMasters/notesMaster1.xml" Id="R4ac0fa332ce1487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b0fa613983d450f" /><Relationship Type="http://schemas.openxmlformats.org/officeDocument/2006/relationships/notesMaster" Target="/ppt/notesMasters/notesMaster1.xml" Id="R2f03a234d6624c9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9f47ad1308f4dea" /><Relationship Type="http://schemas.openxmlformats.org/officeDocument/2006/relationships/notesMaster" Target="/ppt/notesMasters/notesMaster1.xml" Id="R80ea93dbf1854fa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41d0437fe0f47b0" /><Relationship Type="http://schemas.openxmlformats.org/officeDocument/2006/relationships/notesMaster" Target="/ppt/notesMasters/notesMaster1.xml" Id="R60e6682d36be4cd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3b0136646764940" /><Relationship Type="http://schemas.openxmlformats.org/officeDocument/2006/relationships/notesMaster" Target="/ppt/notesMasters/notesMaster1.xml" Id="R03b4facfa6134b7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65508c3efd740db" /><Relationship Type="http://schemas.openxmlformats.org/officeDocument/2006/relationships/notesMaster" Target="/ppt/notesMasters/notesMaster1.xml" Id="Rf97c367885c04a2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22383de16eb48b4" /><Relationship Type="http://schemas.openxmlformats.org/officeDocument/2006/relationships/notesMaster" Target="/ppt/notesMasters/notesMaster1.xml" Id="Ra45c8626690047a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e576d0c5ac64abf" /><Relationship Type="http://schemas.openxmlformats.org/officeDocument/2006/relationships/notesMaster" Target="/ppt/notesMasters/notesMaster1.xml" Id="R2cfcd8d1389a43e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9db1d277a384232" /><Relationship Type="http://schemas.openxmlformats.org/officeDocument/2006/relationships/notesMaster" Target="/ppt/notesMasters/notesMaster1.xml" Id="R0c24f367a3d240e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187af6aa6b643e9" /><Relationship Type="http://schemas.openxmlformats.org/officeDocument/2006/relationships/notesMaster" Target="/ppt/notesMasters/notesMaster1.xml" Id="Redb8147fd6f7442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4c74cd4b21946e8" /><Relationship Type="http://schemas.openxmlformats.org/officeDocument/2006/relationships/notesMaster" Target="/ppt/notesMasters/notesMaster1.xml" Id="R70e6bcfc8ef0429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d0412c162954791" /><Relationship Type="http://schemas.openxmlformats.org/officeDocument/2006/relationships/notesMaster" Target="/ppt/notesMasters/notesMaster1.xml" Id="Rc2ba61ceb2a94f5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feb814e98364bfe" /><Relationship Type="http://schemas.openxmlformats.org/officeDocument/2006/relationships/notesMaster" Target="/ppt/notesMasters/notesMaster1.xml" Id="Rb9acdb6bfb4e480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7ddad97b3b94510" /><Relationship Type="http://schemas.openxmlformats.org/officeDocument/2006/relationships/notesMaster" Target="/ppt/notesMasters/notesMaster1.xml" Id="Rdaf1b152ab794a3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corrected lab mission. All kits remain disconnected until approval.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to keep Rich and students oriented.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Emphasize the inverter is not a tiny controller load.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Ask students to point out positive and negative paths.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Say “most controllers” because manuals vary. Teach general practice plus verify equipment.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matches the actual five-kit/six-student constraint.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Have students practice the measurement sentence.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 not overdo calculations today. Keep the principle concrete.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Unless the equipment manual says otherwise, teach inverter battery-side with protection.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Make rework normal. Bad crimps are data. Hidden bad crimps are future pain.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slide as the afternoon pass standard.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Keep control of the final power-up moment.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before cleanup so the room ends clean.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Match the worksheet measurement log.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Collect tickets and use them to decide what Day 5 needs.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5cb15ee8f2447b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48fd7d70d394fbf" /><Relationship Type="http://schemas.openxmlformats.org/officeDocument/2006/relationships/slideLayout" Target="/ppt/slideLayouts/slideLayout1.xml" Id="R18cde35e41c84f43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8cde35e41c84f43"/>
  </p:sldLayoutIdLst>
  <p:hf sldNum="0" hdr="0" ftr="0" dt="0"/>
  <p:txStyles>
    <p:titleStyle>
      <a:lvl1pPr xmlns:a="http://schemas.openxmlformats.org/drawingml/2006/main" algn="ctr"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>
        <a:buChar char="•"/>
        <a:defRPr sz="3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>
        <a:buChar char="–"/>
        <a:defRPr sz="2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buChar char="–"/>
        <a:defRPr sz="20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buChar char="»"/>
        <a:defRPr sz="20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ee8e0c0f244432" /><Relationship Type="http://schemas.openxmlformats.org/officeDocument/2006/relationships/notesSlide" Target="/ppt/notesSlides/notesSlide1.xml" Id="R7fd16bef0844482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e9dee850284231" /><Relationship Type="http://schemas.openxmlformats.org/officeDocument/2006/relationships/notesSlide" Target="/ppt/notesSlides/notesSlide2.xml" Id="R478d0e83c9ec4b7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1894beb7e6424e" /><Relationship Type="http://schemas.openxmlformats.org/officeDocument/2006/relationships/notesSlide" Target="/ppt/notesSlides/notesSlide3.xml" Id="R36635d36777848b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fbbc74151042e6" /><Relationship Type="http://schemas.openxmlformats.org/officeDocument/2006/relationships/notesSlide" Target="/ppt/notesSlides/notesSlide4.xml" Id="Rd4b5a98497a4401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29e248d42f4a37" /><Relationship Type="http://schemas.openxmlformats.org/officeDocument/2006/relationships/notesSlide" Target="/ppt/notesSlides/notesSlide5.xml" Id="Rfd54b69141bb4fb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d52c8704a24eb5" /><Relationship Type="http://schemas.openxmlformats.org/officeDocument/2006/relationships/notesSlide" Target="/ppt/notesSlides/notesSlide6.xml" Id="R4dfd5c95212e4c1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f081d2f31547e6" /><Relationship Type="http://schemas.openxmlformats.org/officeDocument/2006/relationships/notesSlide" Target="/ppt/notesSlides/notesSlide7.xml" Id="Rfad34bdfda7d482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18c4f3305b4c32" /><Relationship Type="http://schemas.openxmlformats.org/officeDocument/2006/relationships/notesSlide" Target="/ppt/notesSlides/notesSlide8.xml" Id="R436cb39ed0234c2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cd6fab65bb429c" /><Relationship Type="http://schemas.openxmlformats.org/officeDocument/2006/relationships/notesSlide" Target="/ppt/notesSlides/notesSlide9.xml" Id="R92384405e40f468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30d09d7f824b69" /><Relationship Type="http://schemas.openxmlformats.org/officeDocument/2006/relationships/notesSlide" Target="/ppt/notesSlides/notesSlide10.xml" Id="R0db53fceeec4438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27493bc87f4884" /><Relationship Type="http://schemas.openxmlformats.org/officeDocument/2006/relationships/notesSlide" Target="/ppt/notesSlides/notesSlide11.xml" Id="R3c42a0cf6fe947b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01dfb95d854be7" /><Relationship Type="http://schemas.openxmlformats.org/officeDocument/2006/relationships/notesSlide" Target="/ppt/notesSlides/notesSlide12.xml" Id="R6fe5f096026341c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d72736878d41f8" /><Relationship Type="http://schemas.openxmlformats.org/officeDocument/2006/relationships/notesSlide" Target="/ppt/notesSlides/notesSlide13.xml" Id="Rbf2d8822682a428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a641da7746498c" /><Relationship Type="http://schemas.openxmlformats.org/officeDocument/2006/relationships/notesSlide" Target="/ppt/notesSlides/notesSlide14.xml" Id="R5e709daa6fac4db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57e088266a41f3" /><Relationship Type="http://schemas.openxmlformats.org/officeDocument/2006/relationships/notesSlide" Target="/ppt/notesSlides/notesSlide15.xml" Id="Rf4fff1754aa94b8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095AB60A-CC21-4556-A43D-6C329F937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12700">
            <a:solidFill>
              <a:srgbClr val="111827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A4C01A6B-8DF8-46C9-BF48-0514026CF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18872"/>
            <a:ext cx="80467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FFFFFF"/>
                </a:solidFill>
              </a:rPr>
              <a:t>CTS Cohort 6 | RCS07 | Day 15 | July 29, 2026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98A14668-DE3F-44C2-93BB-ED4D0A7D1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768096"/>
            <a:ext cx="11018520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100" b="1">
                <a:solidFill>
                  <a:srgbClr val="1F2937"/>
                </a:solidFill>
              </a:rPr>
              <a:t>RCS Day 7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FC5FC1B3-EAE4-4BF0-90FC-929EE99A3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1298448"/>
            <a:ext cx="10789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50">
                <a:solidFill>
                  <a:srgbClr val="5B6776"/>
                </a:solidFill>
              </a:rPr>
              <a:t>Integrated wall QC, punch-list correction, retest, evidence, and handoff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99CF27AF-1BFF-4202-BD6E-3382D593D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011680"/>
            <a:ext cx="1078992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4200" b="1">
                <a:solidFill>
                  <a:srgbClr val="1F77B4"/>
                </a:solidFill>
              </a:rPr>
              <a:t>CORRECT. COMPLETE. PROVE.</a:t>
            </a:r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229A4032-519A-4FC3-94EA-6A202A6AF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3246120"/>
            <a:ext cx="10241280" cy="96012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DDEEFF"/>
          </a:solidFill>
          <a:ln xmlns:a="http://schemas.openxmlformats.org/drawingml/2006/main" w="13970">
            <a:solidFill>
              <a:srgbClr val="1F77B4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D3FCBB46-DE91-46AC-99C6-580A42E17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272" y="3319272"/>
            <a:ext cx="10094976" cy="8138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300" b="1">
                <a:solidFill>
                  <a:srgbClr val="1F2937"/>
                </a:solidFill>
              </a:rPr>
              <a:t>A complete wall is safe, accurate, inspectable, and explainable.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B6746C2F-56E1-4922-99FF-8FEDE02B5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92040"/>
            <a:ext cx="103327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82188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F2937"/>
                </a:solidFill>
              </a:rPr>
              <a:t>Today the goal is not to hide defects. The goal is an honest punch list and verified corrections.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8D4922EB-AEE5-4D84-B01A-56F444251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9728" y="6455664"/>
            <a:ext cx="256032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B6776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62245216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91A22B82-4507-425B-B1B4-DF0B96A79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12700">
            <a:solidFill>
              <a:srgbClr val="111827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096E2208-1C51-430D-B2A3-EA61543C7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18872"/>
            <a:ext cx="80467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FFFFFF"/>
                </a:solidFill>
              </a:rPr>
              <a:t>CTS Cohort 6 | RCS07 | Day 15 | July 29, 2026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8D6FEB07-D6E2-4811-B55E-F04AC6E67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768096"/>
            <a:ext cx="11018520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100" b="1">
                <a:solidFill>
                  <a:srgbClr val="1F2937"/>
                </a:solidFill>
              </a:rPr>
              <a:t>Today's flow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B7A9F913-5CD4-4396-8677-B908F70E4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1298448"/>
            <a:ext cx="10789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50">
                <a:solidFill>
                  <a:srgbClr val="5B6776"/>
                </a:solidFill>
              </a:rPr>
              <a:t>Quiz -&gt; model -&gt; guided practice -&gt; capstone lab -&gt; QC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3DE0E472-71D3-4B03-955F-93B3A56B5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4520" y="2578608"/>
            <a:ext cx="3200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5B6776"/>
            </a:solidFill>
            <a:prstDash val="solid"/>
            <a:headEnd type="none"/>
            <a:tailEnd type="triangle"/>
          </a:ln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3E66DA70-8F24-4DD2-A891-75CA1AF17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084832"/>
            <a:ext cx="1371600" cy="987552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DDEEFF"/>
          </a:solidFill>
          <a:ln xmlns:a="http://schemas.openxmlformats.org/drawingml/2006/main" w="13970">
            <a:solidFill>
              <a:srgbClr val="1F77B4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8A06A36F-C98F-4814-996F-246022D5D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" y="2157984"/>
            <a:ext cx="1225296" cy="8412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50" b="1">
                <a:solidFill>
                  <a:srgbClr val="1F2937"/>
                </a:solidFill>
              </a:rPr>
              <a:t>Quiz</a:t>
            </a:r>
          </a:p>
          <a:p xmlns:a="http://schemas.openxmlformats.org/drawingml/2006/main">
            <a:pPr marL="0" indent="0" algn="ctr">
              <a:buNone/>
            </a:pPr>
            <a:r>
              <a:rPr sz="1550" b="1">
                <a:solidFill>
                  <a:srgbClr val="1F2937"/>
                </a:solidFill>
              </a:rPr>
              <a:t>10:15</a:t>
            </a:r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D18EDD20-BB29-49DB-8089-D3C38148B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2578608"/>
            <a:ext cx="3200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5B6776"/>
            </a:solidFill>
            <a:prstDash val="solid"/>
            <a:headEnd type="none"/>
            <a:tailEnd type="triangle"/>
          </a:ln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6B2EE07E-882A-4DE8-B665-D8D7F3EE9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4560" y="2084832"/>
            <a:ext cx="1371600" cy="987552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DDEEFF"/>
          </a:solidFill>
          <a:ln xmlns:a="http://schemas.openxmlformats.org/drawingml/2006/main" w="13970">
            <a:solidFill>
              <a:srgbClr val="1F77B4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E2E1EB40-4D4D-42B9-BA0F-59EC1A6A4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7712" y="2157984"/>
            <a:ext cx="1225296" cy="8412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50" b="1">
                <a:solidFill>
                  <a:srgbClr val="1F2937"/>
                </a:solidFill>
              </a:rPr>
              <a:t>QC model</a:t>
            </a:r>
          </a:p>
          <a:p xmlns:a="http://schemas.openxmlformats.org/drawingml/2006/main">
            <a:pPr marL="0" indent="0" algn="ctr">
              <a:buNone/>
            </a:pPr>
            <a:r>
              <a:rPr sz="1550" b="1">
                <a:solidFill>
                  <a:srgbClr val="1F2937"/>
                </a:solidFill>
              </a:rPr>
              <a:t>10:50</a:t>
            </a: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58D73B09-3547-4AFE-99FD-DEE719872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578608"/>
            <a:ext cx="3200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5B6776"/>
            </a:solidFill>
            <a:prstDash val="solid"/>
            <a:headEnd type="none"/>
            <a:tailEnd type="triangle"/>
          </a:ln>
        </p:spPr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C8E22162-6289-4E9D-94F7-1A576B3FF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084832"/>
            <a:ext cx="1371600" cy="987552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DDEEFF"/>
          </a:solidFill>
          <a:ln xmlns:a="http://schemas.openxmlformats.org/drawingml/2006/main" w="13970">
            <a:solidFill>
              <a:srgbClr val="1F77B4"/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1F7F92FB-96A2-4EE0-9CB3-99A639733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9352" y="2157984"/>
            <a:ext cx="1225296" cy="8412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50" b="1">
                <a:solidFill>
                  <a:srgbClr val="1F2937"/>
                </a:solidFill>
              </a:rPr>
              <a:t>Punch list</a:t>
            </a:r>
          </a:p>
          <a:p xmlns:a="http://schemas.openxmlformats.org/drawingml/2006/main">
            <a:pPr marL="0" indent="0" algn="ctr">
              <a:buNone/>
            </a:pPr>
            <a:r>
              <a:rPr sz="1550" b="1">
                <a:solidFill>
                  <a:srgbClr val="1F2937"/>
                </a:solidFill>
              </a:rPr>
              <a:t>11:20</a:t>
            </a: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EB881503-55C8-4A94-87F1-928847B6B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2578608"/>
            <a:ext cx="3200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5B6776"/>
            </a:solidFill>
            <a:prstDash val="solid"/>
            <a:headEnd type="none"/>
            <a:tailEnd type="triangle"/>
          </a:ln>
        </p:spPr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4C21E774-1981-4848-BEFB-C6130872E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7840" y="2084832"/>
            <a:ext cx="1371600" cy="987552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2D8"/>
          </a:solidFill>
          <a:ln xmlns:a="http://schemas.openxmlformats.org/drawingml/2006/main" w="13970">
            <a:solidFill>
              <a:srgbClr val="E87500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7DB85F47-E87F-44DA-AA3E-8E1AA5DA5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0992" y="2157984"/>
            <a:ext cx="1225296" cy="8412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50" b="1">
                <a:solidFill>
                  <a:srgbClr val="1F2937"/>
                </a:solidFill>
              </a:rPr>
              <a:t>Handoff</a:t>
            </a:r>
          </a:p>
          <a:p xmlns:a="http://schemas.openxmlformats.org/drawingml/2006/main">
            <a:pPr marL="0" indent="0" algn="ctr">
              <a:buNone/>
            </a:pPr>
            <a:r>
              <a:rPr sz="1550" b="1">
                <a:solidFill>
                  <a:srgbClr val="1F2937"/>
                </a:solidFill>
              </a:rPr>
              <a:t>12:00</a:t>
            </a:r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C6808D4E-B662-49A4-A884-5FD2C5B22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1080" y="2578608"/>
            <a:ext cx="3200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5B6776"/>
            </a:solidFill>
            <a:prstDash val="solid"/>
            <a:headEnd type="none"/>
            <a:tailEnd type="triangle"/>
          </a:ln>
        </p:spPr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48E6F05D-EA75-4759-B5DD-7887656AE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2084832"/>
            <a:ext cx="1371600" cy="987552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2D8"/>
          </a:solidFill>
          <a:ln xmlns:a="http://schemas.openxmlformats.org/drawingml/2006/main" w="13970">
            <a:solidFill>
              <a:srgbClr val="E87500"/>
            </a:solidFill>
            <a:prstDash val="solid"/>
          </a:ln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8187D999-3835-4FB4-AEDE-02627E567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2632" y="2157984"/>
            <a:ext cx="1225296" cy="8412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50" b="1">
                <a:solidFill>
                  <a:srgbClr val="1F2937"/>
                </a:solidFill>
              </a:rPr>
              <a:t>Rework</a:t>
            </a:r>
          </a:p>
          <a:p xmlns:a="http://schemas.openxmlformats.org/drawingml/2006/main">
            <a:pPr marL="0" indent="0" algn="ctr">
              <a:buNone/>
            </a:pPr>
            <a:r>
              <a:rPr sz="1550" b="1">
                <a:solidFill>
                  <a:srgbClr val="1F2937"/>
                </a:solidFill>
              </a:rPr>
              <a:t>1:00</a:t>
            </a:r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0F6A1FB8-6C3B-4D84-AD6B-D3D3D055E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2720" y="2578608"/>
            <a:ext cx="3200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5B6776"/>
            </a:solidFill>
            <a:prstDash val="solid"/>
            <a:headEnd type="none"/>
            <a:tailEnd type="triangle"/>
          </a:ln>
        </p:spPr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D8440EA1-F28E-4D79-8651-7BEDB6E16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0" y="2084832"/>
            <a:ext cx="1371600" cy="987552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E6F4EA"/>
          </a:solidFill>
          <a:ln xmlns:a="http://schemas.openxmlformats.org/drawingml/2006/main" w="13970">
            <a:solidFill>
              <a:srgbClr val="2E7D32"/>
            </a:solidFill>
            <a:prstDash val="solid"/>
          </a:ln>
        </p:spPr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A790AF42-50BF-47EE-AFE2-946A57CD2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4272" y="2157984"/>
            <a:ext cx="1225296" cy="8412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50" b="1">
                <a:solidFill>
                  <a:srgbClr val="1F2937"/>
                </a:solidFill>
              </a:rPr>
              <a:t>Retest</a:t>
            </a:r>
          </a:p>
          <a:p xmlns:a="http://schemas.openxmlformats.org/drawingml/2006/main">
            <a:pPr marL="0" indent="0" algn="ctr">
              <a:buNone/>
            </a:pPr>
            <a:r>
              <a:rPr sz="1550" b="1">
                <a:solidFill>
                  <a:srgbClr val="1F2937"/>
                </a:solidFill>
              </a:rPr>
              <a:t>2:25</a:t>
            </a:r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86230706-D3B4-4EC5-A89D-9F7BFE27B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2760" y="2084832"/>
            <a:ext cx="1371600" cy="987552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E6F4EA"/>
          </a:solidFill>
          <a:ln xmlns:a="http://schemas.openxmlformats.org/drawingml/2006/main" w="13970">
            <a:solidFill>
              <a:srgbClr val="2E7D32"/>
            </a:solidFill>
            <a:prstDash val="solid"/>
          </a:ln>
        </p:spPr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D5A6EA47-CF17-49D3-A7EB-80AE25307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912" y="2157984"/>
            <a:ext cx="1225296" cy="8412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50" b="1">
                <a:solidFill>
                  <a:srgbClr val="1F2937"/>
                </a:solidFill>
              </a:rPr>
              <a:t>Exit</a:t>
            </a:r>
          </a:p>
          <a:p xmlns:a="http://schemas.openxmlformats.org/drawingml/2006/main">
            <a:pPr marL="0" indent="0" algn="ctr">
              <a:buNone/>
            </a:pPr>
            <a:r>
              <a:rPr sz="1550" b="1">
                <a:solidFill>
                  <a:srgbClr val="1F2937"/>
                </a:solidFill>
              </a:rPr>
              <a:t>2:45</a:t>
            </a:r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D71F06DA-0344-4120-8596-E41525F01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94760"/>
            <a:ext cx="10241280" cy="1554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" tIns="1016" rIns="1016" bIns="1016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rgbClr val="1F2937"/>
                </a:solidFill>
              </a:rPr>
              <a:t>Morning: inspect subsystems, write punch items, and plan evidence.</a:t>
            </a:r>
          </a:p>
          <a:p xmlns:a="http://schemas.openxmlformats.org/drawingml/2006/main">
            <a:r>
              <a:rPr sz="2200">
                <a:solidFill>
                  <a:srgbClr val="1F2937"/>
                </a:solidFill>
              </a:rPr>
              <a:t>Afternoon: complete approved rework and close one documented defect.</a:t>
            </a:r>
          </a:p>
          <a:p xmlns:a="http://schemas.openxmlformats.org/drawingml/2006/main">
            <a:r>
              <a:rPr sz="2200">
                <a:solidFill>
                  <a:srgbClr val="1F2937"/>
                </a:solidFill>
              </a:rPr>
              <a:t>End: whole-wall QC, handoff practice, evidence, reset.</a:t>
            </a:r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032BD675-34C1-4C74-B936-3B2380A58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9728" y="6455664"/>
            <a:ext cx="256032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B6776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71445997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19B87DBA-DCCF-4173-80C3-765335762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12700">
            <a:solidFill>
              <a:srgbClr val="111827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CEAF00AB-872B-4F42-BFA2-41B4431D0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18872"/>
            <a:ext cx="80467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FFFFFF"/>
                </a:solidFill>
              </a:rPr>
              <a:t>CTS Cohort 6 | RCS07 | Day 15 | July 29, 2026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289BED8F-B164-4B7E-B059-12F5CA230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768096"/>
            <a:ext cx="11018520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100" b="1">
                <a:solidFill>
                  <a:srgbClr val="1F2937"/>
                </a:solidFill>
              </a:rPr>
              <a:t>Today's targets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C23AD781-89AB-4B20-80BD-BC663EED2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1298448"/>
            <a:ext cx="10789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50">
                <a:solidFill>
                  <a:srgbClr val="5B6776"/>
                </a:solidFill>
              </a:rPr>
              <a:t>What successful work must demonstrate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DEB26E99-7E75-4A62-81ED-40B66AE09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74520"/>
            <a:ext cx="1737360" cy="86868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DDEEFF"/>
          </a:solidFill>
          <a:ln xmlns:a="http://schemas.openxmlformats.org/drawingml/2006/main" w="13970">
            <a:solidFill>
              <a:srgbClr val="1F77B4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97B9852E-E785-46DE-8C78-690F1B20A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1947672"/>
            <a:ext cx="1591056" cy="7223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1F2937"/>
                </a:solidFill>
              </a:rPr>
              <a:t>Framing</a:t>
            </a:r>
          </a:p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1F2937"/>
                </a:solidFill>
              </a:rPr>
              <a:t>geometry</a:t>
            </a: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DE3CD08B-4BC5-4543-A556-B73818D19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1874520"/>
            <a:ext cx="1828800" cy="86868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2D8"/>
          </a:solidFill>
          <a:ln xmlns:a="http://schemas.openxmlformats.org/drawingml/2006/main" w="13970">
            <a:solidFill>
              <a:srgbClr val="E87500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96650543-6E3D-4C88-B54F-8E35A8831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2072" y="1947672"/>
            <a:ext cx="1682496" cy="7223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1F2937"/>
                </a:solidFill>
              </a:rPr>
              <a:t>Window</a:t>
            </a:r>
          </a:p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1F2937"/>
                </a:solidFill>
              </a:rPr>
              <a:t>opening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60DC0979-C025-4C7E-8078-08F9A7129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0" y="1874520"/>
            <a:ext cx="2057400" cy="86868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E6F4EA"/>
          </a:solidFill>
          <a:ln xmlns:a="http://schemas.openxmlformats.org/drawingml/2006/main" w="13970">
            <a:solidFill>
              <a:srgbClr val="2E7D32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AE77F068-CE60-4818-AEDA-F40C07DC6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6632" y="1947672"/>
            <a:ext cx="1911096" cy="7223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1F2937"/>
                </a:solidFill>
              </a:rPr>
              <a:t>Two outlets +</a:t>
            </a:r>
          </a:p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1F2937"/>
                </a:solidFill>
              </a:rPr>
              <a:t>switch/light</a:t>
            </a: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1A9BF2FA-3B42-4251-8E4F-7E8D397A3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0" y="1874520"/>
            <a:ext cx="1783080" cy="86868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CE8E6"/>
          </a:solidFill>
          <a:ln xmlns:a="http://schemas.openxmlformats.org/drawingml/2006/main" w="13970">
            <a:solidFill>
              <a:srgbClr val="B3261E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92BD6360-62B8-4B31-8966-9F94AC75A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9792" y="1947672"/>
            <a:ext cx="1636776" cy="7223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1F2937"/>
                </a:solidFill>
              </a:rPr>
              <a:t>Drywall</a:t>
            </a:r>
          </a:p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1F2937"/>
                </a:solidFill>
              </a:rPr>
              <a:t>fit + fasteners</a:t>
            </a:r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557A7B66-7812-4537-B156-579A3BBB2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5480" y="1874520"/>
            <a:ext cx="1874520" cy="86868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3E8FF"/>
          </a:solidFill>
          <a:ln xmlns:a="http://schemas.openxmlformats.org/drawingml/2006/main" w="13970">
            <a:solidFill>
              <a:srgbClr val="7E22CE"/>
            </a:solidFill>
            <a:prstDash val="solid"/>
          </a:ln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F3CEB6A7-627E-438D-9A66-A5E28FE16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8632" y="1947672"/>
            <a:ext cx="1728216" cy="7223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1F2937"/>
                </a:solidFill>
              </a:rPr>
              <a:t>Labels +</a:t>
            </a:r>
          </a:p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1F2937"/>
                </a:solidFill>
              </a:rPr>
              <a:t>evidence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C903FBDE-85E9-429B-A7AC-DA58D63C5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57600"/>
            <a:ext cx="10241280" cy="182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" tIns="1016" rIns="1016" bIns="1016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2300">
                <a:solidFill>
                  <a:srgbClr val="1F2937"/>
                </a:solidFill>
              </a:rPr>
              <a:t>Complete remaining capstone framing, electrical, and drywall work</a:t>
            </a:r>
          </a:p>
          <a:p xmlns:a="http://schemas.openxmlformats.org/drawingml/2006/main">
            <a:r>
              <a:rPr sz="2300">
                <a:solidFill>
                  <a:srgbClr val="1F2937"/>
                </a:solidFill>
              </a:rPr>
              <a:t>Run a subsystem and whole-wall QC inspection</a:t>
            </a:r>
          </a:p>
          <a:p xmlns:a="http://schemas.openxmlformats.org/drawingml/2006/main">
            <a:r>
              <a:rPr sz="2300">
                <a:solidFill>
                  <a:srgbClr val="1F2937"/>
                </a:solidFill>
              </a:rPr>
              <a:t>Diagnose and correct one documented defect</a:t>
            </a:r>
          </a:p>
          <a:p xmlns:a="http://schemas.openxmlformats.org/drawingml/2006/main">
            <a:r>
              <a:rPr sz="2300">
                <a:solidFill>
                  <a:srgbClr val="1F2937"/>
                </a:solidFill>
              </a:rPr>
              <a:t>Prepare a professional handoff package</a:t>
            </a: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A14CAA9B-DF47-4589-BE59-846BF17F9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9728" y="6455664"/>
            <a:ext cx="256032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B6776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96620375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13D5DA4E-A1EC-4AF0-89F9-DD8133A77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12700">
            <a:solidFill>
              <a:srgbClr val="111827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BCE0B25-3748-4A2C-8CFF-7366769FD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18872"/>
            <a:ext cx="80467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FFFFFF"/>
                </a:solidFill>
              </a:rPr>
              <a:t>CTS Cohort 6 | RCS07 | Day 15 | July 29, 2026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3995946E-F18E-4FE7-8327-0EF597633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768096"/>
            <a:ext cx="11018520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100" b="1">
                <a:solidFill>
                  <a:srgbClr val="1F2937"/>
                </a:solidFill>
              </a:rPr>
              <a:t>The day's path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F550E325-ADF1-4847-B4EE-D43DED63C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1298448"/>
            <a:ext cx="10789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50">
                <a:solidFill>
                  <a:srgbClr val="5B6776"/>
                </a:solidFill>
              </a:rPr>
              <a:t>Trace the work before building it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32D90FBA-4DB4-4730-B12D-776F546C9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743200"/>
            <a:ext cx="5943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1F77B4"/>
            </a:solidFill>
            <a:prstDash val="solid"/>
            <a:headEnd type="none"/>
            <a:tailEnd type="triangle"/>
          </a:ln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88E9D207-235A-4217-9401-369708C74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2743200"/>
            <a:ext cx="5486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E87500"/>
            </a:solidFill>
            <a:prstDash val="solid"/>
            <a:headEnd type="none"/>
            <a:tailEnd type="triangle"/>
          </a:ln>
        </p:spPr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B8AE47AD-9651-4471-ADC7-CF32CDE59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0" y="2743200"/>
            <a:ext cx="5943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2E7D32"/>
            </a:solidFill>
            <a:prstDash val="solid"/>
            <a:headEnd type="none"/>
            <a:tailEnd type="triangle"/>
          </a:ln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F385F165-ED82-4E7D-A747-8B2E77DF5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2743200"/>
            <a:ext cx="5486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7E22CE"/>
            </a:solidFill>
            <a:prstDash val="solid"/>
            <a:headEnd type="none"/>
            <a:tailEnd type="triangle"/>
          </a:ln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5C86A6C7-4632-447F-88BE-1692DBA78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240280"/>
            <a:ext cx="1554480" cy="100584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DDEEFF"/>
          </a:solidFill>
          <a:ln xmlns:a="http://schemas.openxmlformats.org/drawingml/2006/main" w="13970">
            <a:solidFill>
              <a:srgbClr val="1F77B4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EE4EAC2F-93C5-4DA7-AC0B-BB0661B82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2313432"/>
            <a:ext cx="1408176" cy="8595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1F2937"/>
                </a:solidFill>
              </a:rPr>
              <a:t>Baseline</a:t>
            </a:r>
          </a:p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1F2937"/>
                </a:solidFill>
              </a:rPr>
              <a:t>inspection</a:t>
            </a: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AACE9C82-D81A-4DC9-B0A1-C7AD27AF1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360" y="2240280"/>
            <a:ext cx="1828800" cy="100584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2D8"/>
          </a:solidFill>
          <a:ln xmlns:a="http://schemas.openxmlformats.org/drawingml/2006/main" w="13970">
            <a:solidFill>
              <a:srgbClr val="E87500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F6C1C034-442A-4B37-830D-468DB1D54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3512" y="2313432"/>
            <a:ext cx="1682496" cy="8595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1F2937"/>
                </a:solidFill>
              </a:rPr>
              <a:t>Punch list</a:t>
            </a:r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90A41670-1A7F-4079-9B34-CB025A16D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240280"/>
            <a:ext cx="1965960" cy="100584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E6F4EA"/>
          </a:solidFill>
          <a:ln xmlns:a="http://schemas.openxmlformats.org/drawingml/2006/main" w="13970">
            <a:solidFill>
              <a:srgbClr val="2E7D32"/>
            </a:solidFill>
            <a:prstDash val="solid"/>
          </a:ln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C79726C6-C17E-47D1-B496-0D5D44978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0952" y="2313432"/>
            <a:ext cx="1819656" cy="8595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1F2937"/>
                </a:solidFill>
              </a:rPr>
              <a:t>Approved</a:t>
            </a:r>
          </a:p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1F2937"/>
                </a:solidFill>
              </a:rPr>
              <a:t>rework</a:t>
            </a:r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02298B46-451D-46FC-A7E9-E9F06308B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8120" y="2240280"/>
            <a:ext cx="1645920" cy="100584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CE8E6"/>
          </a:solidFill>
          <a:ln xmlns:a="http://schemas.openxmlformats.org/drawingml/2006/main" w="13970">
            <a:solidFill>
              <a:srgbClr val="B3261E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EE5AC3F9-1B64-45A5-9C28-4D9331C6C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1272" y="2313432"/>
            <a:ext cx="1499616" cy="8595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1F2937"/>
                </a:solidFill>
              </a:rPr>
              <a:t>Retest +</a:t>
            </a:r>
          </a:p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1F2937"/>
                </a:solidFill>
              </a:rPr>
              <a:t>evidence</a:t>
            </a:r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01B21B32-0EBA-4FEE-9A88-36FBC8C55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2680" y="2240280"/>
            <a:ext cx="1508760" cy="100584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3E8FF"/>
          </a:solidFill>
          <a:ln xmlns:a="http://schemas.openxmlformats.org/drawingml/2006/main" w="13970">
            <a:solidFill>
              <a:srgbClr val="7E22CE"/>
            </a:solidFill>
            <a:prstDash val="solid"/>
          </a:ln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9BC8D2AC-A867-4E0D-A76D-FAC0D3485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5832" y="2313432"/>
            <a:ext cx="1362456" cy="8595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1F2937"/>
                </a:solidFill>
              </a:rPr>
              <a:t>Handoff</a:t>
            </a:r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317A5940-CB13-462A-9BC5-02941ACEE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343400"/>
            <a:ext cx="1005840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77933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500" b="1">
                <a:solidFill>
                  <a:srgbClr val="1F2937"/>
                </a:solidFill>
              </a:rPr>
              <a:t>Prioritize safety and functional defects first. Unresolved items remain visible in the handoff.</a:t>
            </a:r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46909C79-6A1F-4B15-84E7-7A8ED8A76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9728" y="6455664"/>
            <a:ext cx="256032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B6776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18846429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7DD91085-2D72-4B41-8BC4-F75661F94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12700">
            <a:solidFill>
              <a:srgbClr val="111827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40634D6-6DF7-4C2A-987D-441B9D875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18872"/>
            <a:ext cx="80467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FFFFFF"/>
                </a:solidFill>
              </a:rPr>
              <a:t>CTS Cohort 6 | RCS07 | Day 15 | July 29, 2026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2A4F2598-4AEC-4D98-A2F3-29CB3A111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768096"/>
            <a:ext cx="11018520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100" b="1">
                <a:solidFill>
                  <a:srgbClr val="1F2937"/>
                </a:solidFill>
              </a:rPr>
              <a:t>Controlled sequence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8794923E-2ED2-4FC2-8D55-F87FEAC44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1298448"/>
            <a:ext cx="10789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50">
                <a:solidFill>
                  <a:srgbClr val="5B6776"/>
                </a:solidFill>
              </a:rPr>
              <a:t>Release each stage only after its check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4C51CFAF-68FB-40D5-BED2-186C2236B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874520"/>
            <a:ext cx="2331720" cy="123444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E6F4EA"/>
          </a:solidFill>
          <a:ln xmlns:a="http://schemas.openxmlformats.org/drawingml/2006/main" w="13970">
            <a:solidFill>
              <a:srgbClr val="2E7D32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6F096B7C-D142-437B-A69D-4FD22D699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1947672"/>
            <a:ext cx="2185416" cy="10881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1F2937"/>
                </a:solidFill>
              </a:rPr>
              <a:t>1</a:t>
            </a:r>
          </a:p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1F2937"/>
                </a:solidFill>
              </a:rPr>
              <a:t>Inspect subsystems</a:t>
            </a: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650B0C53-7CA1-4143-9D75-2D85C5C09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487168"/>
            <a:ext cx="5486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5B6776"/>
            </a:solidFill>
            <a:prstDash val="solid"/>
            <a:headEnd type="none"/>
            <a:tailEnd type="triangle"/>
          </a:ln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8D94B5D2-0206-4D3B-9176-7DCA693A8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9040" y="1874520"/>
            <a:ext cx="2377440" cy="123444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DDEEFF"/>
          </a:solidFill>
          <a:ln xmlns:a="http://schemas.openxmlformats.org/drawingml/2006/main" w="13970">
            <a:solidFill>
              <a:srgbClr val="1F77B4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FE86F07E-76F2-48A5-BF96-1C304F282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2192" y="1947672"/>
            <a:ext cx="2231136" cy="10881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1F2937"/>
                </a:solidFill>
              </a:rPr>
              <a:t>2</a:t>
            </a:r>
          </a:p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1F2937"/>
                </a:solidFill>
              </a:rPr>
              <a:t>Prioritize punch list</a:t>
            </a:r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EEB438E8-3A63-4EAE-82F4-97B49434F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2487168"/>
            <a:ext cx="5486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5B6776"/>
            </a:solidFill>
            <a:prstDash val="solid"/>
            <a:headEnd type="none"/>
            <a:tailEnd type="triangle"/>
          </a:ln>
        </p:spPr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9878C8F6-163A-498D-87C8-4FBB2F5C0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1874520"/>
            <a:ext cx="2148840" cy="123444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2D8"/>
          </a:solidFill>
          <a:ln xmlns:a="http://schemas.openxmlformats.org/drawingml/2006/main" w="13970">
            <a:solidFill>
              <a:srgbClr val="E87500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5B7B62C1-647B-421A-A4D8-23AC3A944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8272" y="1947672"/>
            <a:ext cx="2002536" cy="10881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1F2937"/>
                </a:solidFill>
              </a:rPr>
              <a:t>3</a:t>
            </a:r>
          </a:p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1F2937"/>
                </a:solidFill>
              </a:rPr>
              <a:t>Correct one defect</a:t>
            </a:r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27AE1A1A-4A75-4B8D-84EA-EB46664D5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3960" y="2487168"/>
            <a:ext cx="5486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5B6776"/>
            </a:solidFill>
            <a:prstDash val="solid"/>
            <a:headEnd type="none"/>
            <a:tailEnd type="triangle"/>
          </a:ln>
        </p:spPr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A1B01038-DCBE-488C-80BE-5C36AF9CC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1874520"/>
            <a:ext cx="2057400" cy="123444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3E8FF"/>
          </a:solidFill>
          <a:ln xmlns:a="http://schemas.openxmlformats.org/drawingml/2006/main" w="13970">
            <a:solidFill>
              <a:srgbClr val="7E22CE"/>
            </a:solidFill>
            <a:prstDash val="solid"/>
          </a:ln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4D4FF253-4BE4-4BD0-AA53-11BE5FB40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5752" y="1947672"/>
            <a:ext cx="1911096" cy="10881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1F2937"/>
                </a:solidFill>
              </a:rPr>
              <a:t>4</a:t>
            </a:r>
          </a:p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1F2937"/>
                </a:solidFill>
              </a:rPr>
              <a:t>Retest + handoff</a:t>
            </a: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7E2A9ACE-01C5-4DD3-9F79-DC1C6B55E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3977640"/>
            <a:ext cx="10241280" cy="1417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" tIns="1016" rIns="1016" bIns="1016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rgbClr val="1F2937"/>
                </a:solidFill>
              </a:rPr>
              <a:t>Reapply the right tool and energy controls before every correction. Rework does not suspend safety boundaries.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200427AC-F4B7-4584-90B9-ECCDCB069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9728" y="6455664"/>
            <a:ext cx="256032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B6776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70334418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B40F37A4-5648-4E98-99A1-C027FFB31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12700">
            <a:solidFill>
              <a:srgbClr val="111827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5E1AD75F-610F-42DA-8CBA-CF7008B3A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18872"/>
            <a:ext cx="80467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FFFFFF"/>
                </a:solidFill>
              </a:rPr>
              <a:t>CTS Cohort 6 | RCS07 | Day 15 | July 29, 2026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86FA8AA4-50E8-4204-A25F-CF367CEEB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768096"/>
            <a:ext cx="11018520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100" b="1">
                <a:solidFill>
                  <a:srgbClr val="1F2937"/>
                </a:solidFill>
              </a:rPr>
              <a:t>Working roles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4BA5FB39-F043-4057-AC6B-84915946E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1298448"/>
            <a:ext cx="10789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50">
                <a:solidFill>
                  <a:srgbClr val="5B6776"/>
                </a:solidFill>
              </a:rPr>
              <a:t>6 students; every result receives another set of eyes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66C5FA03-1A27-40A8-9C95-5CD24030D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965960"/>
            <a:ext cx="2834640" cy="100584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DDEEFF"/>
          </a:solidFill>
          <a:ln xmlns:a="http://schemas.openxmlformats.org/drawingml/2006/main" w="13970">
            <a:solidFill>
              <a:srgbClr val="1F77B4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080FE5A7-5A3D-437B-9986-4BFFC73D0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2039112"/>
            <a:ext cx="2688336" cy="8595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85404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F2937"/>
                </a:solidFill>
              </a:rPr>
              <a:t>Owner</a:t>
            </a:r>
          </a:p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F2937"/>
                </a:solidFill>
              </a:rPr>
              <a:t>performs approved rework</a:t>
            </a: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7B404C3E-375D-4C4F-B880-F4663D1BA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1965960"/>
            <a:ext cx="2926080" cy="100584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2D8"/>
          </a:solidFill>
          <a:ln xmlns:a="http://schemas.openxmlformats.org/drawingml/2006/main" w="13970">
            <a:solidFill>
              <a:srgbClr val="E87500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045DEF13-F504-4A1C-98E4-573358973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0872" y="2039112"/>
            <a:ext cx="2779776" cy="8595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85404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F2937"/>
                </a:solidFill>
              </a:rPr>
              <a:t>Inspector</a:t>
            </a:r>
          </a:p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F2937"/>
                </a:solidFill>
              </a:rPr>
              <a:t>checks acceptance criteria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6A496A04-2F74-4721-BFE7-F1491D11F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965960"/>
            <a:ext cx="2880360" cy="100584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E6F4EA"/>
          </a:solidFill>
          <a:ln xmlns:a="http://schemas.openxmlformats.org/drawingml/2006/main" w="13970">
            <a:solidFill>
              <a:srgbClr val="2E7D32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584E9F9E-C735-4CB0-A36C-B5456C128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1352" y="2039112"/>
            <a:ext cx="2734056" cy="8595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89471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100" b="1">
                <a:solidFill>
                  <a:srgbClr val="1F2937"/>
                </a:solidFill>
              </a:rPr>
              <a:t>Documenter</a:t>
            </a:r>
          </a:p>
          <a:p xmlns:a="http://schemas.openxmlformats.org/drawingml/2006/main">
            <a:pPr marL="0" indent="0" algn="ctr">
              <a:buNone/>
            </a:pPr>
            <a:r>
              <a:rPr sz="2100" b="1">
                <a:solidFill>
                  <a:srgbClr val="1F2937"/>
                </a:solidFill>
              </a:rPr>
              <a:t>captures before/after proof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9DCDB06E-0DD8-4C84-93CA-2C2BF89B2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3703320"/>
            <a:ext cx="10241280" cy="1645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" tIns="1016" rIns="1016" bIns="1016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2300">
                <a:solidFill>
                  <a:srgbClr val="1F2937"/>
                </a:solidFill>
              </a:rPr>
              <a:t>Each student owns their capstone result.</a:t>
            </a:r>
          </a:p>
          <a:p xmlns:a="http://schemas.openxmlformats.org/drawingml/2006/main">
            <a:r>
              <a:rPr sz="2300">
                <a:solidFill>
                  <a:srgbClr val="1F2937"/>
                </a:solidFill>
              </a:rPr>
              <a:t>Peer inspection adds another set of eyes; instructor approval closes the item.</a:t>
            </a:r>
          </a:p>
          <a:p xmlns:a="http://schemas.openxmlformats.org/drawingml/2006/main">
            <a:r>
              <a:rPr sz="2300">
                <a:solidFill>
                  <a:srgbClr val="1F2937"/>
                </a:solidFill>
              </a:rPr>
              <a:t>State unresolved work honestly.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CCB1AEEE-37F0-4492-AA5B-DC1E9C23E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9728" y="6455664"/>
            <a:ext cx="256032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B6776"/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05333265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97C9BBFB-D18B-48C2-9AAD-34FE2D9CA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12700">
            <a:solidFill>
              <a:srgbClr val="111827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D6F37A19-5E70-4DD5-90E2-D738445E7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18872"/>
            <a:ext cx="80467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FFFFFF"/>
                </a:solidFill>
              </a:rPr>
              <a:t>CTS Cohort 6 | RCS07 | Day 15 | July 29, 2026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6167AFAD-D157-4075-A32A-95680739E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768096"/>
            <a:ext cx="11018520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100" b="1">
                <a:solidFill>
                  <a:srgbClr val="1F2937"/>
                </a:solidFill>
              </a:rPr>
              <a:t>Verification checkpoints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8A83A7E8-7704-498D-9593-38F227C8E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1298448"/>
            <a:ext cx="10789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50">
                <a:solidFill>
                  <a:srgbClr val="5B6776"/>
                </a:solidFill>
              </a:rPr>
              <a:t>Do not trust appearance alone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59DF98CD-9C0C-4F5C-AA29-25A9FFD44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74520"/>
            <a:ext cx="2057400" cy="82296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6F4EA"/>
          </a:solidFill>
          <a:ln xmlns:a="http://schemas.openxmlformats.org/drawingml/2006/main" w="13970">
            <a:solidFill>
              <a:srgbClr val="2E7D32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6AE7D333-EFD1-4E8A-A281-9AF95F904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" y="1947672"/>
            <a:ext cx="1911096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F2937"/>
                </a:solidFill>
              </a:rPr>
              <a:t>Framing + window</a:t>
            </a: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57584D0D-35A9-485C-82A3-BAB1D4B92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1874520"/>
            <a:ext cx="2377440" cy="82296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6F4EA"/>
          </a:solidFill>
          <a:ln xmlns:a="http://schemas.openxmlformats.org/drawingml/2006/main" w="13970">
            <a:solidFill>
              <a:srgbClr val="2E7D32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8977C3B4-1CE1-4DFA-8473-8FEAF2027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0752" y="1947672"/>
            <a:ext cx="2231136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100" b="1">
                <a:solidFill>
                  <a:srgbClr val="1F2937"/>
                </a:solidFill>
              </a:rPr>
              <a:t>Electrical mock-up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FB062DFC-AAF7-4A3F-90B5-05DAA8C65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874520"/>
            <a:ext cx="2331720" cy="82296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2D8"/>
          </a:solidFill>
          <a:ln xmlns:a="http://schemas.openxmlformats.org/drawingml/2006/main" w="13970">
            <a:solidFill>
              <a:srgbClr val="E87500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0E0ACC3F-30C6-4035-8DAD-881E3D3ED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2552" y="1947672"/>
            <a:ext cx="2185416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100" b="1">
                <a:solidFill>
                  <a:srgbClr val="1F2937"/>
                </a:solidFill>
              </a:rPr>
              <a:t>Drywall + fasteners</a:t>
            </a: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B7C4569C-FF26-470B-ADED-4998D0038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1874520"/>
            <a:ext cx="1920240" cy="82296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3E8FF"/>
          </a:solidFill>
          <a:ln xmlns:a="http://schemas.openxmlformats.org/drawingml/2006/main" w="13970">
            <a:solidFill>
              <a:srgbClr val="7E22CE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E2B22E2D-CE2B-4665-A245-9685A8F59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7192" y="1947672"/>
            <a:ext cx="1773936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100" b="1">
                <a:solidFill>
                  <a:srgbClr val="1F2937"/>
                </a:solidFill>
              </a:rPr>
              <a:t>Labels + evidence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2422518D-00CA-48A6-9C25-DE1CF7796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3657600"/>
            <a:ext cx="10241280" cy="1645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" tIns="1016" rIns="1016" bIns="1016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rgbClr val="1F2937"/>
                </a:solidFill>
              </a:rPr>
              <a:t>Inspect each subsystem, then the integrated wall.</a:t>
            </a:r>
          </a:p>
          <a:p xmlns:a="http://schemas.openxmlformats.org/drawingml/2006/main">
            <a:r>
              <a:rPr sz="2400">
                <a:solidFill>
                  <a:srgbClr val="1F2937"/>
                </a:solidFill>
              </a:rPr>
              <a:t>A punch item closes only after correction and a defined reinspection or retest.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0D1CA0B2-C2CB-4CC2-B415-AD849BC67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9728" y="6455664"/>
            <a:ext cx="256032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B6776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52189786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04F2B341-55BE-4B1E-99D7-D23EE2369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12700">
            <a:solidFill>
              <a:srgbClr val="111827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539DFE3-6D3D-4F0B-A167-17B9D34A2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18872"/>
            <a:ext cx="80467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FFFFFF"/>
                </a:solidFill>
              </a:rPr>
              <a:t>CTS Cohort 6 | RCS07 | Day 15 | July 29, 2026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0F22843E-D4BE-4789-836D-EF065CDF8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768096"/>
            <a:ext cx="11018520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100" b="1">
                <a:solidFill>
                  <a:srgbClr val="1F2937"/>
                </a:solidFill>
              </a:rPr>
              <a:t>Safety boundaries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28B29FEF-0885-474B-8CB9-F9F27C631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1298448"/>
            <a:ext cx="10789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50">
                <a:solidFill>
                  <a:srgbClr val="5B6776"/>
                </a:solidFill>
              </a:rPr>
              <a:t>The lab begins only inside these controls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1DEC567A-C26D-47CF-A953-C63217FE0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828800"/>
            <a:ext cx="2560320" cy="9144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CE8E6"/>
          </a:solidFill>
          <a:ln xmlns:a="http://schemas.openxmlformats.org/drawingml/2006/main" w="13970">
            <a:solidFill>
              <a:srgbClr val="B3261E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F776DFC8-DDE3-45F1-8522-9365622E5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1901952"/>
            <a:ext cx="2414016" cy="7680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F2937"/>
                </a:solidFill>
              </a:rPr>
              <a:t>Task controls reset</a:t>
            </a: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586C5A55-A6E9-493F-B67D-C654B105E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1828800"/>
            <a:ext cx="2560320" cy="9144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DDEEFF"/>
          </a:solidFill>
          <a:ln xmlns:a="http://schemas.openxmlformats.org/drawingml/2006/main" w="13970">
            <a:solidFill>
              <a:srgbClr val="1F77B4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2C1D5AB6-C976-423C-A72F-BFD389BC9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9352" y="1901952"/>
            <a:ext cx="2414016" cy="7680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F2937"/>
                </a:solidFill>
              </a:rPr>
              <a:t>No energized work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D7FF82D0-A558-45C5-AC20-E6B8C8C23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1828800"/>
            <a:ext cx="2331720" cy="9144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2D8"/>
          </a:solidFill>
          <a:ln xmlns:a="http://schemas.openxmlformats.org/drawingml/2006/main" w="13970">
            <a:solidFill>
              <a:srgbClr val="E87500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B7F727A7-8650-4580-A8C3-EFD1F8E52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6872" y="1901952"/>
            <a:ext cx="2185416" cy="7680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F2937"/>
                </a:solidFill>
              </a:rPr>
              <a:t>Rework zone isolated</a:t>
            </a: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692D94F8-E88E-4B11-B271-8F71A2FE7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2640" y="1828800"/>
            <a:ext cx="1691640" cy="9144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6F4EA"/>
          </a:solidFill>
          <a:ln xmlns:a="http://schemas.openxmlformats.org/drawingml/2006/main" w="13970">
            <a:solidFill>
              <a:srgbClr val="2E7D32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AC053C01-427B-490E-962C-911FC9FC2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5792" y="1901952"/>
            <a:ext cx="1545336" cy="7680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95702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100" b="1">
                <a:solidFill>
                  <a:srgbClr val="1F2937"/>
                </a:solidFill>
              </a:rPr>
              <a:t>Stop outside scope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FD1B9912-FBFF-4B88-8AEB-E914B23D3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3657600"/>
            <a:ext cx="10149840" cy="1463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" tIns="1016" rIns="1016" bIns="1016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rgbClr val="1F2937"/>
                </a:solidFill>
              </a:rPr>
              <a:t>Instructor approval is required before reopening covered or terminated systems. Stop if a correction creates a new hazard or exceeds training scope.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FD206C48-6A38-498A-94A5-740903BB3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9728" y="6455664"/>
            <a:ext cx="256032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B6776"/>
                </a:solidFill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94690846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25C35AB6-FA8D-4791-A4E5-4BB371419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12700">
            <a:solidFill>
              <a:srgbClr val="111827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036822A-6310-43E6-8D29-7859FE48B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18872"/>
            <a:ext cx="80467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FFFFFF"/>
                </a:solidFill>
              </a:rPr>
              <a:t>CTS Cohort 6 | RCS07 | Day 15 | July 29, 2026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014B4A3E-4081-4BFC-AA03-76906DF7F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768096"/>
            <a:ext cx="11018520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100" b="1">
                <a:solidFill>
                  <a:srgbClr val="1F2937"/>
                </a:solidFill>
              </a:rPr>
              <a:t>Professional judgment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5F05121E-18D6-446D-BD44-981F80258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1298448"/>
            <a:ext cx="10789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50">
                <a:solidFill>
                  <a:srgbClr val="5B6776"/>
                </a:solidFill>
              </a:rPr>
              <a:t>Safe work pauses when the evidence conflicts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D2A193DE-1C5E-4065-A8C7-DDD28D391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57400"/>
            <a:ext cx="4206240" cy="109728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6F4EA"/>
          </a:solidFill>
          <a:ln xmlns:a="http://schemas.openxmlformats.org/drawingml/2006/main" w="13970">
            <a:solidFill>
              <a:srgbClr val="2E7D32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83F5DEC1-26E0-42A2-8E41-9A848CB24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" y="2130552"/>
            <a:ext cx="4059936" cy="9509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83155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500" b="1">
                <a:solidFill>
                  <a:srgbClr val="1F2937"/>
                </a:solidFill>
              </a:rPr>
              <a:t>Good handoff</a:t>
            </a:r>
          </a:p>
          <a:p xmlns:a="http://schemas.openxmlformats.org/drawingml/2006/main">
            <a:pPr marL="0" indent="0" algn="ctr">
              <a:buNone/>
            </a:pPr>
            <a:r>
              <a:rPr sz="2500" b="1">
                <a:solidFill>
                  <a:srgbClr val="1F2937"/>
                </a:solidFill>
              </a:rPr>
              <a:t>show condition -&gt; evidence -&gt; result</a:t>
            </a: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FD0DB987-BDFC-4746-94A7-5C8A36C9B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0" y="2057400"/>
            <a:ext cx="4206240" cy="109728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CE8E6"/>
          </a:solidFill>
          <a:ln xmlns:a="http://schemas.openxmlformats.org/drawingml/2006/main" w="13970">
            <a:solidFill>
              <a:srgbClr val="B3261E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50CC281C-1EF3-40C2-862E-950E78654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4032" y="2130552"/>
            <a:ext cx="4059936" cy="9509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91648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400" b="1">
                <a:solidFill>
                  <a:srgbClr val="1F2937"/>
                </a:solidFill>
              </a:rPr>
              <a:t>Bad handoff</a:t>
            </a:r>
          </a:p>
          <a:p xmlns:a="http://schemas.openxmlformats.org/drawingml/2006/main">
            <a:pPr marL="0" indent="0" algn="ctr">
              <a:buNone/>
            </a:pPr>
            <a:r>
              <a:rPr sz="2400" b="1">
                <a:solidFill>
                  <a:srgbClr val="1F2937"/>
                </a:solidFill>
              </a:rPr>
              <a:t>hide defects -&gt; claim complete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0FFEDDFA-AB4D-45E3-AEAB-9008D5AEE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4251960"/>
            <a:ext cx="1024128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86474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600" b="1">
                <a:solidFill>
                  <a:srgbClr val="1F2937"/>
                </a:solidFill>
              </a:rPr>
              <a:t>Professional documentation includes unresolved items. Trust comes from traceability, not presentation polish alone.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7B2BADA8-6E98-4206-98F1-118645767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9728" y="6455664"/>
            <a:ext cx="256032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B6776"/>
                </a:solidFill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10769952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2F35B03E-E021-40D9-99D5-CBE159833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12700">
            <a:solidFill>
              <a:srgbClr val="111827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7D6EA128-4D98-4A55-A24E-9F8C4FE57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18872"/>
            <a:ext cx="80467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FFFFFF"/>
                </a:solidFill>
              </a:rPr>
              <a:t>CTS Cohort 6 | RCS07 | Day 15 | July 29, 2026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58A34FB0-2928-4B2E-B839-53042BF6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768096"/>
            <a:ext cx="11018520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100" b="1">
                <a:solidFill>
                  <a:srgbClr val="1F2937"/>
                </a:solidFill>
              </a:rPr>
              <a:t>Quality criteria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D0D23102-D566-4AAB-B003-027F47FD8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1298448"/>
            <a:ext cx="10789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50">
                <a:solidFill>
                  <a:srgbClr val="5B6776"/>
                </a:solidFill>
              </a:rPr>
              <a:t>Good physical work leaves visible proof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55695CD5-F6C5-4453-9517-EA3032BE9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83080"/>
            <a:ext cx="10287000" cy="3383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" tIns="1016" rIns="1016" bIns="1016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2600">
                <a:solidFill>
                  <a:srgbClr val="1F2937"/>
                </a:solidFill>
              </a:rPr>
              <a:t>Inspect framing, devices, drywall, and labels.</a:t>
            </a:r>
          </a:p>
          <a:p xmlns:a="http://schemas.openxmlformats.org/drawingml/2006/main">
            <a:r>
              <a:rPr sz="2600">
                <a:solidFill>
                  <a:srgbClr val="1F2937"/>
                </a:solidFill>
              </a:rPr>
              <a:t>Write specific punch items by location.</a:t>
            </a:r>
          </a:p>
          <a:p xmlns:a="http://schemas.openxmlformats.org/drawingml/2006/main">
            <a:r>
              <a:rPr sz="2600">
                <a:solidFill>
                  <a:srgbClr val="1F2937"/>
                </a:solidFill>
              </a:rPr>
              <a:t>Correct approved work under task controls.</a:t>
            </a:r>
          </a:p>
          <a:p xmlns:a="http://schemas.openxmlformats.org/drawingml/2006/main">
            <a:r>
              <a:rPr sz="2600">
                <a:solidFill>
                  <a:srgbClr val="1F2937"/>
                </a:solidFill>
              </a:rPr>
              <a:t>Retest against acceptance criteria.</a:t>
            </a:r>
          </a:p>
          <a:p xmlns:a="http://schemas.openxmlformats.org/drawingml/2006/main">
            <a:r>
              <a:rPr sz="2600">
                <a:solidFill>
                  <a:srgbClr val="1F2937"/>
                </a:solidFill>
              </a:rPr>
              <a:t>Capture overall, detail, test, and corrected views.</a:t>
            </a:r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F67AAF38-29B8-4268-874D-C4A3A3D32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486400"/>
            <a:ext cx="8503920" cy="594360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CE8E6"/>
          </a:solidFill>
          <a:ln xmlns:a="http://schemas.openxmlformats.org/drawingml/2006/main" w="13970">
            <a:solidFill>
              <a:srgbClr val="B3261E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E608DA74-4C9E-4BAC-A0E1-17CA71417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1952" y="5559552"/>
            <a:ext cx="8357616" cy="4480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400" b="1">
                <a:solidFill>
                  <a:srgbClr val="1F2937"/>
                </a:solidFill>
              </a:rPr>
              <a:t>No retest evidence? The punch item stays open.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BBD2BCFF-A810-42BF-86EC-E4D0677C4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9728" y="6455664"/>
            <a:ext cx="256032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B6776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81657794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4A565C80-D4E7-4846-B096-1A6552093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12700">
            <a:solidFill>
              <a:srgbClr val="111827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E7BC135-6CDB-484A-BA49-2691911D2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18872"/>
            <a:ext cx="80467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FFFFFF"/>
                </a:solidFill>
              </a:rPr>
              <a:t>CTS Cohort 6 | RCS07 | Day 15 | July 29, 2026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A4EB4D9E-7135-46C1-8658-AB717ABD3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768096"/>
            <a:ext cx="11018520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100" b="1">
                <a:solidFill>
                  <a:srgbClr val="1F2937"/>
                </a:solidFill>
              </a:rPr>
              <a:t>Lab release checklist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0FB28F72-3D5A-4DE4-B099-8422EF74D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1298448"/>
            <a:ext cx="10789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50">
                <a:solidFill>
                  <a:srgbClr val="5B6776"/>
                </a:solidFill>
              </a:rPr>
              <a:t>The station earns work only after the checks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218BEBD4-2E48-4AA4-8DA9-D3441AE10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37360"/>
            <a:ext cx="10332720" cy="3977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" tIns="1016" rIns="1016" bIns="1016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rgbClr val="1F2937"/>
                </a:solidFill>
              </a:rPr>
              <a:t>Pre-task plan and energy state complete.</a:t>
            </a:r>
          </a:p>
          <a:p xmlns:a="http://schemas.openxmlformats.org/drawingml/2006/main">
            <a:r>
              <a:rPr sz="2400">
                <a:solidFill>
                  <a:srgbClr val="1F2937"/>
                </a:solidFill>
              </a:rPr>
              <a:t>Baseline whole-wall inspection recorded.</a:t>
            </a:r>
          </a:p>
          <a:p xmlns:a="http://schemas.openxmlformats.org/drawingml/2006/main">
            <a:r>
              <a:rPr sz="2400">
                <a:solidFill>
                  <a:srgbClr val="1F2937"/>
                </a:solidFill>
              </a:rPr>
              <a:t>Punch list identifies locations and owners.</a:t>
            </a:r>
          </a:p>
          <a:p xmlns:a="http://schemas.openxmlformats.org/drawingml/2006/main">
            <a:r>
              <a:rPr sz="2400">
                <a:solidFill>
                  <a:srgbClr val="1F2937"/>
                </a:solidFill>
              </a:rPr>
              <a:t>Safety/functional items prioritized first.</a:t>
            </a:r>
          </a:p>
          <a:p xmlns:a="http://schemas.openxmlformats.org/drawingml/2006/main">
            <a:r>
              <a:rPr sz="2400">
                <a:solidFill>
                  <a:srgbClr val="1F2937"/>
                </a:solidFill>
              </a:rPr>
              <a:t>Rework scope approved by instructor.</a:t>
            </a:r>
          </a:p>
          <a:p xmlns:a="http://schemas.openxmlformats.org/drawingml/2006/main">
            <a:r>
              <a:rPr sz="2400">
                <a:solidFill>
                  <a:srgbClr val="1F2937"/>
                </a:solidFill>
              </a:rPr>
              <a:t>Evidence device and file names ready.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696D4233-633F-44F2-A295-5201A64A4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9728" y="6455664"/>
            <a:ext cx="256032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B6776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47551279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C3571FCC-2204-47C0-B05B-6C9687837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12700">
            <a:solidFill>
              <a:srgbClr val="111827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7602CB13-118E-4501-AFA2-FD9EDF70D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18872"/>
            <a:ext cx="80467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FFFFFF"/>
                </a:solidFill>
              </a:rPr>
              <a:t>CTS Cohort 6 | RCS07 | Day 15 | July 29, 2026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9EA5C473-1732-44B6-949A-C300815FE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768096"/>
            <a:ext cx="11018520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100" b="1">
                <a:solidFill>
                  <a:srgbClr val="1F2937"/>
                </a:solidFill>
              </a:rPr>
              <a:t>Afternoon lab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5E4EA4C0-4FAA-480E-AAD4-635053F9C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1298448"/>
            <a:ext cx="10789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50">
                <a:solidFill>
                  <a:srgbClr val="5B6776"/>
                </a:solidFill>
              </a:rPr>
              <a:t>Slow sequence. Clear callouts. No surprises.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AC757039-29CA-4C27-923A-67879671C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057400"/>
            <a:ext cx="2103120" cy="96012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E6F4EA"/>
          </a:solidFill>
          <a:ln xmlns:a="http://schemas.openxmlformats.org/drawingml/2006/main" w="13970">
            <a:solidFill>
              <a:srgbClr val="2E7D32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3C87BC81-92E4-4BF7-A045-DFAD829DC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2130552"/>
            <a:ext cx="1956816" cy="8138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1F2937"/>
                </a:solidFill>
              </a:rPr>
              <a:t>1</a:t>
            </a:r>
          </a:p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1F2937"/>
                </a:solidFill>
              </a:rPr>
              <a:t>Inspect + punch</a:t>
            </a: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70D54EEE-A66A-4228-9E5B-22F2CD772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360" y="2542032"/>
            <a:ext cx="5486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5B6776"/>
            </a:solidFill>
            <a:prstDash val="solid"/>
            <a:headEnd type="none"/>
            <a:tailEnd type="triangle"/>
          </a:ln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727EF1E3-1DAB-41C5-9AAF-D5C1B3961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057400"/>
            <a:ext cx="2011680" cy="96012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DDEEFF"/>
          </a:solidFill>
          <a:ln xmlns:a="http://schemas.openxmlformats.org/drawingml/2006/main" w="13970">
            <a:solidFill>
              <a:srgbClr val="1F77B4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3E5E95B5-7B87-409B-8884-D50B9922D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2152" y="2130552"/>
            <a:ext cx="1865376" cy="8138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98827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1F2937"/>
                </a:solidFill>
              </a:rPr>
              <a:t>2</a:t>
            </a:r>
          </a:p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1F2937"/>
                </a:solidFill>
              </a:rPr>
              <a:t>Prioritize + approve</a:t>
            </a:r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29522323-4A80-43D0-AD51-2022DFF3C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0680" y="2542032"/>
            <a:ext cx="5486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5B6776"/>
            </a:solidFill>
            <a:prstDash val="solid"/>
            <a:headEnd type="none"/>
            <a:tailEnd type="triangle"/>
          </a:ln>
        </p:spPr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DA30CAF2-DA14-45A2-8088-12CCC49AA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2057400"/>
            <a:ext cx="2057400" cy="96012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2D8"/>
          </a:solidFill>
          <a:ln xmlns:a="http://schemas.openxmlformats.org/drawingml/2006/main" w="13970">
            <a:solidFill>
              <a:srgbClr val="E87500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7211A356-BD49-4032-879E-AF2711276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2472" y="2130552"/>
            <a:ext cx="1911096" cy="8138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98827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1F2937"/>
                </a:solidFill>
              </a:rPr>
              <a:t>3</a:t>
            </a:r>
          </a:p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1F2937"/>
                </a:solidFill>
              </a:rPr>
              <a:t>Rework + subsystem QC</a:t>
            </a:r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2CA5E873-FC1F-4834-B5CD-6741851DA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2542032"/>
            <a:ext cx="5486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5B6776"/>
            </a:solidFill>
            <a:prstDash val="solid"/>
            <a:headEnd type="none"/>
            <a:tailEnd type="triangle"/>
          </a:ln>
        </p:spPr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05CE4A53-E879-42E5-91BA-B76F137A3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0" y="2057400"/>
            <a:ext cx="2057400" cy="96012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3E8FF"/>
          </a:solidFill>
          <a:ln xmlns:a="http://schemas.openxmlformats.org/drawingml/2006/main" w="13970">
            <a:solidFill>
              <a:srgbClr val="7E22CE"/>
            </a:solidFill>
            <a:prstDash val="solid"/>
          </a:ln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57335695-F4B2-4966-92F3-83239149E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8512" y="2130552"/>
            <a:ext cx="1911096" cy="8138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98827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1F2937"/>
                </a:solidFill>
              </a:rPr>
              <a:t>4</a:t>
            </a:r>
          </a:p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1F2937"/>
                </a:solidFill>
              </a:rPr>
              <a:t>Retest + whole-wall QC</a:t>
            </a: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E46C3109-8E7A-4302-B368-3FC293058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14800"/>
            <a:ext cx="1033272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87431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400" b="1">
                <a:solidFill>
                  <a:srgbClr val="1F2937"/>
                </a:solidFill>
              </a:rPr>
              <a:t>Complete the individual capstone, close at least one documented punch item, and prepare a 60-second handoff.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77893F80-01FA-477E-B380-7DADE21B0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9728" y="6455664"/>
            <a:ext cx="256032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B6776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69624449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C1BB467D-E68E-444B-8DE0-9F7917ED2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12700">
            <a:solidFill>
              <a:srgbClr val="111827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4A268C29-84DE-4DD2-B142-1399755DC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18872"/>
            <a:ext cx="80467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FFFFFF"/>
                </a:solidFill>
              </a:rPr>
              <a:t>CTS Cohort 6 | RCS07 | Day 15 | July 29, 2026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A95605E8-4218-4618-A288-0418EDC6B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768096"/>
            <a:ext cx="11018520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100" b="1">
                <a:solidFill>
                  <a:srgbClr val="1F2937"/>
                </a:solidFill>
              </a:rPr>
              <a:t>Closeout order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AE9307D5-81DA-4747-A554-396219F14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1298448"/>
            <a:ext cx="10789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50">
                <a:solidFill>
                  <a:srgbClr val="5B6776"/>
                </a:solidFill>
              </a:rPr>
              <a:t>End verified, documented, and reset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0C6E3434-0BA0-430D-85CF-B364BA6D5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11680"/>
            <a:ext cx="1828800" cy="9144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3E8FF"/>
          </a:solidFill>
          <a:ln xmlns:a="http://schemas.openxmlformats.org/drawingml/2006/main" w="13970">
            <a:solidFill>
              <a:srgbClr val="7E22CE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FE23C91D-DB15-408A-8DEB-CAB3F6AF9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" y="2084832"/>
            <a:ext cx="1682496" cy="7680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1F2937"/>
                </a:solidFill>
              </a:rPr>
              <a:t>1</a:t>
            </a:r>
          </a:p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1F2937"/>
                </a:solidFill>
              </a:rPr>
              <a:t>Overall photo</a:t>
            </a: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ADDE9ADE-8AE5-4535-ADD9-0096A5E54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468880"/>
            <a:ext cx="5943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5B6776"/>
            </a:solidFill>
            <a:prstDash val="solid"/>
            <a:headEnd type="none"/>
            <a:tailEnd type="triangle"/>
          </a:ln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6B6FCF18-A24B-40A8-B4D4-ABAB40947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7560" y="2011680"/>
            <a:ext cx="2240280" cy="9144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2D8"/>
          </a:solidFill>
          <a:ln xmlns:a="http://schemas.openxmlformats.org/drawingml/2006/main" w="13970">
            <a:solidFill>
              <a:srgbClr val="E87500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4BF6F8F8-68E5-47EF-A0CE-6671C28FD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0712" y="2084832"/>
            <a:ext cx="2093976" cy="7680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1F2937"/>
                </a:solidFill>
              </a:rPr>
              <a:t>2</a:t>
            </a:r>
          </a:p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1F2937"/>
                </a:solidFill>
              </a:rPr>
              <a:t>Defect detail</a:t>
            </a:r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F1211F4B-8293-4086-A6E3-806848626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7840" y="2468880"/>
            <a:ext cx="5943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5B6776"/>
            </a:solidFill>
            <a:prstDash val="solid"/>
            <a:headEnd type="none"/>
            <a:tailEnd type="triangle"/>
          </a:ln>
        </p:spPr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67995C79-0344-489E-95E9-311BB8C0C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011680"/>
            <a:ext cx="2331720" cy="9144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CE8E6"/>
          </a:solidFill>
          <a:ln xmlns:a="http://schemas.openxmlformats.org/drawingml/2006/main" w="13970">
            <a:solidFill>
              <a:srgbClr val="B3261E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FC7D3330-D46F-4A31-996D-410482E76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5352" y="2084832"/>
            <a:ext cx="2185416" cy="7680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96504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1F2937"/>
                </a:solidFill>
              </a:rPr>
              <a:t>3</a:t>
            </a:r>
          </a:p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1F2937"/>
                </a:solidFill>
              </a:rPr>
              <a:t>Correction + retest</a:t>
            </a:r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A98E7A71-EFE0-40ED-B3E9-8713F1607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2468880"/>
            <a:ext cx="5943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5B6776"/>
            </a:solidFill>
            <a:prstDash val="solid"/>
            <a:headEnd type="none"/>
            <a:tailEnd type="triangle"/>
          </a:ln>
        </p:spPr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78CEDC28-C760-43CB-9667-8402EA033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8280" y="2011680"/>
            <a:ext cx="2057400" cy="9144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DDEEFF"/>
          </a:solidFill>
          <a:ln xmlns:a="http://schemas.openxmlformats.org/drawingml/2006/main" w="13970">
            <a:solidFill>
              <a:srgbClr val="1F77B4"/>
            </a:solidFill>
            <a:prstDash val="solid"/>
          </a:ln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D3D135FA-BA51-47B0-8A0A-F12D972B9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1432" y="2084832"/>
            <a:ext cx="1911096" cy="7680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1F2937"/>
                </a:solidFill>
              </a:rPr>
              <a:t>4</a:t>
            </a:r>
          </a:p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1F2937"/>
                </a:solidFill>
              </a:rPr>
              <a:t>Handoff + reset</a:t>
            </a: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78359502-66F3-48C2-BA16-5B8C1E320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3931920"/>
            <a:ext cx="1024128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" tIns="1016" rIns="1016" bIns="1016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rgbClr val="1F2937"/>
                </a:solidFill>
              </a:rPr>
              <a:t>Handoff includes scope, key decisions, verified results, evidence, and any unresolved items.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011407CF-64D2-4B2A-B4AA-43AD9BE1A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9728" y="6455664"/>
            <a:ext cx="256032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B6776"/>
                </a:solidFill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65733533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BF1505B8-1F62-42C0-962A-E250FEE97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12700">
            <a:solidFill>
              <a:srgbClr val="111827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5607B989-030E-4FF9-BDA7-9AB925826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18872"/>
            <a:ext cx="80467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FFFFFF"/>
                </a:solidFill>
              </a:rPr>
              <a:t>CTS Cohort 6 | RCS07 | Day 15 | July 29, 2026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91CD3937-EC14-4C60-95AA-9AC5ECF4E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768096"/>
            <a:ext cx="11018520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100" b="1">
                <a:solidFill>
                  <a:srgbClr val="1F2937"/>
                </a:solidFill>
              </a:rPr>
              <a:t>Evidence log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2F8E9340-7E33-4FC7-9C96-A62574B27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1298448"/>
            <a:ext cx="10789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50">
                <a:solidFill>
                  <a:srgbClr val="5B6776"/>
                </a:solidFill>
              </a:rPr>
              <a:t>What students write down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01FBDFDD-73E2-433F-9660-82B07EEB0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83080"/>
            <a:ext cx="2926080" cy="438912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DEEFF"/>
          </a:solidFill>
          <a:ln xmlns:a="http://schemas.openxmlformats.org/drawingml/2006/main" w="13970">
            <a:solidFill>
              <a:srgbClr val="1F77B4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81A22B0C-EED9-41E4-A7B0-D9ABA8346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" y="1856232"/>
            <a:ext cx="2779776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1F2937"/>
                </a:solidFill>
              </a:rPr>
              <a:t>Frame</a:t>
            </a: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1C6B50B4-8298-48CB-B5EE-6A3E665F8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9080" y="1783080"/>
            <a:ext cx="3017520" cy="438912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7ECF2"/>
          </a:solidFill>
          <a:ln xmlns:a="http://schemas.openxmlformats.org/drawingml/2006/main" w="13970">
            <a:solidFill>
              <a:srgbClr val="5B6776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3E75621F-7DC5-47C8-8346-0B40F53B1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1856232"/>
            <a:ext cx="2871216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>
                <a:solidFill>
                  <a:srgbClr val="1F2937"/>
                </a:solidFill>
              </a:rPr>
              <a:t>dims + square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00CD52B2-F7B3-40A3-A385-40FEC317B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783080"/>
            <a:ext cx="2926080" cy="438912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7ECF2"/>
          </a:solidFill>
          <a:ln xmlns:a="http://schemas.openxmlformats.org/drawingml/2006/main" w="13970">
            <a:solidFill>
              <a:srgbClr val="5B6776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853562DD-7C5B-4EBE-8742-68E58BB01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8352" y="1856232"/>
            <a:ext cx="2779776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>
                <a:solidFill>
                  <a:srgbClr val="1F2937"/>
                </a:solidFill>
              </a:rPr>
              <a:t>Pass: ________</a:t>
            </a: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2009A3A7-BA87-4C29-9D27-72422F7F4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04872"/>
            <a:ext cx="2926080" cy="438912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7ECF2"/>
          </a:solidFill>
          <a:ln xmlns:a="http://schemas.openxmlformats.org/drawingml/2006/main" w="13970">
            <a:solidFill>
              <a:srgbClr val="1F77B4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386A05B7-EA78-41BC-8933-A185AD59C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" y="2478024"/>
            <a:ext cx="2779776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1F2937"/>
                </a:solidFill>
              </a:rPr>
              <a:t>Devices</a:t>
            </a:r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219232CF-C080-4974-9FCD-CE847338C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9080" y="2404872"/>
            <a:ext cx="3017520" cy="438912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7ECF2"/>
          </a:solidFill>
          <a:ln xmlns:a="http://schemas.openxmlformats.org/drawingml/2006/main" w="13970">
            <a:solidFill>
              <a:srgbClr val="5B6776"/>
            </a:solidFill>
            <a:prstDash val="solid"/>
          </a:ln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4A257811-A289-45A1-8E33-B160CEA3C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2478024"/>
            <a:ext cx="2871216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>
                <a:solidFill>
                  <a:srgbClr val="1F2937"/>
                </a:solidFill>
              </a:rPr>
              <a:t>2 outlets + S/L</a:t>
            </a:r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5D459576-9567-419E-BB98-FDDF39A16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404872"/>
            <a:ext cx="2926080" cy="438912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7ECF2"/>
          </a:solidFill>
          <a:ln xmlns:a="http://schemas.openxmlformats.org/drawingml/2006/main" w="13970">
            <a:solidFill>
              <a:srgbClr val="5B6776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4D763563-8300-46BD-A1D0-FE6498DBA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8352" y="2478024"/>
            <a:ext cx="2779776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>
                <a:solidFill>
                  <a:srgbClr val="1F2937"/>
                </a:solidFill>
              </a:rPr>
              <a:t>Pass: ________</a:t>
            </a:r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FF84DEF1-B0DB-4C08-AEF3-113DC1171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26664"/>
            <a:ext cx="2926080" cy="438912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DEEFF"/>
          </a:solidFill>
          <a:ln xmlns:a="http://schemas.openxmlformats.org/drawingml/2006/main" w="13970">
            <a:solidFill>
              <a:srgbClr val="1F77B4"/>
            </a:solidFill>
            <a:prstDash val="solid"/>
          </a:ln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BFE14E77-170E-4663-8B2B-016767C98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" y="3099816"/>
            <a:ext cx="2779776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1F2937"/>
                </a:solidFill>
              </a:rPr>
              <a:t>Drywall</a:t>
            </a:r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38F841B2-109C-4E68-8FD6-BF7D4FBB4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9080" y="3026664"/>
            <a:ext cx="3017520" cy="438912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7ECF2"/>
          </a:solidFill>
          <a:ln xmlns:a="http://schemas.openxmlformats.org/drawingml/2006/main" w="13970">
            <a:solidFill>
              <a:srgbClr val="5B6776"/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1F17044D-0C73-44E3-84E9-C24278FB8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3099816"/>
            <a:ext cx="2871216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>
                <a:solidFill>
                  <a:srgbClr val="1F2937"/>
                </a:solidFill>
              </a:rPr>
              <a:t>fit + fasteners</a:t>
            </a:r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E61D76DE-82EE-4D1A-97E1-0A3A15FD2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026664"/>
            <a:ext cx="2926080" cy="438912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7ECF2"/>
          </a:solidFill>
          <a:ln xmlns:a="http://schemas.openxmlformats.org/drawingml/2006/main" w="13970">
            <a:solidFill>
              <a:srgbClr val="5B6776"/>
            </a:solidFill>
            <a:prstDash val="solid"/>
          </a:ln>
        </p:spPr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967B715B-0BA5-4300-A994-71E993378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8352" y="3099816"/>
            <a:ext cx="2779776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>
                <a:solidFill>
                  <a:srgbClr val="1F2937"/>
                </a:solidFill>
              </a:rPr>
              <a:t>Pass: ________</a:t>
            </a:r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D22830D0-E04F-408A-B5B2-F9AE2E3AE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48456"/>
            <a:ext cx="2926080" cy="438912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7ECF2"/>
          </a:solidFill>
          <a:ln xmlns:a="http://schemas.openxmlformats.org/drawingml/2006/main" w="13970">
            <a:solidFill>
              <a:srgbClr val="1F77B4"/>
            </a:solidFill>
            <a:prstDash val="solid"/>
          </a:ln>
        </p:spPr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08EE420C-25C6-46B7-9240-21B373388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" y="3721608"/>
            <a:ext cx="2779776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1F2937"/>
                </a:solidFill>
              </a:rPr>
              <a:t>Punch item</a:t>
            </a:r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7DEC7CE0-2599-4F7C-A58B-922771833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9080" y="3648456"/>
            <a:ext cx="3017520" cy="438912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7ECF2"/>
          </a:solidFill>
          <a:ln xmlns:a="http://schemas.openxmlformats.org/drawingml/2006/main" w="13970">
            <a:solidFill>
              <a:srgbClr val="5B6776"/>
            </a:solidFill>
            <a:prstDash val="solid"/>
          </a:ln>
        </p:spPr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DD34EBD3-7580-4FE5-AF23-D7CBBEA57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3721608"/>
            <a:ext cx="2871216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>
                <a:solidFill>
                  <a:srgbClr val="1F2937"/>
                </a:solidFill>
              </a:rPr>
              <a:t>location + defect</a:t>
            </a:r>
          </a:p>
        </p:txBody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D08EF2ED-DF19-4AC4-839D-A38F61076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648456"/>
            <a:ext cx="2926080" cy="438912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7ECF2"/>
          </a:solidFill>
          <a:ln xmlns:a="http://schemas.openxmlformats.org/drawingml/2006/main" w="13970">
            <a:solidFill>
              <a:srgbClr val="5B6776"/>
            </a:solidFill>
            <a:prstDash val="solid"/>
          </a:ln>
        </p:spPr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B98C6FE7-B231-46D3-8BF8-0CA613CFD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8352" y="3721608"/>
            <a:ext cx="2779776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>
                <a:solidFill>
                  <a:srgbClr val="1F2937"/>
                </a:solidFill>
              </a:rPr>
              <a:t>ID: __________</a:t>
            </a:r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4EB3FD7E-7348-4784-B136-C6726F577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70248"/>
            <a:ext cx="2926080" cy="438912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DEEFF"/>
          </a:solidFill>
          <a:ln xmlns:a="http://schemas.openxmlformats.org/drawingml/2006/main" w="13970">
            <a:solidFill>
              <a:srgbClr val="1F77B4"/>
            </a:solidFill>
            <a:prstDash val="solid"/>
          </a:ln>
        </p:spPr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58F1804E-C34F-49EE-8529-53090A1EB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" y="4343400"/>
            <a:ext cx="2779776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1F2937"/>
                </a:solidFill>
              </a:rPr>
              <a:t>Retest</a:t>
            </a:r>
          </a:p>
        </p:txBody>
      </p:sp>
      <p:sp>
        <p:nvSpPr>
          <p:cNvPr id="32" name="Shape 30">
            <a:extLst xmlns:a="http://schemas.openxmlformats.org/drawingml/2006/main">
              <a:ext uri="{FF2B5EF4-FFF2-40B4-BE49-F238E27FC236}">
                <a16:creationId xmlns:a16="http://schemas.microsoft.com/office/drawing/2014/main" id="{10EA6858-B573-47AF-BA0C-A886AEAC5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9080" y="4270248"/>
            <a:ext cx="3017520" cy="438912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7ECF2"/>
          </a:solidFill>
          <a:ln xmlns:a="http://schemas.openxmlformats.org/drawingml/2006/main" w="13970">
            <a:solidFill>
              <a:srgbClr val="5B6776"/>
            </a:solidFill>
            <a:prstDash val="solid"/>
          </a:ln>
        </p:spPr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77CE1A6C-3DF4-415A-9D69-062A875ED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4343400"/>
            <a:ext cx="2871216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>
                <a:solidFill>
                  <a:srgbClr val="1F2937"/>
                </a:solidFill>
              </a:rPr>
              <a:t>acceptance check</a:t>
            </a:r>
          </a:p>
        </p:txBody>
      </p:sp>
      <p:sp>
        <p:nvSpPr>
          <p:cNvPr id="34" name="Shape 32">
            <a:extLst xmlns:a="http://schemas.openxmlformats.org/drawingml/2006/main">
              <a:ext uri="{FF2B5EF4-FFF2-40B4-BE49-F238E27FC236}">
                <a16:creationId xmlns:a16="http://schemas.microsoft.com/office/drawing/2014/main" id="{C986FAEF-066C-47E5-BE13-CBF39C6F0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270248"/>
            <a:ext cx="2926080" cy="438912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7ECF2"/>
          </a:solidFill>
          <a:ln xmlns:a="http://schemas.openxmlformats.org/drawingml/2006/main" w="13970">
            <a:solidFill>
              <a:srgbClr val="5B6776"/>
            </a:solidFill>
            <a:prstDash val="solid"/>
          </a:ln>
        </p:spPr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91A208C0-50F1-443E-BA10-C02E3ABD6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8352" y="4343400"/>
            <a:ext cx="2779776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>
                <a:solidFill>
                  <a:srgbClr val="1F2937"/>
                </a:solidFill>
              </a:rPr>
              <a:t>Result: _______</a:t>
            </a:r>
          </a:p>
        </p:txBody>
      </p:sp>
      <p:sp>
        <p:nvSpPr>
          <p:cNvPr id="36" name="Shape 34">
            <a:extLst xmlns:a="http://schemas.openxmlformats.org/drawingml/2006/main">
              <a:ext uri="{FF2B5EF4-FFF2-40B4-BE49-F238E27FC236}">
                <a16:creationId xmlns:a16="http://schemas.microsoft.com/office/drawing/2014/main" id="{943EA0D7-4C1F-4605-B9A5-9825F1052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92040"/>
            <a:ext cx="2926080" cy="438912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7ECF2"/>
          </a:solidFill>
          <a:ln xmlns:a="http://schemas.openxmlformats.org/drawingml/2006/main" w="13970">
            <a:solidFill>
              <a:srgbClr val="1F77B4"/>
            </a:solidFill>
            <a:prstDash val="solid"/>
          </a:ln>
        </p:spPr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35467643-9C9A-4F0F-B0F5-1BE4F3AA9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" y="4965192"/>
            <a:ext cx="2779776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1F2937"/>
                </a:solidFill>
              </a:rPr>
              <a:t>Handoff</a:t>
            </a:r>
          </a:p>
        </p:txBody>
      </p:sp>
      <p:sp>
        <p:nvSpPr>
          <p:cNvPr id="38" name="Shape 36">
            <a:extLst xmlns:a="http://schemas.openxmlformats.org/drawingml/2006/main">
              <a:ext uri="{FF2B5EF4-FFF2-40B4-BE49-F238E27FC236}">
                <a16:creationId xmlns:a16="http://schemas.microsoft.com/office/drawing/2014/main" id="{9D61E7A1-B5CB-4943-8E8F-BB19D82F9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9080" y="4892040"/>
            <a:ext cx="3017520" cy="438912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7ECF2"/>
          </a:solidFill>
          <a:ln xmlns:a="http://schemas.openxmlformats.org/drawingml/2006/main" w="13970">
            <a:solidFill>
              <a:srgbClr val="5B6776"/>
            </a:solidFill>
            <a:prstDash val="solid"/>
          </a:ln>
        </p:spPr>
      </p:sp>
      <p:sp>
        <p:nvSpPr>
          <p:cNvPr id="39" name="Text 37">
            <a:extLst xmlns:a="http://schemas.openxmlformats.org/drawingml/2006/main">
              <a:ext uri="{FF2B5EF4-FFF2-40B4-BE49-F238E27FC236}">
                <a16:creationId xmlns:a16="http://schemas.microsoft.com/office/drawing/2014/main" id="{E07EED2A-50A4-4EF4-8504-784F3BC35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4965192"/>
            <a:ext cx="2871216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>
                <a:solidFill>
                  <a:srgbClr val="1F2937"/>
                </a:solidFill>
              </a:rPr>
              <a:t>evidence indexed</a:t>
            </a:r>
          </a:p>
        </p:txBody>
      </p:sp>
      <p:sp>
        <p:nvSpPr>
          <p:cNvPr id="40" name="Shape 38">
            <a:extLst xmlns:a="http://schemas.openxmlformats.org/drawingml/2006/main">
              <a:ext uri="{FF2B5EF4-FFF2-40B4-BE49-F238E27FC236}">
                <a16:creationId xmlns:a16="http://schemas.microsoft.com/office/drawing/2014/main" id="{A403569A-4EBC-4C58-8DAA-230632E22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892040"/>
            <a:ext cx="2926080" cy="438912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7ECF2"/>
          </a:solidFill>
          <a:ln xmlns:a="http://schemas.openxmlformats.org/drawingml/2006/main" w="13970">
            <a:solidFill>
              <a:srgbClr val="5B6776"/>
            </a:solidFill>
            <a:prstDash val="solid"/>
          </a:ln>
        </p:spPr>
      </p:sp>
      <p:sp>
        <p:nvSpPr>
          <p:cNvPr id="41" name="Text 39">
            <a:extLst xmlns:a="http://schemas.openxmlformats.org/drawingml/2006/main">
              <a:ext uri="{FF2B5EF4-FFF2-40B4-BE49-F238E27FC236}">
                <a16:creationId xmlns:a16="http://schemas.microsoft.com/office/drawing/2014/main" id="{20553DF4-2BFE-4D20-880C-32A2D6B18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8352" y="4965192"/>
            <a:ext cx="2779776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>
                <a:solidFill>
                  <a:srgbClr val="1F2937"/>
                </a:solidFill>
              </a:rPr>
              <a:t>Ready: ________</a:t>
            </a:r>
          </a:p>
        </p:txBody>
      </p:sp>
      <p:sp>
        <p:nvSpPr>
          <p:cNvPr id="42" name="Text 40">
            <a:extLst xmlns:a="http://schemas.openxmlformats.org/drawingml/2006/main">
              <a:ext uri="{FF2B5EF4-FFF2-40B4-BE49-F238E27FC236}">
                <a16:creationId xmlns:a16="http://schemas.microsoft.com/office/drawing/2014/main" id="{5F0731B2-8B35-4649-A485-D0A49A764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5806440"/>
            <a:ext cx="1014984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300" b="1">
                <a:solidFill>
                  <a:srgbClr val="1F2937"/>
                </a:solidFill>
              </a:rPr>
              <a:t>A polished surface does not close a defect. Evidence and a defined retest do.</a:t>
            </a:r>
          </a:p>
        </p:txBody>
      </p:sp>
      <p:sp>
        <p:nvSpPr>
          <p:cNvPr id="43" name="Text 41">
            <a:extLst xmlns:a="http://schemas.openxmlformats.org/drawingml/2006/main">
              <a:ext uri="{FF2B5EF4-FFF2-40B4-BE49-F238E27FC236}">
                <a16:creationId xmlns:a16="http://schemas.microsoft.com/office/drawing/2014/main" id="{E6567C6F-F0F7-4832-BA5B-9341D4F13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9728" y="6455664"/>
            <a:ext cx="256032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B6776"/>
                </a:solidFill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66893627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A2148702-CFB6-4C26-9B49-E7B94C4BA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12700">
            <a:solidFill>
              <a:srgbClr val="111827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A81D5CCD-76CF-4919-B592-C5F657FA6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18872"/>
            <a:ext cx="80467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FFFFFF"/>
                </a:solidFill>
              </a:rPr>
              <a:t>CTS Cohort 6 | RCS07 | Day 15 | July 29, 2026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99F7949B-6F8E-4FAD-BACA-904A6BCA1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768096"/>
            <a:ext cx="11018520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100" b="1">
                <a:solidFill>
                  <a:srgbClr val="1F2937"/>
                </a:solidFill>
              </a:rPr>
              <a:t>Exit ticket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CC59B75D-FD14-4C4D-9DFE-8A2CE704B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1298448"/>
            <a:ext cx="10789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50">
                <a:solidFill>
                  <a:srgbClr val="5B6776"/>
                </a:solidFill>
              </a:rPr>
              <a:t>Three checks before dismissal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A9837785-4053-41D9-99BA-F1C619A9B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1828800"/>
            <a:ext cx="10149840" cy="73152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DDEEFF"/>
          </a:solidFill>
          <a:ln xmlns:a="http://schemas.openxmlformats.org/drawingml/2006/main" w="13970">
            <a:solidFill>
              <a:srgbClr val="1F77B4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3BA446D9-38E6-4AD4-83CF-1F2A6F333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272" y="1901952"/>
            <a:ext cx="10003536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F2937"/>
                </a:solidFill>
              </a:rPr>
              <a:t>1. Name your highest-priority punch item.</a:t>
            </a: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D1EF4191-B682-414B-9738-08373CBAA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971800"/>
            <a:ext cx="10149840" cy="73152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6F4EA"/>
          </a:solidFill>
          <a:ln xmlns:a="http://schemas.openxmlformats.org/drawingml/2006/main" w="13970">
            <a:solidFill>
              <a:srgbClr val="2E7D32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75DF450C-0364-4352-AC4D-2DD9BD25F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272" y="3044952"/>
            <a:ext cx="10003536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F2937"/>
                </a:solidFill>
              </a:rPr>
              <a:t>2. Describe the correction and its retest evidence.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0D44D51E-C651-4DE4-AB2C-B5804FC2C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4114800"/>
            <a:ext cx="10149840" cy="73152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CE8E6"/>
          </a:solidFill>
          <a:ln xmlns:a="http://schemas.openxmlformats.org/drawingml/2006/main" w="13970">
            <a:solidFill>
              <a:srgbClr val="B3261E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D08F4BF1-7720-43B7-A7F8-AB1AA3563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272" y="4187952"/>
            <a:ext cx="10003536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F2937"/>
                </a:solidFill>
              </a:rPr>
              <a:t>3. State any unresolved item honestly.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918BABE7-0FF2-400C-BFDA-4D513D81B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5623560"/>
            <a:ext cx="1014984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F2937"/>
                </a:solidFill>
              </a:rPr>
              <a:t>Punch list current. Corrections verified. Evidence indexed. Wall ready.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954212A6-04DC-4CCA-8E9D-1E58A1AF5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9728" y="6455664"/>
            <a:ext cx="256032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B6776"/>
                </a:solidFill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379148452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2026-07-20T22:24:47.9210000Z</dcterms:created>
  <dcterms:modified xsi:type="dcterms:W3CDTF">2026-07-20T22:24:47.9210000Z</dcterms:modified>
</coreProperties>
</file>