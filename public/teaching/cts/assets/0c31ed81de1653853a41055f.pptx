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7e730f15e748ee" /><Relationship Type="http://schemas.openxmlformats.org/officeDocument/2006/relationships/extended-properties" Target="/docProps/app.xml" Id="R471c8b556fcb4488" /><Relationship Type="http://schemas.openxmlformats.org/officeDocument/2006/relationships/officeDocument" Target="/ppt/presentation.xml" Id="Ref06a4a03fda4b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e81f9f031846e3"/>
  </p:sldMasterIdLst>
  <p:notesMasterIdLst>
    <p:notesMasterId xmlns:r="http://schemas.openxmlformats.org/officeDocument/2006/relationships" r:id="R7d6e27f09f664a5e"/>
  </p:notesMasterIdLst>
  <p:sldIdLst>
    <p:sldId xmlns:r="http://schemas.openxmlformats.org/officeDocument/2006/relationships" id="256" r:id="R3786ca411c66471b"/>
    <p:sldId xmlns:r="http://schemas.openxmlformats.org/officeDocument/2006/relationships" id="257" r:id="R05c631ccd1a94fb2"/>
    <p:sldId xmlns:r="http://schemas.openxmlformats.org/officeDocument/2006/relationships" id="258" r:id="Re4f0f93f7b594a14"/>
    <p:sldId xmlns:r="http://schemas.openxmlformats.org/officeDocument/2006/relationships" id="259" r:id="R983b51f2280347f5"/>
    <p:sldId xmlns:r="http://schemas.openxmlformats.org/officeDocument/2006/relationships" id="260" r:id="Rf4c0bd29abab4c01"/>
    <p:sldId xmlns:r="http://schemas.openxmlformats.org/officeDocument/2006/relationships" id="261" r:id="Raa2bf37f438b4496"/>
    <p:sldId xmlns:r="http://schemas.openxmlformats.org/officeDocument/2006/relationships" id="262" r:id="R4bd26289beff4dd7"/>
    <p:sldId xmlns:r="http://schemas.openxmlformats.org/officeDocument/2006/relationships" id="263" r:id="R3cb6b7f1c8074f52"/>
    <p:sldId xmlns:r="http://schemas.openxmlformats.org/officeDocument/2006/relationships" id="264" r:id="R22152ae835e84b52"/>
    <p:sldId xmlns:r="http://schemas.openxmlformats.org/officeDocument/2006/relationships" id="265" r:id="R92f79dda70844082"/>
    <p:sldId xmlns:r="http://schemas.openxmlformats.org/officeDocument/2006/relationships" id="266" r:id="R8a1da603ed274b13"/>
    <p:sldId xmlns:r="http://schemas.openxmlformats.org/officeDocument/2006/relationships" id="267" r:id="Ra12d6ed33b1a4d8b"/>
    <p:sldId xmlns:r="http://schemas.openxmlformats.org/officeDocument/2006/relationships" id="268" r:id="R5640d44385d14ee9"/>
    <p:sldId xmlns:r="http://schemas.openxmlformats.org/officeDocument/2006/relationships" id="269" r:id="R02e301cd258c42b8"/>
    <p:sldId xmlns:r="http://schemas.openxmlformats.org/officeDocument/2006/relationships" id="270" r:id="R889b71cffc424082"/>
    <p:sldId xmlns:r="http://schemas.openxmlformats.org/officeDocument/2006/relationships" id="271" r:id="R25e393708b0341df"/>
    <p:sldId xmlns:r="http://schemas.openxmlformats.org/officeDocument/2006/relationships" id="272" r:id="R93012bd668fa4f80"/>
    <p:sldId xmlns:r="http://schemas.openxmlformats.org/officeDocument/2006/relationships" id="273" r:id="R8c5e7e1f9ae54936"/>
    <p:sldId xmlns:r="http://schemas.openxmlformats.org/officeDocument/2006/relationships" id="274" r:id="Rc7cb571083514c9f"/>
    <p:sldId xmlns:r="http://schemas.openxmlformats.org/officeDocument/2006/relationships" id="275" r:id="R9cc9bc016241434c"/>
    <p:sldId xmlns:r="http://schemas.openxmlformats.org/officeDocument/2006/relationships" id="276" r:id="R91d801792d4c416c"/>
    <p:sldId xmlns:r="http://schemas.openxmlformats.org/officeDocument/2006/relationships" id="277" r:id="R7afa4ea12910478b"/>
    <p:sldId xmlns:r="http://schemas.openxmlformats.org/officeDocument/2006/relationships" id="278" r:id="Raca66a4ce7774a04"/>
    <p:sldId xmlns:r="http://schemas.openxmlformats.org/officeDocument/2006/relationships" id="279" r:id="R778240513098496c"/>
    <p:sldId xmlns:r="http://schemas.openxmlformats.org/officeDocument/2006/relationships" id="280" r:id="Re43c6ca2dfe249dc"/>
  </p:sldIdLst>
  <p:sldSz cx="1219169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52caaf627e4132" /><Relationship Type="http://schemas.openxmlformats.org/officeDocument/2006/relationships/slideMaster" Target="/ppt/slideMasters/slideMaster1.xml" Id="R27e81f9f031846e3" /><Relationship Type="http://schemas.openxmlformats.org/officeDocument/2006/relationships/notesMaster" Target="/ppt/notesMasters/notesMaster1.xml" Id="R7d6e27f09f664a5e" /><Relationship Type="http://schemas.openxmlformats.org/officeDocument/2006/relationships/presProps" Target="/ppt/presProps.xml" Id="Rf988206804964b12" /><Relationship Type="http://schemas.openxmlformats.org/officeDocument/2006/relationships/viewProps" Target="/ppt/viewProps.xml" Id="Rcd90bf85fa1849ad" /><Relationship Type="http://schemas.openxmlformats.org/officeDocument/2006/relationships/tableStyles" Target="/ppt/tableStyles.xml" Id="Ra27a2d1d817a4f64" /><Relationship Type="http://schemas.openxmlformats.org/officeDocument/2006/relationships/slide" Target="/ppt/slides/slide1.xml" Id="R3786ca411c66471b" /><Relationship Type="http://schemas.openxmlformats.org/officeDocument/2006/relationships/slide" Target="/ppt/slides/slide2.xml" Id="R05c631ccd1a94fb2" /><Relationship Type="http://schemas.openxmlformats.org/officeDocument/2006/relationships/slide" Target="/ppt/slides/slide3.xml" Id="Re4f0f93f7b594a14" /><Relationship Type="http://schemas.openxmlformats.org/officeDocument/2006/relationships/slide" Target="/ppt/slides/slide4.xml" Id="R983b51f2280347f5" /><Relationship Type="http://schemas.openxmlformats.org/officeDocument/2006/relationships/slide" Target="/ppt/slides/slide5.xml" Id="Rf4c0bd29abab4c01" /><Relationship Type="http://schemas.openxmlformats.org/officeDocument/2006/relationships/slide" Target="/ppt/slides/slide6.xml" Id="Raa2bf37f438b4496" /><Relationship Type="http://schemas.openxmlformats.org/officeDocument/2006/relationships/slide" Target="/ppt/slides/slide7.xml" Id="R4bd26289beff4dd7" /><Relationship Type="http://schemas.openxmlformats.org/officeDocument/2006/relationships/slide" Target="/ppt/slides/slide8.xml" Id="R3cb6b7f1c8074f52" /><Relationship Type="http://schemas.openxmlformats.org/officeDocument/2006/relationships/slide" Target="/ppt/slides/slide9.xml" Id="R22152ae835e84b52" /><Relationship Type="http://schemas.openxmlformats.org/officeDocument/2006/relationships/slide" Target="/ppt/slides/slide10.xml" Id="R92f79dda70844082" /><Relationship Type="http://schemas.openxmlformats.org/officeDocument/2006/relationships/slide" Target="/ppt/slides/slide11.xml" Id="R8a1da603ed274b13" /><Relationship Type="http://schemas.openxmlformats.org/officeDocument/2006/relationships/slide" Target="/ppt/slides/slide12.xml" Id="Ra12d6ed33b1a4d8b" /><Relationship Type="http://schemas.openxmlformats.org/officeDocument/2006/relationships/slide" Target="/ppt/slides/slide13.xml" Id="R5640d44385d14ee9" /><Relationship Type="http://schemas.openxmlformats.org/officeDocument/2006/relationships/slide" Target="/ppt/slides/slide14.xml" Id="R02e301cd258c42b8" /><Relationship Type="http://schemas.openxmlformats.org/officeDocument/2006/relationships/slide" Target="/ppt/slides/slide15.xml" Id="R889b71cffc424082" /><Relationship Type="http://schemas.openxmlformats.org/officeDocument/2006/relationships/slide" Target="/ppt/slides/slide16.xml" Id="R25e393708b0341df" /><Relationship Type="http://schemas.openxmlformats.org/officeDocument/2006/relationships/slide" Target="/ppt/slides/slide17.xml" Id="R93012bd668fa4f80" /><Relationship Type="http://schemas.openxmlformats.org/officeDocument/2006/relationships/slide" Target="/ppt/slides/slide18.xml" Id="R8c5e7e1f9ae54936" /><Relationship Type="http://schemas.openxmlformats.org/officeDocument/2006/relationships/slide" Target="/ppt/slides/slide19.xml" Id="Rc7cb571083514c9f" /><Relationship Type="http://schemas.openxmlformats.org/officeDocument/2006/relationships/slide" Target="/ppt/slides/slide20.xml" Id="R9cc9bc016241434c" /><Relationship Type="http://schemas.openxmlformats.org/officeDocument/2006/relationships/slide" Target="/ppt/slides/slide21.xml" Id="R91d801792d4c416c" /><Relationship Type="http://schemas.openxmlformats.org/officeDocument/2006/relationships/slide" Target="/ppt/slides/slide22.xml" Id="R7afa4ea12910478b" /><Relationship Type="http://schemas.openxmlformats.org/officeDocument/2006/relationships/slide" Target="/ppt/slides/slide23.xml" Id="Raca66a4ce7774a04" /><Relationship Type="http://schemas.openxmlformats.org/officeDocument/2006/relationships/slide" Target="/ppt/slides/slide24.xml" Id="R778240513098496c" /><Relationship Type="http://schemas.openxmlformats.org/officeDocument/2006/relationships/slide" Target="/ppt/slides/slide25.xml" Id="Re43c6ca2dfe249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947d53705542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e7b713f61f44e9" /><Relationship Type="http://schemas.openxmlformats.org/officeDocument/2006/relationships/notesMaster" Target="/ppt/notesMasters/notesMaster1.xml" Id="R17577fee433041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0a85861ea04300" /><Relationship Type="http://schemas.openxmlformats.org/officeDocument/2006/relationships/notesMaster" Target="/ppt/notesMasters/notesMaster1.xml" Id="R7a8fd147cca849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ab1500d6b04a87" /><Relationship Type="http://schemas.openxmlformats.org/officeDocument/2006/relationships/notesMaster" Target="/ppt/notesMasters/notesMaster1.xml" Id="Re8a325151a3d44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daf086408046f5" /><Relationship Type="http://schemas.openxmlformats.org/officeDocument/2006/relationships/notesMaster" Target="/ppt/notesMasters/notesMaster1.xml" Id="Rae5e5e29fead41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51cd7f54834aaa" /><Relationship Type="http://schemas.openxmlformats.org/officeDocument/2006/relationships/notesMaster" Target="/ppt/notesMasters/notesMaster1.xml" Id="R56a3a381f2a24e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0d9aabc40c4abf" /><Relationship Type="http://schemas.openxmlformats.org/officeDocument/2006/relationships/notesMaster" Target="/ppt/notesMasters/notesMaster1.xml" Id="R4a32924d2a084d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629b2673834578" /><Relationship Type="http://schemas.openxmlformats.org/officeDocument/2006/relationships/notesMaster" Target="/ppt/notesMasters/notesMaster1.xml" Id="Ra0673326dbe04e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5e3b5b6ceb4260" /><Relationship Type="http://schemas.openxmlformats.org/officeDocument/2006/relationships/notesMaster" Target="/ppt/notesMasters/notesMaster1.xml" Id="R049a8ec7e18641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4f32a2b5384f5a" /><Relationship Type="http://schemas.openxmlformats.org/officeDocument/2006/relationships/notesMaster" Target="/ppt/notesMasters/notesMaster1.xml" Id="R99801945e9c043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6505fa457e4cc3" /><Relationship Type="http://schemas.openxmlformats.org/officeDocument/2006/relationships/notesMaster" Target="/ppt/notesMasters/notesMaster1.xml" Id="R9d008f8051024a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14fabaebbb4c0c" /><Relationship Type="http://schemas.openxmlformats.org/officeDocument/2006/relationships/notesMaster" Target="/ppt/notesMasters/notesMaster1.xml" Id="R64afc823b7f84e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ac659dbd5043c5" /><Relationship Type="http://schemas.openxmlformats.org/officeDocument/2006/relationships/notesMaster" Target="/ppt/notesMasters/notesMaster1.xml" Id="Rb6c8a260f15444c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8579c95b504452" /><Relationship Type="http://schemas.openxmlformats.org/officeDocument/2006/relationships/notesMaster" Target="/ppt/notesMasters/notesMaster1.xml" Id="R5b9b38c1d4dc44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a351e472a24c46" /><Relationship Type="http://schemas.openxmlformats.org/officeDocument/2006/relationships/notesMaster" Target="/ppt/notesMasters/notesMaster1.xml" Id="R29ed631e203547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d367553f0f4f25" /><Relationship Type="http://schemas.openxmlformats.org/officeDocument/2006/relationships/notesMaster" Target="/ppt/notesMasters/notesMaster1.xml" Id="R54fa637cd76042c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608e6ecfaf4c62" /><Relationship Type="http://schemas.openxmlformats.org/officeDocument/2006/relationships/notesMaster" Target="/ppt/notesMasters/notesMaster1.xml" Id="R674a9d3543034bf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7b51f1d6f3340ce" /><Relationship Type="http://schemas.openxmlformats.org/officeDocument/2006/relationships/notesMaster" Target="/ppt/notesMasters/notesMaster1.xml" Id="R4edd44ef40c14a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5fa3fd6b384843" /><Relationship Type="http://schemas.openxmlformats.org/officeDocument/2006/relationships/notesMaster" Target="/ppt/notesMasters/notesMaster1.xml" Id="R6ee4751c0cd44c4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aee87bf72d94097" /><Relationship Type="http://schemas.openxmlformats.org/officeDocument/2006/relationships/notesMaster" Target="/ppt/notesMasters/notesMaster1.xml" Id="R5087d92963074f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6554f389afc4dce" /><Relationship Type="http://schemas.openxmlformats.org/officeDocument/2006/relationships/notesMaster" Target="/ppt/notesMasters/notesMaster1.xml" Id="R620f49f2bc3146a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2b6521f00304a5f" /><Relationship Type="http://schemas.openxmlformats.org/officeDocument/2006/relationships/notesMaster" Target="/ppt/notesMasters/notesMaster1.xml" Id="R021d09d1a73940e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61a8fc5d0ec4285" /><Relationship Type="http://schemas.openxmlformats.org/officeDocument/2006/relationships/notesMaster" Target="/ppt/notesMasters/notesMaster1.xml" Id="R87bba2bea972443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62ef29ff4924ff4" /><Relationship Type="http://schemas.openxmlformats.org/officeDocument/2006/relationships/notesMaster" Target="/ppt/notesMasters/notesMaster1.xml" Id="R8ccd65327a8147c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496072de2ad4dcc" /><Relationship Type="http://schemas.openxmlformats.org/officeDocument/2006/relationships/notesMaster" Target="/ppt/notesMasters/notesMaster1.xml" Id="R39262162b7ae400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c98730783cd45ea" /><Relationship Type="http://schemas.openxmlformats.org/officeDocument/2006/relationships/notesMaster" Target="/ppt/notesMasters/notesMaster1.xml" Id="Rc3d8c09142394f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connecting the RCS handoff habit to a PV client brief.</a:t>
            </a:r>
          </a:p>
          <a:p xmlns:a="http://schemas.openxmlformats.org/drawingml/2006/main">
            <a:r>
              <a:t>Sean White, Solar Photovoltaic Basics, 2nd ed., Routledge, 2018, ISBN 9781138102866.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Sean White, Solar Photovoltaic Basics, 2nd ed., Routledge, 2018, ISBN 9781138102866.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PV102 as an advance in judgment, not a reset.</a:t>
            </a:r>
          </a:p>
          <a:p xmlns:a="http://schemas.openxmlformats.org/drawingml/2006/main">
            <a:r>
              <a:t>Sean White, Solar Photovoltaic Basics, 2nd ed., Routledge, 2018, ISBN 9781138102866.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Sean White, Solar Photovoltaic Basics, 2nd ed., Routledge, 2018, ISBN 9781138102866.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say the rule aloud before scenarios begin.</a:t>
            </a:r>
          </a:p>
          <a:p xmlns:a="http://schemas.openxmlformats.org/drawingml/2006/main">
            <a:r>
              <a:t>Sean White, Solar Photovoltaic Basics, 2nd ed., Routledge, 2018, ISBN 9781138102866.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Sean White, Solar Photovoltaic Basics, 2nd ed., Routledge, 2018, ISBN 9781138102866.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one familiar kit component as an example.</a:t>
            </a:r>
          </a:p>
          <a:p xmlns:a="http://schemas.openxmlformats.org/drawingml/2006/main">
            <a:r>
              <a:t>https://www.energy.gov/topics/solar-energy</a:t>
            </a:r>
          </a:p>
          <a:p xmlns:a="http://schemas.openxmlformats.org/drawingml/2006/main">
            <a:r>
              <a:t>https://www.eia.gov/energyexplained/solar/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https://www.energy.gov/topics/solar-energy</a:t>
            </a:r>
          </a:p>
          <a:p xmlns:a="http://schemas.openxmlformats.org/drawingml/2006/main">
            <a:r>
              <a:t>- https://www.eia.gov/energyexplained/solar/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for one real application of each architecture.</a:t>
            </a:r>
          </a:p>
          <a:p xmlns:a="http://schemas.openxmlformats.org/drawingml/2006/main">
            <a:r>
              <a:t>https://www.energy.gov/topics/solar-energy</a:t>
            </a:r>
          </a:p>
          <a:p xmlns:a="http://schemas.openxmlformats.org/drawingml/2006/main">
            <a:r>
              <a:t>https://www.eia.gov/energyexplained/solar/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https://www.energy.gov/topics/solar-energy</a:t>
            </a:r>
          </a:p>
          <a:p xmlns:a="http://schemas.openxmlformats.org/drawingml/2006/main">
            <a:r>
              <a:t>- https://www.eia.gov/energyexplained/solar/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outage behavior depends on the listed equipment and approved design.</a:t>
            </a:r>
          </a:p>
          <a:p xmlns:a="http://schemas.openxmlformats.org/drawingml/2006/main">
            <a:r>
              <a:t>https://www.energy.gov/topics/solar-energy</a:t>
            </a:r>
          </a:p>
          <a:p xmlns:a="http://schemas.openxmlformats.org/drawingml/2006/main">
            <a:r>
              <a:t>https://www.eia.gov/energyexplained/solar/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https://www.energy.gov/topics/solar-energy</a:t>
            </a:r>
          </a:p>
          <a:p xmlns:a="http://schemas.openxmlformats.org/drawingml/2006/main">
            <a:r>
              <a:t>- https://www.eia.gov/energyexplained/solar/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what the battery is being hired to do.</a:t>
            </a:r>
          </a:p>
          <a:p xmlns:a="http://schemas.openxmlformats.org/drawingml/2006/main">
            <a:r>
              <a:t>https://www.energy.gov/topics/solar-energy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https://www.energy.gov/topics/solar-energy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autonomy, weather, maintenance, and load discipline.</a:t>
            </a:r>
          </a:p>
          <a:p xmlns:a="http://schemas.openxmlformats.org/drawingml/2006/main">
            <a:r>
              <a:t>https://www.energy.gov/topics/solar-energy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https://www.energy.gov/topics/solar-energy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daytime pumping example.</a:t>
            </a:r>
          </a:p>
          <a:p xmlns:a="http://schemas.openxmlformats.org/drawingml/2006/main">
            <a:r>
              <a:t>https://www.eia.gov/energyexplained/solar/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https://www.eia.gov/energyexplained/solar/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promise savings; keep the focus on design inputs.</a:t>
            </a:r>
          </a:p>
          <a:p xmlns:a="http://schemas.openxmlformats.org/drawingml/2006/main">
            <a:r>
              <a:t>https://www.energy.gov/topics/solar-energy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https://www.energy.gov/topics/solar-energy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a trail counter with a critical communications load.</a:t>
            </a:r>
          </a:p>
          <a:p xmlns:a="http://schemas.openxmlformats.org/drawingml/2006/main">
            <a:r>
              <a:t>https://www.energy.gov/topics/solar-energy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https://www.energy.gov/topics/solar-energy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circle the constraint that could stop each scenario.</a:t>
            </a:r>
          </a:p>
          <a:p xmlns:a="http://schemas.openxmlformats.org/drawingml/2006/main">
            <a:r>
              <a:t>https://www.energy.gov/topics/solar-energy</a:t>
            </a:r>
          </a:p>
          <a:p xmlns:a="http://schemas.openxmlformats.org/drawingml/2006/main">
            <a:r>
              <a:t>https://www.eia.gov/energyexplained/solar/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https://www.energy.gov/topics/solar-energy</a:t>
            </a:r>
          </a:p>
          <a:p xmlns:a="http://schemas.openxmlformats.org/drawingml/2006/main">
            <a:r>
              <a:t>- https://www.eia.gov/energyexplained/solar/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Day 6 load analysis without doing the full calculation.</a:t>
            </a:r>
          </a:p>
          <a:p xmlns:a="http://schemas.openxmlformats.org/drawingml/2006/main">
            <a:r>
              <a:t>Sean White, Solar Photovoltaic Basics, 2nd ed., Routledge, 2018, ISBN 9781138102866.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Sean White, Solar Photovoltaic Basics, 2nd ed., Routledge, 2018, ISBN 9781138102866.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Day 2 site-assessment lesson.</a:t>
            </a:r>
          </a:p>
          <a:p xmlns:a="http://schemas.openxmlformats.org/drawingml/2006/main">
            <a:r>
              <a:t>https://www.energy.gov/topics/solar-energy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https://www.energy.gov/topics/solar-energy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Ask: what specific problem would justify storage here?</a:t>
            </a:r>
          </a:p>
          <a:p xmlns:a="http://schemas.openxmlformats.org/drawingml/2006/main">
            <a:r>
              <a:t>https://www.energy.gov/topics/solar-energy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https://www.energy.gov/topics/solar-energy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energized field work is authorized by this classroom exercise.</a:t>
            </a:r>
          </a:p>
          <a:p xmlns:a="http://schemas.openxmlformats.org/drawingml/2006/main">
            <a:r>
              <a:t>https://www.osha.gov/green-jobs/solar/electrical</a:t>
            </a:r>
          </a:p>
          <a:p xmlns:a="http://schemas.openxmlformats.org/drawingml/2006/main">
            <a:r>
              <a:t>https://www.osha.gov/green-jobs/solar/lockout-tagout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https://www.osha.gov/green-jobs/solar/electrical</a:t>
            </a:r>
          </a:p>
          <a:p xmlns:a="http://schemas.openxmlformats.org/drawingml/2006/main">
            <a:r>
              <a:t>- https://www.osha.gov/green-jobs/solar/lockout-tagout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three teams of two only after the acceptance criteria are clear.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CTS Cohort 6 instructional content; no external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With teams of two, one student may hold two roles, then swap.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CTS Cohort 6 instructional content; no external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Reject unexplained component lists. Require cause-and-effect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CTS Cohort 6 instructional content; no external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Likely direction: off-grid. Students must still identify unknowns.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CTS Cohort 6 instructional content; no external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Likely direction: hybrid. Require students to define essential loads.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CTS Cohort 6 instructional content; no external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Likely direction: PV-direct, subject to motor and controller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CTS Cohort 6 instructional content; no external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one answer from each team.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CTS Cohort 6 instructional content; no external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 an evidence statement, not a preference.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CTS Cohort 6 instructional content; no external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Day 2: site conditions and measured solar behavior.</a:t>
            </a:r>
          </a:p>
          <a:p xmlns:a="http://schemas.openxmlformats.org/drawingml/2006/main">
            <a:r>
              <a:t>https://www.energy.gov/topics/solar-energy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https://www.energy.gov/topics/solar-energy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326c90c92e4d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9a89c665243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74781c7afe4a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7a37d466d141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e16b070b04f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1f229a9c5494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175da909642a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28846b9d8436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e2f8d4d7af495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8b5e122f9c479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64881eb9d74a8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93B6B9-9916-47B6-A381-27EE4D2433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FF0ECDF-84E1-498D-9D0B-B84A6F9C92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8A646CE-4065-44F7-AF53-01D7A851C0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22D527-1898-49C3-964F-BA8BB9508A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F98C68B-694F-4037-AA3E-C19637E8F2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D1AE0A-026C-4B91-BAB7-FB357D6D32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B1B2EC4-1794-42D9-9559-B591EC4CA3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C4BFD40-455D-4BD5-8C84-C70F88EFD9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06B68A7-D248-41E0-8C52-FB1E4EFAC8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E52E07-E2A7-4EB5-89C8-929DBE62B5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ABE3A85-9974-4B7F-863B-7502736AD4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F3D5B35-9552-4939-A2D4-BDF6D366CD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7F7B70-4988-47F5-ACD5-189446B0A9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DE9C7B-DAFF-449A-A36E-CBEF870D2A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89B73D-D7F2-49DE-B9F3-BCCE43C29F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123E8B-6D6E-485C-8D24-83FB959EDC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B3C5780-E953-4EEE-BB1A-ADD54673EEC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0F01D01-5A00-4F02-BB99-F083450045B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1554AD4-31D4-414C-82B7-12CEDBC023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13FBEE3-4F09-43CE-9C3A-7DBE92B673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B98F2B2-9ED8-4B44-ABC6-A46BC850A8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44C922-4744-41FF-8911-8B46F7F010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8842A-B3FD-4820-B8E9-1E0B6B2EB4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0E38925-1571-4237-997F-E3E54FAC0E9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A9E26DD-9BFA-46B8-B12B-49EF4F2E1E2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0E63DE0-396B-44DC-94DC-36117B22B00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4137541-F56B-4089-B2C6-D989CEFF14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4C6E474-33BE-47CB-919C-718A0D089D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A243F4C-1336-4A53-8236-A75E72DA4C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B384CF-0306-45B3-96A9-E95C455556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B97A743-4EAE-4170-A48E-54EBA6D3AA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AFB3BCC-8EAC-491F-B4C3-12776B7E5C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026A58D-8076-4AA1-8DCD-7054496778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A5ADEC6-9922-4C2D-8D8A-8A5BD782EF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2FEAF41-F022-4AFD-AE95-26A043C0FB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EC79255-5D92-43F3-BAB6-5AA8DDF2EF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AF2387-5EFF-4836-BAA8-A6D63BC353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B147CA0-F771-417C-8F9A-609AEB08150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7D12F97-066E-4565-BC09-007EB2EBC5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840FEA2-9933-4123-90DC-B6E725D932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89F33A-1B16-4742-B2CE-9F13ED3FB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B41CB7F-A6F2-4FDB-A784-BE4D4ADA0F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DE1D66-F4D1-46FF-B2C3-DC052B61CB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25FF140-14CD-4680-A59D-F3B280338DF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3D132D2-2987-41DC-A4EF-AE735AC3FA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7FEBCC6-BF96-4016-AB0C-024D6CAA4B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5A89D06-B765-43D8-AD08-793A05B4F1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A1A3C7E-94E7-4905-97C3-9E97571EB4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74AFE0-1D04-4E2E-BC19-228391B751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B996292-5844-4E31-98CA-C1EBC89CC5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059A3F-0773-41B0-BD5A-C4BD14B741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60F92C-313F-4AC5-968E-4C077C1FE0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49CE14-9D9D-4C88-8DE8-97F8A31539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1053046-0C07-4B8E-82A0-5ED6B46110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D5CE05F-9C92-408E-B624-8E898226A6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08ABDC0-1DD7-42BF-8A3B-051CED418C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2B0FF2-0DD2-480D-A1B0-4AFF1AF480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44DE2E-3177-407C-A95F-9E485281C2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5175adf9774849" /><Relationship Type="http://schemas.openxmlformats.org/officeDocument/2006/relationships/slideLayout" Target="/ppt/slideLayouts/slideLayout1.xml" Id="R9c76ae8915684923" /><Relationship Type="http://schemas.openxmlformats.org/officeDocument/2006/relationships/slideLayout" Target="/ppt/slideLayouts/slideLayout2.xml" Id="R475dd2987fac4c5f" /><Relationship Type="http://schemas.openxmlformats.org/officeDocument/2006/relationships/slideLayout" Target="/ppt/slideLayouts/slideLayout3.xml" Id="Re5c6405aa4714196" /><Relationship Type="http://schemas.openxmlformats.org/officeDocument/2006/relationships/slideLayout" Target="/ppt/slideLayouts/slideLayout4.xml" Id="Rfc520effd1b44bd9" /><Relationship Type="http://schemas.openxmlformats.org/officeDocument/2006/relationships/slideLayout" Target="/ppt/slideLayouts/slideLayout5.xml" Id="R2fce168bd6814c89" /><Relationship Type="http://schemas.openxmlformats.org/officeDocument/2006/relationships/slideLayout" Target="/ppt/slideLayouts/slideLayout6.xml" Id="R884ea64fbf0e4816" /><Relationship Type="http://schemas.openxmlformats.org/officeDocument/2006/relationships/slideLayout" Target="/ppt/slideLayouts/slideLayout7.xml" Id="Rabbf0347b1db498e" /><Relationship Type="http://schemas.openxmlformats.org/officeDocument/2006/relationships/slideLayout" Target="/ppt/slideLayouts/slideLayout8.xml" Id="R9b13789704a64d78" /><Relationship Type="http://schemas.openxmlformats.org/officeDocument/2006/relationships/slideLayout" Target="/ppt/slideLayouts/slideLayout9.xml" Id="R95cb8f5c13454d9e" /><Relationship Type="http://schemas.openxmlformats.org/officeDocument/2006/relationships/slideLayout" Target="/ppt/slideLayouts/slideLayout10.xml" Id="Ra51d5db20c454292" /><Relationship Type="http://schemas.openxmlformats.org/officeDocument/2006/relationships/slideLayout" Target="/ppt/slideLayouts/slideLayout11.xml" Id="Rf9c5d3eee2ba48f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5C5FBC-A404-427B-9347-A733EE0BA2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230EF9E-A4F1-4A42-8AC3-E5A3163D88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6B5E856-F568-4E37-9762-CDC0B46619B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16AFA4-9FC0-4DE2-ACCF-3591F02C6A5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68D9A8-F492-4887-AA7B-50738C8F2E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76ae8915684923"/>
    <p:sldLayoutId xmlns:r="http://schemas.openxmlformats.org/officeDocument/2006/relationships" id="2147483650" r:id="R475dd2987fac4c5f"/>
    <p:sldLayoutId xmlns:r="http://schemas.openxmlformats.org/officeDocument/2006/relationships" id="2147483651" r:id="Re5c6405aa4714196"/>
    <p:sldLayoutId xmlns:r="http://schemas.openxmlformats.org/officeDocument/2006/relationships" id="2147483652" r:id="Rfc520effd1b44bd9"/>
    <p:sldLayoutId xmlns:r="http://schemas.openxmlformats.org/officeDocument/2006/relationships" id="2147483653" r:id="R2fce168bd6814c89"/>
    <p:sldLayoutId xmlns:r="http://schemas.openxmlformats.org/officeDocument/2006/relationships" id="2147483654" r:id="R884ea64fbf0e4816"/>
    <p:sldLayoutId xmlns:r="http://schemas.openxmlformats.org/officeDocument/2006/relationships" id="2147483655" r:id="Rabbf0347b1db498e"/>
    <p:sldLayoutId xmlns:r="http://schemas.openxmlformats.org/officeDocument/2006/relationships" id="2147483656" r:id="R9b13789704a64d78"/>
    <p:sldLayoutId xmlns:r="http://schemas.openxmlformats.org/officeDocument/2006/relationships" id="2147483657" r:id="R95cb8f5c13454d9e"/>
    <p:sldLayoutId xmlns:r="http://schemas.openxmlformats.org/officeDocument/2006/relationships" id="2147483658" r:id="Ra51d5db20c454292"/>
    <p:sldLayoutId xmlns:r="http://schemas.openxmlformats.org/officeDocument/2006/relationships" id="2147483659" r:id="Rf9c5d3eee2ba48fc"/>
  </p:sldLayoutIdLst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5c369ca248481d" /><Relationship Type="http://schemas.openxmlformats.org/officeDocument/2006/relationships/notesSlide" Target="/ppt/notesSlides/notesSlide1.xml" Id="R9924330e01fb46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9371a4ace14edb" /><Relationship Type="http://schemas.openxmlformats.org/officeDocument/2006/relationships/notesSlide" Target="/ppt/notesSlides/notesSlide2.xml" Id="R01f478e8a3914d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ac3267480d4876" /><Relationship Type="http://schemas.openxmlformats.org/officeDocument/2006/relationships/notesSlide" Target="/ppt/notesSlides/notesSlide3.xml" Id="R4e8887f58f2641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7c4e82cac148fa" /><Relationship Type="http://schemas.openxmlformats.org/officeDocument/2006/relationships/notesSlide" Target="/ppt/notesSlides/notesSlide4.xml" Id="Rfe565376edc748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52200f11914f20" /><Relationship Type="http://schemas.openxmlformats.org/officeDocument/2006/relationships/notesSlide" Target="/ppt/notesSlides/notesSlide5.xml" Id="R5bc2833fe0cd44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e24b1f5fee4a95" /><Relationship Type="http://schemas.openxmlformats.org/officeDocument/2006/relationships/notesSlide" Target="/ppt/notesSlides/notesSlide6.xml" Id="R483f7e861e8d49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0744aff73741fd" /><Relationship Type="http://schemas.openxmlformats.org/officeDocument/2006/relationships/notesSlide" Target="/ppt/notesSlides/notesSlide7.xml" Id="R7e60f6df83c940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fc32ccf7934b76" /><Relationship Type="http://schemas.openxmlformats.org/officeDocument/2006/relationships/notesSlide" Target="/ppt/notesSlides/notesSlide8.xml" Id="R8945f30fba484a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f7c7173aa04e6a" /><Relationship Type="http://schemas.openxmlformats.org/officeDocument/2006/relationships/notesSlide" Target="/ppt/notesSlides/notesSlide9.xml" Id="R5a02991c20e54a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15129797624991" /><Relationship Type="http://schemas.openxmlformats.org/officeDocument/2006/relationships/notesSlide" Target="/ppt/notesSlides/notesSlide10.xml" Id="R3d854114a27341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e131c0cb6c4708" /><Relationship Type="http://schemas.openxmlformats.org/officeDocument/2006/relationships/notesSlide" Target="/ppt/notesSlides/notesSlide11.xml" Id="R2d222d56752444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301f698db44ac4" /><Relationship Type="http://schemas.openxmlformats.org/officeDocument/2006/relationships/notesSlide" Target="/ppt/notesSlides/notesSlide12.xml" Id="Rcab338396e8b4f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e94a2cfc554203" /><Relationship Type="http://schemas.openxmlformats.org/officeDocument/2006/relationships/notesSlide" Target="/ppt/notesSlides/notesSlide13.xml" Id="R9a30ac3f893e46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12769be16e4223" /><Relationship Type="http://schemas.openxmlformats.org/officeDocument/2006/relationships/notesSlide" Target="/ppt/notesSlides/notesSlide14.xml" Id="Ra804eaa70d164c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e8f94211cb4bf2" /><Relationship Type="http://schemas.openxmlformats.org/officeDocument/2006/relationships/notesSlide" Target="/ppt/notesSlides/notesSlide15.xml" Id="R465da80369e0403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3d928435e7457a" /><Relationship Type="http://schemas.openxmlformats.org/officeDocument/2006/relationships/notesSlide" Target="/ppt/notesSlides/notesSlide16.xml" Id="R19ec3f21f8704cd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3d3ceb095a4989" /><Relationship Type="http://schemas.openxmlformats.org/officeDocument/2006/relationships/notesSlide" Target="/ppt/notesSlides/notesSlide17.xml" Id="R1eb86724713a493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927016014c4fcb" /><Relationship Type="http://schemas.openxmlformats.org/officeDocument/2006/relationships/notesSlide" Target="/ppt/notesSlides/notesSlide18.xml" Id="R8a8f7075f38540e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485e2066874690" /><Relationship Type="http://schemas.openxmlformats.org/officeDocument/2006/relationships/notesSlide" Target="/ppt/notesSlides/notesSlide19.xml" Id="Rff4e05e36d8844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c419891dc441f9" /><Relationship Type="http://schemas.openxmlformats.org/officeDocument/2006/relationships/notesSlide" Target="/ppt/notesSlides/notesSlide20.xml" Id="Rf12545dc107340c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b7a44af2ea45f4" /><Relationship Type="http://schemas.openxmlformats.org/officeDocument/2006/relationships/notesSlide" Target="/ppt/notesSlides/notesSlide21.xml" Id="R375954da027d458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f0d8ce61eb4a00" /><Relationship Type="http://schemas.openxmlformats.org/officeDocument/2006/relationships/notesSlide" Target="/ppt/notesSlides/notesSlide22.xml" Id="R80c8674bb62c4e2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b30f502ee6f49bf" /><Relationship Type="http://schemas.openxmlformats.org/officeDocument/2006/relationships/notesSlide" Target="/ppt/notesSlides/notesSlide23.xml" Id="R0a27a8fd0ef34ca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00a0d309554574" /><Relationship Type="http://schemas.openxmlformats.org/officeDocument/2006/relationships/notesSlide" Target="/ppt/notesSlides/notesSlide24.xml" Id="R0dce9f971ecc491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f865aad487a4c99" /><Relationship Type="http://schemas.openxmlformats.org/officeDocument/2006/relationships/notesSlide" Target="/ppt/notesSlides/notesSlide25.xml" Id="R2d96cae8c97848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FE07BC8-B957-45EB-B8AF-5F3BCDC6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6375DB4-56DA-493F-8A25-7C22FB7A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8624C0C-B417-445B-9699-DBD09328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PV102 Day 1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A41DA375-983F-49E7-8DF6-BEBD98D0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Applications and Design Decisions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A3AB43C-46CF-4FE3-B9EC-916396B4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15114073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C203FB-2665-4AB0-807B-384481FE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A822F1D-F7A4-477C-9B39-453CBEBE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B51D79A-1F0F-403C-9EDF-3626FCD8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200" b="1">
                <a:solidFill>
                  <a:srgbClr val="163049"/>
                </a:solidFill>
              </a:defRPr>
            </a:pPr>
            <a:r>
              <a:t>PV102 begins where PV101 ended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654C266-6D45-41A9-88BD-685DB957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PV101 built the system. PV102 decides which system belongs in the job.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DC45480-531A-4BC2-93B7-8862038E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13118230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E8517D4-C81B-418E-A15E-9D994EEE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23AB915-3D4C-46C8-AED2-528296CA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7A331BB-26D4-43BA-AC1A-61AB61EE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Today's rule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2CB7B84-BCE4-4D1E-AFD2-E1C562C0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Start with the load, the site, and the operating need.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74B06B6-9E90-48C9-A752-60A27D1E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827771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FB3B5E1-87A8-46AD-B879-44A60906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5F61C7F-CCD4-41F8-9438-AF79D1DD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4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0168D23-FD8A-4DE6-BB9F-8B841D3C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A correct part can still make the wrong system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F9E2510-B99E-4FEF-B265-B0A70DBA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Architecture must fit the job, not just the available equipment.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C4518BD-B014-43E0-BF60-5839B532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10102904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5C392F9-7EC5-46F6-9A91-D27DB3E3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6D481F9-41D6-47D1-8435-AC03C1F5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5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8FFBC6C-62BB-4D5E-BE37-DB9C1227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Four common PV architectures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7E580D9-4D05-4F8F-837D-16A4A8C2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Grid-tied. Hybrid. Off-grid. PV-direct.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293DC67-195F-46FA-919F-9E8C9B32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15052174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E398E74-46A8-4012-BC89-5ACB6BA8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5AFE5F5-3F94-4B4E-BC99-2C94597B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6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EB7F338-E8A5-4AAB-B698-14D74C99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Grid-tied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8CEF0B2C-9978-400E-A52B-40A2A6F5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PV serves loads through an interconnected utility system.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E52FB8B-3153-4405-B666-112A9617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781493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017A88D-83ED-4C65-861C-1244211B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4758EBF-8ECA-4918-B70C-8DEF8FC1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7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999D990-520B-4327-8387-565B44E9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Hybrid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5585DAC-2D7E-4875-85B4-1642FC24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E293B"/>
                </a:solidFill>
              </a:defRPr>
            </a:pPr>
            <a:r>
              <a:t>PV, storage, and the grid work together for selected goals.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0D8B772-35F1-4119-80A8-4C85A174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2816457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A4D5E58-E6D5-45A1-84BA-26AB18B7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E39FF1-6EF0-4194-A8FF-EF846188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8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89F2154-761D-47C8-903B-51D02FCD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Off-grid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53DDE61-B883-4F1C-AB63-4B19CBCB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The system must carry its loads without utility support.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89718D3-F10A-4C9B-BFF8-9BCFC229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9904638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D75A2D2-B2DB-4085-A0AA-C7D7F8A6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1A34B5C-60EC-44D2-9771-29A841E0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9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FD85B0B-62BC-4AF2-A517-FAF85B37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PV-direct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F5C0AB3-7A62-4306-AD81-E6D6FBB7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The load runs when solar power is available; storage may be unnecessary.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48DA011-70C5-4E02-A1F4-6627A6EE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5906212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5692DDE-60D1-4777-89A3-A2DB4559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17D1769-A290-4920-9D42-3B9851B1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10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F66B026-D3F6-4B1C-9DD6-C096FF0B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Residential and commercial applications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AC4C12D9-26EE-4767-B5B5-3D706DF5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Bill reduction, resilience, available space, rules, and maintenance shape the design.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03AC10E-8674-4360-9385-DB67B80D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9695603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39A8EB8-6CBB-4DA0-9A33-93A27418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7FC52C0-D175-4DAB-A7F6-AD026B2C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11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5C33141-8AD0-49B2-BDFE-F7460EDE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Remote and critical loads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FB2CBC7-C5B5-4D17-A779-E22543BC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Reliability, access, weather, storage, and serviceability become dominant constraints.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7B53DC6-60D7-4014-859B-874C8424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17269675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46C1A5B-E3B8-4EA6-990A-DD6DB89C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45A21BB-D1CC-4293-B502-A75CEDB8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12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31CE4A6-3C18-462C-8A59-18169B0B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Constraints are design inputs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A02BCAF3-3108-4952-AD99-11DD058D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Load. Solar resource. Shade. Space. Budget. Access. Maintenance. Rules.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E5019C9-9E59-43C2-B5B8-0F8E151A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14727969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FDEE5E3-ABCD-40F5-B1D6-ED355960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F99A29-9D5D-4739-809C-5D7A833C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13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AAD36F1-8F19-4DF1-82F1-F580DCB9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Start with the load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823C623-D0CE-4784-98EE-45B6AEE8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What must run? How many watts? For how long? What starts hard?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9AF6AB4-EDC7-4800-81D2-4704C153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2261991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76DE40F-D5C6-4834-BAFA-EEB454E7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827D925-8D81-4CB6-B0D8-FC42BD18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14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6D2700E-0D35-43C0-8E7E-39388D61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The site changes the answer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27E743B-933C-40DC-B4B2-24ED2703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1E293B"/>
                </a:solidFill>
              </a:defRPr>
            </a:pPr>
            <a:r>
              <a:t>Sun, shade, orientation, weather, space, and access change system performance.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6C90EAC-914E-40CC-B867-C6D1870C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13986565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6965F4-DAD3-4BE7-BFC3-1F4F9F44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DBFF979-1A58-4EFC-BC9D-DD91EC08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15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DD73BA8-7A83-47B3-A3E5-B08CB958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Storage solves a job and creates new jobs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56A010E-AA6B-46F0-B08C-E085A153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Batteries add capability, cost, weight, controls, losses, and maintenance.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8EC0CE5-7CF6-4FE9-9308-A7B0E235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499345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78D810-753F-4CAF-AB81-32873997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50EBE6E-D905-4C44-A3FC-EB66B50D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16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1E107F7-1C06-4BDB-BDB9-C450F405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Protection belongs in the design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86D3F90-59AA-417C-87D9-8C0188CE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Isolation, overcurrent protection, labeling, and verified boundaries are not extras.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76A42C-5FE0-4F3C-B6B5-4BA88F90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374871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82930AE-7765-4BE2-B2C3-7AB352C5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CE13740-453F-4AD2-9EC7-8808C0C8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17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3ED76DF-3B53-42FE-869E-B36B8E6C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Today's challenge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CF7DF39-C29D-497F-830B-19BC0070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Choose the architecture, map the energy path, and defend the decision.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4189D4C-1A4F-4AE9-895C-CBF1EC62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13627465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C07B764-D647-40C7-95A9-AF239DF4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2C000CC-BBB1-48C5-930E-62124757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18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87DAAF1-E3C0-4CCA-801C-F522BEE9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Team roles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8CE02E14-E854-401A-A6D7-8F0E1601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Designer. Verifier. Recorder and handoff lead. Rotate after each scenario.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77F0605-BA7E-486B-B542-A80F2FF9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367858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5EBF390-163E-40BB-A39F-69134F93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79A97F-5962-40CA-9D4D-62386E76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19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60E9FE9-2874-4A21-940B-E5FD89BE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Acceptance criteria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D1CD425-5BA9-4223-9B06-AB3380E8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Match the need. Show the path. Name the constraint. State the safety boundary.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BD75925-A0FB-4B4C-96BF-21A29172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7460833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2471E38-779D-4623-A641-BA87E5A0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CBF8BC4-0435-4CEF-A768-49430370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20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F0D1A21-7CDC-4340-B851-2FEBC03B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Scenario 1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4840C8B-B6BD-4A03-9690-FE517B9C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A remote trail counter needs year-round power where no utility exists.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728C364-B394-4163-95DE-23A2AB02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3613525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0448322-8E3C-446D-A1BC-533F66F1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F60A80F-3A6A-4848-B6EB-333D7758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21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D03FAD9-846C-4F0D-A7ED-C620950E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Scenario 2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66CC643-F183-45BF-A6A1-B5B38F83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A shop wants bill reduction and limited backup for essential loads.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96D2B1C-E4DD-4DF7-AD09-04248253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11386987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93EE70-B70D-42CF-B68A-7D167D67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492B82D-FF68-43DC-A3B1-0B8EE6E6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22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C31F528-6F11-4FFC-9A76-995F948F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Scenario 3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E1209B8-DBFD-431C-8612-ED13C3E5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A water pump only needs to run when strong sunlight is available.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5BBF61D-27E2-4D41-A3CA-37B74377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158824244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DF20444-8EE5-4125-920E-0999AF2B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2CFFAE5-7D31-4DC3-BF67-9F21B85A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23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A48DD7D-3B32-4EE8-9FCF-FF267D37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Debrief question 1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8D3A875-F07A-43DF-8E6E-D4822191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Which operating need changed your architecture choice?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91EFFC5-55CA-4CB3-ABE2-D9A7C3E7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8982129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22FE86-7683-480C-805B-2466B2DE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CDC421B-6014-46A7-AF9E-D6B341BC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24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69595D4-E1B1-4264-BCB2-80C22DAD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Debrief question 2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CFB47E6-0EDA-4E97-9C45-D127C297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Which constraint mattered most, and what evidence supports that claim?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94CBADD-7062-4170-AB03-C5498CA0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13016034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DA7A022-51B7-4BCB-A76D-73BA6FAD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495E442-5DD5-4813-88F4-6C98F969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8912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770"/>
                </a:solidFill>
              </a:rPr>
              <a:t>PV102 Day 01 | Monday, August 3, 2026 | Slide 25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0F0F552-2DE8-46FD-8FD4-53905DBA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06984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800" b="1">
                <a:solidFill>
                  <a:srgbClr val="163049"/>
                </a:solidFill>
              </a:defRPr>
            </a:pPr>
            <a:r>
              <a:t>Close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4C30D50-BCB5-42FB-A167-901B740E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106527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1D3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56032" tIns="164592" rIns="256032" anchor="ctr"/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1E293B"/>
                </a:solidFill>
              </a:defRPr>
            </a:pPr>
            <a:r>
              <a:t>The best PV system is the one matched to its real job.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FDB87D1-6F56-4235-B501-1ED34718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770"/>
                </a:solidFill>
              </a:rPr>
              <a:t>Professionals match systems to real needs.</a:t>
            </a:r>
          </a:p>
        </p:txBody>
      </p:sp>
    </p:spTree>
    <p:extLst>
      <p:ext uri="{BB962C8B-B14F-4D97-AF65-F5344CB8AC3E}">
        <p14:creationId xmlns:p14="http://schemas.microsoft.com/office/powerpoint/2010/main" val="7058391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2026-07-27T20:56:30.0470000Z</dcterms:created>
  <dcterms:modified xsi:type="dcterms:W3CDTF">2026-07-27T20:56:30.0470000Z</dcterms:modified>
</coreProperties>
</file>