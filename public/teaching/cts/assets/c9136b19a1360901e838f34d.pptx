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943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3C5FD"/>
                </a:solidFill>
              </a:rPr>
              <a:t>PV101 DAY 5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676656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Commissioning, Protection</a:t>
            </a:r>
          </a:p>
          <a:p>
            <a:r>
              <a:t>&amp; Fault Finding</a:t>
            </a:r>
          </a:p>
        </p:txBody>
      </p:sp>
      <p:sp>
        <p:nvSpPr>
          <p:cNvPr id="4" name="Text 2"/>
          <p:cNvSpPr/>
          <p:nvPr/>
        </p:nvSpPr>
        <p:spPr>
          <a:xfrm>
            <a:off x="685800" y="26060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Monday, July 13, 2026 | CTS Cohort 6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68680" y="3977640"/>
            <a:ext cx="1417320" cy="640080"/>
          </a:xfrm>
          <a:prstGeom prst="roundRect">
            <a:avLst>
              <a:gd name="adj" fmla="val 7143"/>
            </a:avLst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78408" y="4059936"/>
            <a:ext cx="1197864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PV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971800" y="3977640"/>
            <a:ext cx="1417320" cy="640080"/>
          </a:xfrm>
          <a:prstGeom prst="roundRect">
            <a:avLst>
              <a:gd name="adj" fmla="val 7143"/>
            </a:avLst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081528" y="4059936"/>
            <a:ext cx="1197864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Controller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40680" y="3977640"/>
            <a:ext cx="1417320" cy="640080"/>
          </a:xfrm>
          <a:prstGeom prst="roundRect">
            <a:avLst>
              <a:gd name="adj" fmla="val 7143"/>
            </a:avLst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550408" y="4059936"/>
            <a:ext cx="1197864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Battery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818120" y="3977640"/>
            <a:ext cx="1417320" cy="640080"/>
          </a:xfrm>
          <a:prstGeom prst="roundRect">
            <a:avLst>
              <a:gd name="adj" fmla="val 7143"/>
            </a:avLst>
          </a:prstGeom>
          <a:solidFill>
            <a:srgbClr val="FCA5A5"/>
          </a:solidFill>
          <a:ln w="12700">
            <a:solidFill>
              <a:srgbClr val="FCA5A5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927848" y="4059936"/>
            <a:ext cx="1197864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Fuse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012680" y="3977640"/>
            <a:ext cx="1417320" cy="640080"/>
          </a:xfrm>
          <a:prstGeom prst="roundRect">
            <a:avLst>
              <a:gd name="adj" fmla="val 7143"/>
            </a:avLst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0122408" y="4059936"/>
            <a:ext cx="1197864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Load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313432" y="4297680"/>
            <a:ext cx="585216" cy="0"/>
          </a:xfrm>
          <a:prstGeom prst="line">
            <a:avLst/>
          </a:prstGeom>
          <a:noFill/>
          <a:ln w="25400">
            <a:solidFill>
              <a:srgbClr val="93C5FD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416552" y="4297680"/>
            <a:ext cx="950976" cy="0"/>
          </a:xfrm>
          <a:prstGeom prst="line">
            <a:avLst/>
          </a:prstGeom>
          <a:noFill/>
          <a:ln w="25400">
            <a:solidFill>
              <a:srgbClr val="93C5FD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885432" y="4297680"/>
            <a:ext cx="859536" cy="0"/>
          </a:xfrm>
          <a:prstGeom prst="line">
            <a:avLst/>
          </a:prstGeom>
          <a:noFill/>
          <a:ln w="25400">
            <a:solidFill>
              <a:srgbClr val="93C5FD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9262872" y="4297680"/>
            <a:ext cx="676656" cy="0"/>
          </a:xfrm>
          <a:prstGeom prst="line">
            <a:avLst/>
          </a:prstGeom>
          <a:noFill/>
          <a:ln w="25400">
            <a:solidFill>
              <a:srgbClr val="93C5FD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68680" y="498348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2E8F0"/>
                </a:solidFill>
              </a:rPr>
              <a:t>Verify the path before you energize it.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Today’s job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772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Use yesterday’s completed build as a system to inspect, prove, protect, and troubleshoot.</a:t>
            </a:r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115568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651052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7777"/>
                </a:solidFill>
              </a:rPr>
              <a:t>CTS Cohort 6 | PV101 Day 5 | 2026-07-13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2377440" cy="914400"/>
          </a:xfrm>
          <a:prstGeom prst="roundRect">
            <a:avLst>
              <a:gd name="adj" fmla="val 5000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41248" y="1499616"/>
            <a:ext cx="2157984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</a:rPr>
              <a:t>Power path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566160" y="1417320"/>
            <a:ext cx="2377440" cy="914400"/>
          </a:xfrm>
          <a:prstGeom prst="roundRect">
            <a:avLst>
              <a:gd name="adj" fmla="val 5000"/>
            </a:avLst>
          </a:prstGeom>
          <a:solidFill>
            <a:srgbClr val="FDE9D9"/>
          </a:solidFill>
          <a:ln w="12700">
            <a:solidFill>
              <a:srgbClr val="FDE9D9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675888" y="1499616"/>
            <a:ext cx="2157984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</a:rPr>
              <a:t>Protection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400800" y="1417320"/>
            <a:ext cx="2377440" cy="914400"/>
          </a:xfrm>
          <a:prstGeom prst="roundRect">
            <a:avLst>
              <a:gd name="adj" fmla="val 5000"/>
            </a:avLst>
          </a:prstGeom>
          <a:solidFill>
            <a:srgbClr val="E2F0D9"/>
          </a:solidFill>
          <a:ln w="12700">
            <a:solidFill>
              <a:srgbClr val="E2F0D9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510528" y="1499616"/>
            <a:ext cx="2157984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</a:rPr>
              <a:t>Measurement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9235440" y="1417320"/>
            <a:ext cx="2377440" cy="914400"/>
          </a:xfrm>
          <a:prstGeom prst="roundRect">
            <a:avLst>
              <a:gd name="adj" fmla="val 5000"/>
            </a:avLst>
          </a:prstGeom>
          <a:solidFill>
            <a:srgbClr val="E4DFEC"/>
          </a:solidFill>
          <a:ln w="12700">
            <a:solidFill>
              <a:srgbClr val="E4DFEC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345168" y="1499616"/>
            <a:ext cx="2157984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</a:rPr>
              <a:t>Serviceability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127248" y="1874520"/>
            <a:ext cx="393192" cy="0"/>
          </a:xfrm>
          <a:prstGeom prst="line">
            <a:avLst/>
          </a:prstGeom>
          <a:noFill/>
          <a:ln w="25400">
            <a:solidFill>
              <a:srgbClr val="1F4E79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5961888" y="1874520"/>
            <a:ext cx="393192" cy="0"/>
          </a:xfrm>
          <a:prstGeom prst="line">
            <a:avLst/>
          </a:prstGeom>
          <a:noFill/>
          <a:ln w="25400">
            <a:solidFill>
              <a:srgbClr val="1F4E79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8796528" y="1874520"/>
            <a:ext cx="393192" cy="0"/>
          </a:xfrm>
          <a:prstGeom prst="line">
            <a:avLst/>
          </a:prstGeom>
          <a:noFill/>
          <a:ln w="25400">
            <a:solidFill>
              <a:srgbClr val="1F4E79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14400" y="2788920"/>
            <a:ext cx="10515600" cy="2194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</a:rPr>
              <a:t>Students must identify where current can come from.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</a:rPr>
              <a:t>Fuses protect wires from too much current.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</a:rPr>
              <a:t>Every important claim gets verified with a meter.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</a:rPr>
              <a:t>The final build should make sense to a tired future technician.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four numbers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772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</a:rPr>
              <a:t>A small system is easier when students can translate the electrical language.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115568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1052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7777"/>
                </a:solidFill>
              </a:rPr>
              <a:t>CTS Cohort 6 | PV101 Day 5 | 2026-07-13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2148840" cy="502920"/>
          </a:xfrm>
          <a:prstGeom prst="roundRect">
            <a:avLst>
              <a:gd name="adj" fmla="val 9091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499616"/>
            <a:ext cx="192938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Voltage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2057400"/>
            <a:ext cx="2148840" cy="685800"/>
          </a:xfrm>
          <a:prstGeom prst="roundRect">
            <a:avLst>
              <a:gd name="adj" fmla="val 6667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139696"/>
            <a:ext cx="1929384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</a:rPr>
              <a:t>V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731520" y="2880360"/>
            <a:ext cx="214884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962656"/>
            <a:ext cx="1929384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</a:rPr>
              <a:t>Electrical pressure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566160" y="1417320"/>
            <a:ext cx="2148840" cy="502920"/>
          </a:xfrm>
          <a:prstGeom prst="roundRect">
            <a:avLst>
              <a:gd name="adj" fmla="val 9091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75888" y="1499616"/>
            <a:ext cx="192938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Current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566160" y="2057400"/>
            <a:ext cx="2148840" cy="685800"/>
          </a:xfrm>
          <a:prstGeom prst="roundRect">
            <a:avLst>
              <a:gd name="adj" fmla="val 6667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75888" y="2139696"/>
            <a:ext cx="1929384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</a:rPr>
              <a:t>A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3566160" y="2880360"/>
            <a:ext cx="214884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75888" y="2962656"/>
            <a:ext cx="1929384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</a:rPr>
              <a:t>Flow of charge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00800" y="1417320"/>
            <a:ext cx="2148840" cy="502920"/>
          </a:xfrm>
          <a:prstGeom prst="roundRect">
            <a:avLst>
              <a:gd name="adj" fmla="val 9091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10528" y="1499616"/>
            <a:ext cx="192938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Power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400800" y="2057400"/>
            <a:ext cx="2148840" cy="685800"/>
          </a:xfrm>
          <a:prstGeom prst="roundRect">
            <a:avLst>
              <a:gd name="adj" fmla="val 6667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10528" y="2139696"/>
            <a:ext cx="1929384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</a:rPr>
              <a:t>W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6400800" y="2880360"/>
            <a:ext cx="214884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10528" y="2962656"/>
            <a:ext cx="1929384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</a:rPr>
              <a:t>Work being done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235440" y="1417320"/>
            <a:ext cx="2148840" cy="502920"/>
          </a:xfrm>
          <a:prstGeom prst="roundRect">
            <a:avLst>
              <a:gd name="adj" fmla="val 9091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45168" y="1499616"/>
            <a:ext cx="192938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Resistance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9235440" y="2057400"/>
            <a:ext cx="2148840" cy="685800"/>
          </a:xfrm>
          <a:prstGeom prst="roundRect">
            <a:avLst>
              <a:gd name="adj" fmla="val 6667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45168" y="2139696"/>
            <a:ext cx="1929384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9"/>
                </a:solidFill>
              </a:rPr>
              <a:t>Ω</a:t>
            </a:r>
            <a:endParaRPr lang="en-US" sz="2800" dirty="0"/>
          </a:p>
        </p:txBody>
      </p:sp>
      <p:sp>
        <p:nvSpPr>
          <p:cNvPr id="28" name="Shape 26"/>
          <p:cNvSpPr/>
          <p:nvPr/>
        </p:nvSpPr>
        <p:spPr>
          <a:xfrm>
            <a:off x="9235440" y="2880360"/>
            <a:ext cx="214884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345168" y="2962656"/>
            <a:ext cx="1929384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</a:rPr>
              <a:t>Opposition to flow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063240" y="4663440"/>
            <a:ext cx="6126480" cy="731520"/>
          </a:xfrm>
          <a:prstGeom prst="roundRect">
            <a:avLst>
              <a:gd name="adj" fmla="val 6250"/>
            </a:avLst>
          </a:prstGeom>
          <a:solidFill>
            <a:srgbClr val="FFF2CC"/>
          </a:solidFill>
          <a:ln w="12700">
            <a:solidFill>
              <a:srgbClr val="FFF2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172968" y="4745736"/>
            <a:ext cx="5907024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Power formula:  P = V × A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3429000" y="54864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Example: 12.8 V × 5 A = 64 W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Series vs. parallel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772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</a:rPr>
              <a:t>Ask students to predict first, then prove it.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115568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1052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7777"/>
                </a:solidFill>
              </a:rPr>
              <a:t>CTS Cohort 6 | PV101 Day 5 | 2026-07-13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</a:rPr>
              <a:t>Series: voltage adds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05840" y="1965960"/>
            <a:ext cx="1188720" cy="502920"/>
          </a:xfrm>
          <a:prstGeom prst="roundRect">
            <a:avLst>
              <a:gd name="adj" fmla="val 9091"/>
            </a:avLst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2048256"/>
            <a:ext cx="96926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</a:rPr>
              <a:t>12 V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240280" y="2221992"/>
            <a:ext cx="594360" cy="0"/>
          </a:xfrm>
          <a:prstGeom prst="line">
            <a:avLst/>
          </a:prstGeom>
          <a:noFill/>
          <a:ln w="25400">
            <a:solidFill>
              <a:srgbClr val="1F4E79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880360" y="1965960"/>
            <a:ext cx="1188720" cy="502920"/>
          </a:xfrm>
          <a:prstGeom prst="roundRect">
            <a:avLst>
              <a:gd name="adj" fmla="val 9091"/>
            </a:avLst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90088" y="2048256"/>
            <a:ext cx="96926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</a:rPr>
              <a:t>12 V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114800" y="2221992"/>
            <a:ext cx="640080" cy="0"/>
          </a:xfrm>
          <a:prstGeom prst="line">
            <a:avLst/>
          </a:prstGeom>
          <a:noFill/>
          <a:ln w="25400">
            <a:solidFill>
              <a:srgbClr val="1F4E79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800600" y="1874520"/>
            <a:ext cx="1554480" cy="685800"/>
          </a:xfrm>
          <a:prstGeom prst="roundRect">
            <a:avLst>
              <a:gd name="adj" fmla="val 6667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0328" y="1956816"/>
            <a:ext cx="1335024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</a:rPr>
              <a:t>24 V path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51560" y="2971800"/>
            <a:ext cx="438912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Same path for current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One weak part affects the whole string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" y="397764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</a:rPr>
              <a:t>Parallel: voltage stays, current capacity increases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1005840" y="4663440"/>
            <a:ext cx="1188720" cy="502920"/>
          </a:xfrm>
          <a:prstGeom prst="roundRect">
            <a:avLst>
              <a:gd name="adj" fmla="val 9091"/>
            </a:avLst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15568" y="4745736"/>
            <a:ext cx="96926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</a:rPr>
              <a:t>12 V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05840" y="5486400"/>
            <a:ext cx="1188720" cy="502920"/>
          </a:xfrm>
          <a:prstGeom prst="roundRect">
            <a:avLst>
              <a:gd name="adj" fmla="val 9091"/>
            </a:avLst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15568" y="5568696"/>
            <a:ext cx="96926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</a:rPr>
              <a:t>12 V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2240280" y="4919472"/>
            <a:ext cx="1005840" cy="0"/>
          </a:xfrm>
          <a:prstGeom prst="line">
            <a:avLst/>
          </a:prstGeom>
          <a:noFill/>
          <a:ln w="25400">
            <a:solidFill>
              <a:srgbClr val="1F4E79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2240280" y="5742432"/>
            <a:ext cx="1005840" cy="0"/>
          </a:xfrm>
          <a:prstGeom prst="line">
            <a:avLst/>
          </a:prstGeom>
          <a:noFill/>
          <a:ln w="25400">
            <a:solidFill>
              <a:srgbClr val="1F4E79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337560" y="4892040"/>
            <a:ext cx="1920240" cy="868680"/>
          </a:xfrm>
          <a:prstGeom prst="roundRect">
            <a:avLst>
              <a:gd name="adj" fmla="val 5263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47288" y="4974336"/>
            <a:ext cx="1700784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</a:rPr>
              <a:t>12 V bus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</a:rPr>
              <a:t>more available current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766560" y="2011680"/>
            <a:ext cx="4389120" cy="1234440"/>
          </a:xfrm>
          <a:prstGeom prst="roundRect">
            <a:avLst>
              <a:gd name="adj" fmla="val 3704"/>
            </a:avLst>
          </a:prstGeom>
          <a:solidFill>
            <a:srgbClr val="E2F0D9"/>
          </a:solidFill>
          <a:ln w="12700">
            <a:solidFill>
              <a:srgbClr val="E2F0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76288" y="2093976"/>
            <a:ext cx="4169664" cy="1069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22222"/>
                </a:solidFill>
              </a:rPr>
              <a:t>Classroom sentence: series changes voltage, parallel keeps voltage common.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Fuse logic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772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</a:rPr>
              <a:t>A fuse protects the conductor from the source. It is not a magic device shield.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115568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1052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7777"/>
                </a:solidFill>
              </a:rPr>
              <a:t>CTS Cohort 6 | PV101 Day 5 | 2026-07-13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822960" y="2057400"/>
            <a:ext cx="1508760" cy="822960"/>
          </a:xfrm>
          <a:prstGeom prst="roundRect">
            <a:avLst>
              <a:gd name="adj" fmla="val 5556"/>
            </a:avLst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2139696"/>
            <a:ext cx="128930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</a:rPr>
              <a:t>Battery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</a:rPr>
              <a:t>source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43200" y="2057400"/>
            <a:ext cx="1325880" cy="822960"/>
          </a:xfrm>
          <a:prstGeom prst="roundRect">
            <a:avLst>
              <a:gd name="adj" fmla="val 5556"/>
            </a:avLst>
          </a:prstGeom>
          <a:solidFill>
            <a:srgbClr val="FCA5A5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52928" y="2139696"/>
            <a:ext cx="110642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</a:rPr>
              <a:t>Fuse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</a:rPr>
              <a:t>near +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0" y="2057400"/>
            <a:ext cx="1828800" cy="822960"/>
          </a:xfrm>
          <a:prstGeom prst="roundRect">
            <a:avLst>
              <a:gd name="adj" fmla="val 5556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81728" y="2139696"/>
            <a:ext cx="160934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</a:rPr>
              <a:t>Wire run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903720" y="2057400"/>
            <a:ext cx="1828800" cy="822960"/>
          </a:xfrm>
          <a:prstGeom prst="roundRect">
            <a:avLst>
              <a:gd name="adj" fmla="val 5556"/>
            </a:avLst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13448" y="2139696"/>
            <a:ext cx="160934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</a:rPr>
              <a:t>Inverter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</a:rPr>
              <a:t>or load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359152" y="2468880"/>
            <a:ext cx="338328" cy="0"/>
          </a:xfrm>
          <a:prstGeom prst="line">
            <a:avLst/>
          </a:prstGeom>
          <a:noFill/>
          <a:ln w="25400">
            <a:solidFill>
              <a:srgbClr val="1F4E79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096512" y="2468880"/>
            <a:ext cx="429768" cy="0"/>
          </a:xfrm>
          <a:prstGeom prst="line">
            <a:avLst/>
          </a:prstGeom>
          <a:noFill/>
          <a:ln w="25400">
            <a:solidFill>
              <a:srgbClr val="1F4E79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419088" y="2468880"/>
            <a:ext cx="438912" cy="0"/>
          </a:xfrm>
          <a:prstGeom prst="line">
            <a:avLst/>
          </a:prstGeom>
          <a:noFill/>
          <a:ln w="25400">
            <a:solidFill>
              <a:srgbClr val="1F4E79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828800" y="3794760"/>
            <a:ext cx="7863840" cy="822960"/>
          </a:xfrm>
          <a:prstGeom prst="roundRect">
            <a:avLst>
              <a:gd name="adj" fmla="val 5556"/>
            </a:avLst>
          </a:prstGeom>
          <a:solidFill>
            <a:srgbClr val="FFF2CC"/>
          </a:solidFill>
          <a:ln w="12700">
            <a:solidFill>
              <a:srgbClr val="FFF2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38528" y="3877056"/>
            <a:ext cx="764438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222222"/>
                </a:solidFill>
              </a:rPr>
              <a:t>If the wire shorts before the fuse, the fuse cannot help. Humanity learns this repeatedly.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2057400" y="4892040"/>
            <a:ext cx="758952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Place the fuse close to battery positive.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Fuse size must match the wire and expected load.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Stop and inspect if heat, smell, sparks, or weird readings appear.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Wire sizing and voltage drop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772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</a:rPr>
              <a:t>The wire is part of the system, not just a thing that connects the system.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115568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1052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7777"/>
                </a:solidFill>
              </a:rPr>
              <a:t>CTS Cohort 6 | PV101 Day 5 | 2026-07-13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822960" y="1417320"/>
            <a:ext cx="2103120" cy="685800"/>
          </a:xfrm>
          <a:prstGeom prst="roundRect">
            <a:avLst>
              <a:gd name="adj" fmla="val 6667"/>
            </a:avLst>
          </a:prstGeom>
          <a:solidFill>
            <a:srgbClr val="F4B183"/>
          </a:solidFill>
          <a:ln w="12700">
            <a:solidFill>
              <a:srgbClr val="F4B18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499616"/>
            <a:ext cx="1883664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</a:rPr>
              <a:t>More current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383280" y="1417320"/>
            <a:ext cx="2103120" cy="685800"/>
          </a:xfrm>
          <a:prstGeom prst="roundRect">
            <a:avLst>
              <a:gd name="adj" fmla="val 6667"/>
            </a:avLst>
          </a:prstGeom>
          <a:solidFill>
            <a:srgbClr val="F4B183"/>
          </a:solidFill>
          <a:ln w="12700">
            <a:solidFill>
              <a:srgbClr val="F4B18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93008" y="1499616"/>
            <a:ext cx="1883664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</a:rPr>
              <a:t>Longer run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943600" y="1417320"/>
            <a:ext cx="2103120" cy="685800"/>
          </a:xfrm>
          <a:prstGeom prst="roundRect">
            <a:avLst>
              <a:gd name="adj" fmla="val 6667"/>
            </a:avLst>
          </a:prstGeom>
          <a:solidFill>
            <a:srgbClr val="F4B183"/>
          </a:solidFill>
          <a:ln w="12700">
            <a:solidFill>
              <a:srgbClr val="F4B18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53328" y="1499616"/>
            <a:ext cx="1883664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</a:rPr>
              <a:t>Smaller wire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503920" y="1417320"/>
            <a:ext cx="2468880" cy="685800"/>
          </a:xfrm>
          <a:prstGeom prst="roundRect">
            <a:avLst>
              <a:gd name="adj" fmla="val 6667"/>
            </a:avLst>
          </a:prstGeom>
          <a:solidFill>
            <a:srgbClr val="FCA5A5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13648" y="1499616"/>
            <a:ext cx="2249424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22222"/>
                </a:solidFill>
              </a:rPr>
              <a:t>More voltage drop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971800" y="1764792"/>
            <a:ext cx="365760" cy="0"/>
          </a:xfrm>
          <a:prstGeom prst="line">
            <a:avLst/>
          </a:prstGeom>
          <a:noFill/>
          <a:ln w="25400">
            <a:solidFill>
              <a:srgbClr val="1F4E79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532120" y="1764792"/>
            <a:ext cx="365760" cy="0"/>
          </a:xfrm>
          <a:prstGeom prst="line">
            <a:avLst/>
          </a:prstGeom>
          <a:noFill/>
          <a:ln w="25400">
            <a:solidFill>
              <a:srgbClr val="1F4E79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092440" y="1764792"/>
            <a:ext cx="365760" cy="0"/>
          </a:xfrm>
          <a:prstGeom prst="line">
            <a:avLst/>
          </a:prstGeom>
          <a:noFill/>
          <a:ln w="25400">
            <a:solidFill>
              <a:srgbClr val="1F4E79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914400" y="2926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</a:rPr>
              <a:t>Voltage drop test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05840" y="3429000"/>
            <a:ext cx="5029200" cy="2011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Measure voltage at battery under load.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Measure voltage at load/inverter under load.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Subtract: battery-end minus load-end.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High drop means resistance, undersized wire, bad crimp, loose terminal, or too much current.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537960" y="3429000"/>
            <a:ext cx="4434840" cy="1280160"/>
          </a:xfrm>
          <a:prstGeom prst="roundRect">
            <a:avLst>
              <a:gd name="adj" fmla="val 3571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47688" y="3511296"/>
            <a:ext cx="4215384" cy="1115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</a:rPr>
              <a:t>Never “fix” voltage drop by just turning things up. Find the cause.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RV solar power path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772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</a:rPr>
              <a:t>Students should be able to draw this before touching wires.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115568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1052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7777"/>
                </a:solidFill>
              </a:rPr>
              <a:t>CTS Cohort 6 | PV101 Day 5 | 2026-07-13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85800" y="1828800"/>
            <a:ext cx="1600200" cy="822960"/>
          </a:xfrm>
          <a:prstGeom prst="roundRect">
            <a:avLst>
              <a:gd name="adj" fmla="val 5556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911096"/>
            <a:ext cx="138074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</a:rPr>
              <a:t>PV panel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313432" y="2240280"/>
            <a:ext cx="356616" cy="0"/>
          </a:xfrm>
          <a:prstGeom prst="line">
            <a:avLst/>
          </a:prstGeom>
          <a:noFill/>
          <a:ln w="25400">
            <a:solidFill>
              <a:srgbClr val="1F4E79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743200" y="1828800"/>
            <a:ext cx="1600200" cy="822960"/>
          </a:xfrm>
          <a:prstGeom prst="roundRect">
            <a:avLst>
              <a:gd name="adj" fmla="val 5556"/>
            </a:avLst>
          </a:prstGeom>
          <a:solidFill>
            <a:srgbClr val="E2F0D9"/>
          </a:solidFill>
          <a:ln w="12700">
            <a:solidFill>
              <a:srgbClr val="E2F0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52928" y="1911096"/>
            <a:ext cx="138074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</a:rPr>
              <a:t>Charge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</a:rPr>
              <a:t>controller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370832" y="2240280"/>
            <a:ext cx="539496" cy="0"/>
          </a:xfrm>
          <a:prstGeom prst="line">
            <a:avLst/>
          </a:prstGeom>
          <a:noFill/>
          <a:ln w="25400">
            <a:solidFill>
              <a:srgbClr val="1F4E79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983480" y="1828800"/>
            <a:ext cx="1600200" cy="822960"/>
          </a:xfrm>
          <a:prstGeom prst="roundRect">
            <a:avLst>
              <a:gd name="adj" fmla="val 5556"/>
            </a:avLst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93208" y="1911096"/>
            <a:ext cx="138074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</a:rPr>
              <a:t>LiFePO4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</a:rPr>
              <a:t>battery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611112" y="2240280"/>
            <a:ext cx="539496" cy="0"/>
          </a:xfrm>
          <a:prstGeom prst="line">
            <a:avLst/>
          </a:prstGeom>
          <a:noFill/>
          <a:ln w="25400">
            <a:solidFill>
              <a:srgbClr val="1F4E79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223760" y="1828800"/>
            <a:ext cx="1600200" cy="822960"/>
          </a:xfrm>
          <a:prstGeom prst="roundRect">
            <a:avLst>
              <a:gd name="adj" fmla="val 5556"/>
            </a:avLst>
          </a:prstGeom>
          <a:solidFill>
            <a:srgbClr val="FCA5A5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33488" y="1911096"/>
            <a:ext cx="138074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</a:rPr>
              <a:t>Fuse /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</a:rPr>
              <a:t>breaker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851392" y="2240280"/>
            <a:ext cx="539496" cy="0"/>
          </a:xfrm>
          <a:prstGeom prst="line">
            <a:avLst/>
          </a:prstGeom>
          <a:noFill/>
          <a:ln w="25400">
            <a:solidFill>
              <a:srgbClr val="1F4E79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464040" y="1828800"/>
            <a:ext cx="1600200" cy="822960"/>
          </a:xfrm>
          <a:prstGeom prst="roundRect">
            <a:avLst>
              <a:gd name="adj" fmla="val 5556"/>
            </a:avLst>
          </a:prstGeom>
          <a:solidFill>
            <a:srgbClr val="E4DFEC"/>
          </a:solidFill>
          <a:ln w="12700">
            <a:solidFill>
              <a:srgbClr val="E4DF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73768" y="1911096"/>
            <a:ext cx="138074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</a:rPr>
              <a:t>Inverter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</a:rPr>
              <a:t>/ loads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35204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</a:rPr>
              <a:t>Inspection questions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005840" y="3977640"/>
            <a:ext cx="4572000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Where can current come from?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What protects each wire?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What readings prove polarity and voltage?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What would you label for service later?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92240" y="35204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</a:rPr>
              <a:t>Order matters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583680" y="3977640"/>
            <a:ext cx="4389120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Controller to battery first unless manual says otherwise.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PV last. Loads after inspection.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Unexpected readings mean stop and trace.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Afternoon lab: commission, then diagnose</a:t>
            </a:r>
          </a:p>
        </p:txBody>
      </p:sp>
      <p:sp>
        <p:nvSpPr>
          <p:cNvPr id="3" name="Text 1"/>
          <p:cNvSpPr/>
          <p:nvPr/>
        </p:nvSpPr>
        <p:spPr>
          <a:xfrm>
            <a:off x="521208" y="7772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Keep Day 4 systems assembled. Rotate through inspection, measurement, fault evidence, and restoration.</a:t>
            </a:r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115568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651052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7777"/>
                </a:solidFill>
              </a:rPr>
              <a:t>CTS Cohort 6 | PV101 Day 5 | 2026-07-13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822960" y="1508760"/>
            <a:ext cx="2926080" cy="822960"/>
          </a:xfrm>
          <a:prstGeom prst="roundRect">
            <a:avLst>
              <a:gd name="adj" fmla="val 5556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32688" y="1591056"/>
            <a:ext cx="270662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Lead inspector</a:t>
            </a:r>
          </a:p>
        </p:txBody>
      </p:sp>
      <p:sp>
        <p:nvSpPr>
          <p:cNvPr id="8" name="Shape 6"/>
          <p:cNvSpPr/>
          <p:nvPr/>
        </p:nvSpPr>
        <p:spPr>
          <a:xfrm>
            <a:off x="4617720" y="1508760"/>
            <a:ext cx="2926080" cy="822960"/>
          </a:xfrm>
          <a:prstGeom prst="roundRect">
            <a:avLst>
              <a:gd name="adj" fmla="val 5556"/>
            </a:avLst>
          </a:prstGeom>
          <a:solidFill>
            <a:srgbClr val="E2F0D9"/>
          </a:solidFill>
          <a:ln w="12700">
            <a:solidFill>
              <a:srgbClr val="E2F0D9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727448" y="1591056"/>
            <a:ext cx="270662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Meter lead</a:t>
            </a:r>
          </a:p>
        </p:txBody>
      </p:sp>
      <p:sp>
        <p:nvSpPr>
          <p:cNvPr id="10" name="Shape 8"/>
          <p:cNvSpPr/>
          <p:nvPr/>
        </p:nvSpPr>
        <p:spPr>
          <a:xfrm>
            <a:off x="8412480" y="1508760"/>
            <a:ext cx="2926080" cy="822960"/>
          </a:xfrm>
          <a:prstGeom prst="roundRect">
            <a:avLst>
              <a:gd name="adj" fmla="val 5556"/>
            </a:avLst>
          </a:prstGeom>
          <a:solidFill>
            <a:srgbClr val="FFF2CC"/>
          </a:solidFill>
          <a:ln w="12700">
            <a:solidFill>
              <a:srgbClr val="FFF2CC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522208" y="1591056"/>
            <a:ext cx="270662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Recorder / verifier</a:t>
            </a:r>
          </a:p>
        </p:txBody>
      </p:sp>
      <p:sp>
        <p:nvSpPr>
          <p:cNvPr id="12" name="Text 10"/>
          <p:cNvSpPr/>
          <p:nvPr/>
        </p:nvSpPr>
        <p:spPr>
          <a:xfrm>
            <a:off x="960120" y="2606040"/>
            <a:ext cx="265176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Traces path</a:t>
            </a:r>
          </a:p>
          <a:p>
            <a:r>
              <a:t>Checks protection</a:t>
            </a:r>
          </a:p>
          <a:p>
            <a:r>
              <a:t>Improves labels</a:t>
            </a:r>
          </a:p>
        </p:txBody>
      </p:sp>
      <p:sp>
        <p:nvSpPr>
          <p:cNvPr id="13" name="Text 11"/>
          <p:cNvSpPr/>
          <p:nvPr/>
        </p:nvSpPr>
        <p:spPr>
          <a:xfrm>
            <a:off x="4754880" y="2606040"/>
            <a:ext cx="265176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Predicts readings</a:t>
            </a:r>
          </a:p>
          <a:p>
            <a:r>
              <a:t>Measures safely</a:t>
            </a:r>
          </a:p>
          <a:p>
            <a:r>
              <a:t>Checks voltage drop</a:t>
            </a:r>
          </a:p>
        </p:txBody>
      </p:sp>
      <p:sp>
        <p:nvSpPr>
          <p:cNvPr id="14" name="Text 12"/>
          <p:cNvSpPr/>
          <p:nvPr/>
        </p:nvSpPr>
        <p:spPr>
          <a:xfrm>
            <a:off x="8549640" y="2606040"/>
            <a:ext cx="265176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Records evidence</a:t>
            </a:r>
          </a:p>
          <a:p>
            <a:r>
              <a:t>Controls sequence</a:t>
            </a:r>
          </a:p>
          <a:p>
            <a:r>
              <a:t>Verifies restoration</a:t>
            </a:r>
          </a:p>
        </p:txBody>
      </p:sp>
      <p:sp>
        <p:nvSpPr>
          <p:cNvPr id="15" name="Shape 13"/>
          <p:cNvSpPr/>
          <p:nvPr/>
        </p:nvSpPr>
        <p:spPr>
          <a:xfrm>
            <a:off x="1005840" y="4800600"/>
            <a:ext cx="10058400" cy="594360"/>
          </a:xfrm>
          <a:prstGeom prst="roundRect">
            <a:avLst>
              <a:gd name="adj" fmla="val 7692"/>
            </a:avLst>
          </a:prstGeom>
          <a:solidFill>
            <a:srgbClr val="FCA5A5"/>
          </a:solidFill>
          <a:ln w="12700">
            <a:solidFill>
              <a:srgbClr val="FCA5A5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115568" y="4882896"/>
            <a:ext cx="9838944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No rebuilding unless a measured fault requires a correction. One change at a time.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Commissioning and troubleshooting flow</a:t>
            </a:r>
          </a:p>
        </p:txBody>
      </p:sp>
      <p:sp>
        <p:nvSpPr>
          <p:cNvPr id="3" name="Text 1"/>
          <p:cNvSpPr/>
          <p:nvPr/>
        </p:nvSpPr>
        <p:spPr>
          <a:xfrm>
            <a:off x="521208" y="7772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</a:rPr>
              <a:t>No random touching. Observe, predict, measure, act. Wild concept, apparently.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115568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651052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7777"/>
                </a:solidFill>
              </a:rPr>
              <a:t>CTS Cohort 6 | PV101 Day 5 | 2026-07-13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85800" y="2057400"/>
            <a:ext cx="1645920" cy="548640"/>
          </a:xfrm>
          <a:prstGeom prst="roundRect">
            <a:avLst>
              <a:gd name="adj" fmla="val 8333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95528" y="2139696"/>
            <a:ext cx="142646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</a:rPr>
              <a:t>Observe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85800" y="2770632"/>
            <a:ext cx="164592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95528" y="2852928"/>
            <a:ext cx="1426464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What changed?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377440" y="2331720"/>
            <a:ext cx="521208" cy="0"/>
          </a:xfrm>
          <a:prstGeom prst="line">
            <a:avLst/>
          </a:prstGeom>
          <a:noFill/>
          <a:ln w="25400">
            <a:solidFill>
              <a:srgbClr val="1F4E79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2971800" y="2057400"/>
            <a:ext cx="1645920" cy="548640"/>
          </a:xfrm>
          <a:prstGeom prst="roundRect">
            <a:avLst>
              <a:gd name="adj" fmla="val 8333"/>
            </a:avLst>
          </a:prstGeom>
          <a:solidFill>
            <a:srgbClr val="E2F0D9"/>
          </a:solidFill>
          <a:ln w="12700">
            <a:solidFill>
              <a:srgbClr val="E2F0D9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081528" y="2139696"/>
            <a:ext cx="142646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</a:rPr>
              <a:t>Predict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971800" y="2770632"/>
            <a:ext cx="164592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081528" y="2852928"/>
            <a:ext cx="1426464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What reading should exist?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2331720"/>
            <a:ext cx="521208" cy="0"/>
          </a:xfrm>
          <a:prstGeom prst="line">
            <a:avLst/>
          </a:prstGeom>
          <a:noFill/>
          <a:ln w="25400">
            <a:solidFill>
              <a:srgbClr val="1F4E79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257800" y="2057400"/>
            <a:ext cx="1645920" cy="548640"/>
          </a:xfrm>
          <a:prstGeom prst="roundRect">
            <a:avLst>
              <a:gd name="adj" fmla="val 8333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367528" y="2139696"/>
            <a:ext cx="142646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</a:rPr>
              <a:t>Measure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257800" y="2770632"/>
            <a:ext cx="164592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367528" y="2852928"/>
            <a:ext cx="1426464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Use the meter correctly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949440" y="2331720"/>
            <a:ext cx="521208" cy="0"/>
          </a:xfrm>
          <a:prstGeom prst="line">
            <a:avLst/>
          </a:prstGeom>
          <a:noFill/>
          <a:ln w="25400">
            <a:solidFill>
              <a:srgbClr val="1F4E79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7543800" y="2057400"/>
            <a:ext cx="1645920" cy="548640"/>
          </a:xfrm>
          <a:prstGeom prst="roundRect">
            <a:avLst>
              <a:gd name="adj" fmla="val 8333"/>
            </a:avLst>
          </a:prstGeom>
          <a:solidFill>
            <a:srgbClr val="E2F0D9"/>
          </a:solidFill>
          <a:ln w="12700">
            <a:solidFill>
              <a:srgbClr val="E2F0D9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653528" y="2139696"/>
            <a:ext cx="142646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</a:rPr>
              <a:t>Act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543800" y="2770632"/>
            <a:ext cx="164592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7653528" y="2852928"/>
            <a:ext cx="1426464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Change one thing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235440" y="2331720"/>
            <a:ext cx="521208" cy="0"/>
          </a:xfrm>
          <a:prstGeom prst="line">
            <a:avLst/>
          </a:prstGeom>
          <a:noFill/>
          <a:ln w="25400">
            <a:solidFill>
              <a:srgbClr val="1F4E79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9829800" y="2057400"/>
            <a:ext cx="1645920" cy="548640"/>
          </a:xfrm>
          <a:prstGeom prst="roundRect">
            <a:avLst>
              <a:gd name="adj" fmla="val 8333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9939528" y="2139696"/>
            <a:ext cx="142646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</a:rPr>
              <a:t>Verify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829800" y="2770632"/>
            <a:ext cx="164592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9939528" y="2852928"/>
            <a:ext cx="1426464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Did the evidence improve?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60120" y="4114800"/>
            <a:ext cx="1005840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Wrong polarity? Stop before energizing.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No output? Check source, fuse, wiring path, and controller state.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Low voltage under load? Check current, wire size, crimps, and voltage drop.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</a:rPr>
              <a:t>Heat, smell, spark, or weird reading? Hands off, call instructor.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Exit ticket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77724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</a:rPr>
              <a:t>Three things every student should leave with.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69848"/>
            <a:ext cx="11155680" cy="0"/>
          </a:xfrm>
          <a:prstGeom prst="line">
            <a:avLst/>
          </a:prstGeom>
          <a:noFill/>
          <a:ln w="12700">
            <a:solidFill>
              <a:srgbClr val="BFBFB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6510528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7777"/>
                </a:solidFill>
              </a:rPr>
              <a:t>CTS Cohort 6 | PV101 Day 5 | 2026-07-13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822960" y="1600200"/>
            <a:ext cx="3291840" cy="1005840"/>
          </a:xfrm>
          <a:prstGeom prst="roundRect">
            <a:avLst>
              <a:gd name="adj" fmla="val 4545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32688" y="1682496"/>
            <a:ext cx="3072384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</a:rPr>
              <a:t>I can verify with a meter...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434840" y="1600200"/>
            <a:ext cx="3291840" cy="1005840"/>
          </a:xfrm>
          <a:prstGeom prst="roundRect">
            <a:avLst>
              <a:gd name="adj" fmla="val 4545"/>
            </a:avLst>
          </a:prstGeom>
          <a:solidFill>
            <a:srgbClr val="FCA5A5"/>
          </a:solidFill>
          <a:ln w="12700">
            <a:solidFill>
              <a:srgbClr val="FCA5A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544568" y="1682496"/>
            <a:ext cx="3072384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</a:rPr>
              <a:t>A fuse protects...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046720" y="1600200"/>
            <a:ext cx="3291840" cy="1005840"/>
          </a:xfrm>
          <a:prstGeom prst="roundRect">
            <a:avLst>
              <a:gd name="adj" fmla="val 4545"/>
            </a:avLst>
          </a:prstGeom>
          <a:solidFill>
            <a:srgbClr val="FFF2CC"/>
          </a:solidFill>
          <a:ln w="12700">
            <a:solidFill>
              <a:srgbClr val="FFF2CC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156448" y="1682496"/>
            <a:ext cx="3072384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A fault I can now diagnose systematically...</a:t>
            </a:r>
          </a:p>
        </p:txBody>
      </p:sp>
      <p:sp>
        <p:nvSpPr>
          <p:cNvPr id="12" name="Text 10"/>
          <p:cNvSpPr/>
          <p:nvPr/>
        </p:nvSpPr>
        <p:spPr>
          <a:xfrm>
            <a:off x="914400" y="36576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</a:rPr>
              <a:t>Cleanup standard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05840" y="4160520"/>
            <a:ext cx="384048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Every kit restored and verified.</a:t>
            </a:r>
          </a:p>
          <a:p>
            <a:r>
              <a:t>Tools back. No mystery wires.</a:t>
            </a:r>
          </a:p>
          <a:p>
            <a:r>
              <a:t>Labels improved for the next technician.</a:t>
            </a:r>
          </a:p>
        </p:txBody>
      </p:sp>
      <p:sp>
        <p:nvSpPr>
          <p:cNvPr id="14" name="Text 12"/>
          <p:cNvSpPr/>
          <p:nvPr/>
        </p:nvSpPr>
        <p:spPr>
          <a:xfrm>
            <a:off x="6400800" y="36576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</a:rPr>
              <a:t>Instructor close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446520" y="4160520"/>
            <a:ext cx="429768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t>The win is not rebuilding yesterday’s work. The win is proving it, diagnosing it, and returning it to known-good condition.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CTS / AYA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PV101 Day 5 - Electrical Protection and Wire Sizing</dc:title>
  <dc:subject>CTS Cohort 6 PV101 Day 5</dc:subject>
  <dc:creator>OpenAI</dc:creator>
  <cp:lastModifiedBy>OpenAI</cp:lastModifiedBy>
  <cp:revision>1</cp:revision>
  <dcterms:created xsi:type="dcterms:W3CDTF">2026-07-13T07:01:03Z</dcterms:created>
  <dcterms:modified xsi:type="dcterms:W3CDTF">2026-07-13T07:01:03Z</dcterms:modified>
</cp:coreProperties>
</file>