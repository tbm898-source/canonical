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V102_Day_02_to_08_Cohort_06/_slide_assets/day_3_visual.jpg">    </p:cNvPr>
          <p:cNvPicPr>
            <a:picLocks noChangeAspect="1"/>
          </p:cNvPicPr>
          <p:nvPr/>
        </p:nvPicPr>
        <p:blipFill>
          <a:blip r:embed="rId1"/>
          <a:srcRect l="0" r="0" t="30" b="3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594360"/>
            <a:ext cx="4754880" cy="548640"/>
          </a:xfrm>
          <a:prstGeom prst="rect">
            <a:avLst/>
          </a:prstGeom>
          <a:solidFill>
            <a:srgbClr val="000000">
              <a:alpha val="68000"/>
            </a:srgbClr>
          </a:solidFill>
          <a:ln>
            <a:solidFill>
              <a:srgbClr val="000000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3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502920" y="1143000"/>
            <a:ext cx="6492240" cy="1417320"/>
          </a:xfrm>
          <a:prstGeom prst="rect">
            <a:avLst/>
          </a:prstGeom>
          <a:solidFill>
            <a:srgbClr val="000000">
              <a:alpha val="68000"/>
            </a:srgbClr>
          </a:solidFill>
          <a:ln>
            <a:solidFill>
              <a:srgbClr val="000000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 Profile and Energy Budget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530352" y="2788920"/>
            <a:ext cx="7132320" cy="502920"/>
          </a:xfrm>
          <a:prstGeom prst="rect">
            <a:avLst/>
          </a:prstGeom>
          <a:solidFill>
            <a:srgbClr val="000000">
              <a:alpha val="68000"/>
            </a:srgbClr>
          </a:solidFill>
          <a:ln>
            <a:solidFill>
              <a:srgbClr val="000000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Watts are moments. Watt-hours are work over time.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30352" y="6080760"/>
            <a:ext cx="6126480" cy="320040"/>
          </a:xfrm>
          <a:prstGeom prst="rect">
            <a:avLst/>
          </a:prstGeom>
          <a:solidFill>
            <a:srgbClr val="000000">
              <a:alpha val="68000"/>
            </a:srgbClr>
          </a:solidFill>
          <a:ln>
            <a:solidFill>
              <a:srgbClr val="000000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CTS Day 19 | Wednesday, August 5, 2026 | 10:00 AM-3:00 PM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Today’s job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Professional solar work starts before parts move.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Students turn a client wish list into a defensible load table, daily watt-hour estimate, priority list, and unknowns register.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Carry forward the Day 1 habit: match architecture to real need.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Today adds one design layer and one clean handoff.</a:t>
            </a:r>
            <a:endParaRPr lang="en-US" sz="1800" dirty="0"/>
          </a:p>
        </p:txBody>
      </p:sp>
      <p:pic>
        <p:nvPicPr>
          <p:cNvPr id="8" name="Image 0" descr="/mnt/data/PV102_Day_02_to_08_Cohort_06/_slide_assets/day_3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5257800"/>
            <a:ext cx="7040880" cy="530352"/>
          </a:xfrm>
          <a:prstGeom prst="rect">
            <a:avLst/>
          </a:prstGeom>
          <a:solidFill>
            <a:srgbClr val="EAF4FB"/>
          </a:solidFill>
          <a:ln>
            <a:solidFill>
              <a:srgbClr val="B7C9D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guess when an unknown can be recorded.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03 | Wednesday, August 5, 2026 | Slide 2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Watts are moments. Watt-hours are work over time.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targets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 3:00 PM students should be able to: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Distinguish watts from watt-hours.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Calculate daily energy use from power and time.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Rank loads by necessity, runtime, surge risk, and design impact.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054096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Explain how load decisions affect PV, battery, inverter, and budget.</a:t>
            </a:r>
            <a:endParaRPr lang="en-US" sz="1800" dirty="0"/>
          </a:p>
        </p:txBody>
      </p:sp>
      <p:pic>
        <p:nvPicPr>
          <p:cNvPr id="9" name="Image 0" descr="/mnt/data/PV102_Day_02_to_08_Cohort_06/_slide_assets/day_3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5257800"/>
            <a:ext cx="7040880" cy="530352"/>
          </a:xfrm>
          <a:prstGeom prst="rect">
            <a:avLst/>
          </a:prstGeom>
          <a:solidFill>
            <a:srgbClr val="EAF4FB"/>
          </a:solidFill>
          <a:ln>
            <a:solidFill>
              <a:srgbClr val="B7C9D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beats confidence. A tragic lesson for civilization, apparently.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03 | Wednesday, August 5, 2026 | Slide 3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Watts are moments. Watt-hours are work over time.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Morning readiness check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Quiz first, then review as evidence.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Work independently for 12-15 minutes.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 wrong answers to locate teaching gaps.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Ask: what fact would prove this answer?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054096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Keep review short and specific.</a:t>
            </a:r>
            <a:endParaRPr lang="en-US" sz="1800" dirty="0"/>
          </a:p>
        </p:txBody>
      </p:sp>
      <p:pic>
        <p:nvPicPr>
          <p:cNvPr id="9" name="Image 0" descr="/mnt/data/PV102_Day_02_to_08_Cohort_06/_slide_assets/day_3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5257800"/>
            <a:ext cx="7040880" cy="530352"/>
          </a:xfrm>
          <a:prstGeom prst="rect">
            <a:avLst/>
          </a:prstGeom>
          <a:solidFill>
            <a:srgbClr val="EAF4FB"/>
          </a:solidFill>
          <a:ln>
            <a:solidFill>
              <a:srgbClr val="B7C9D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quiz measures instruction as much as students.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03 | Wednesday, August 5, 2026 | Slide 4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Watts are moments. Watt-hours are work over time.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rule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Watts are moments. Watt-hours are work over time.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Say it once at the start.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Bring every debate back to it.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3054096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 it to reject weak handoffs.</a:t>
            </a:r>
            <a:endParaRPr lang="en-US" sz="1800" dirty="0"/>
          </a:p>
        </p:txBody>
      </p:sp>
      <p:pic>
        <p:nvPicPr>
          <p:cNvPr id="8" name="Image 0" descr="/mnt/data/PV102_Day_02_to_08_Cohort_06/_slide_assets/day_3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5257800"/>
            <a:ext cx="7040880" cy="530352"/>
          </a:xfrm>
          <a:prstGeom prst="rect">
            <a:avLst/>
          </a:prstGeom>
          <a:solidFill>
            <a:srgbClr val="EAF4FB"/>
          </a:solidFill>
          <a:ln>
            <a:solidFill>
              <a:srgbClr val="B7C9D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rule, repeated until reality behaves.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03 | Wednesday, August 5, 2026 | Slide 5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Watts are moments. Watt-hours are work over time.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students already know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PV101 and RCS are not separate islands.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PV modules produce DC power.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Series and parallel change voltage/current behavior.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Continuity requires de-energized verification.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054096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Troubleshooting starts from evidence.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547872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Handoffs protect the next person.</a:t>
            </a:r>
            <a:endParaRPr lang="en-US" sz="1800" dirty="0"/>
          </a:p>
        </p:txBody>
      </p:sp>
      <p:pic>
        <p:nvPicPr>
          <p:cNvPr id="10" name="Image 0" descr="/mnt/data/PV102_Day_02_to_08_Cohort_06/_slide_assets/day_3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03 | Wednesday, August 5, 2026 | Slide 6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Watts are moments. Watt-hours are work over time.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judgment today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skill moves from “can I build it?” to “should this be the design?”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Define the job.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Gather the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Name the constraint.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054096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Protect the boundary.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547872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Record unknowns.</a:t>
            </a:r>
            <a:endParaRPr lang="en-US" sz="1800" dirty="0"/>
          </a:p>
        </p:txBody>
      </p:sp>
      <p:pic>
        <p:nvPicPr>
          <p:cNvPr id="10" name="Image 0" descr="/mnt/data/PV102_Day_02_to_08_Cohort_06/_slide_assets/day_3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03 | Wednesday, August 5, 2026 | Slide 7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Watts are moments. Watt-hours are work over time.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502920"/>
            <a:ext cx="84124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Energy path and decision boundary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874520" y="2697480"/>
            <a:ext cx="1078992" cy="0"/>
          </a:xfrm>
          <a:prstGeom prst="line">
            <a:avLst/>
          </a:prstGeom>
          <a:noFill/>
          <a:ln w="2540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4" name="Shape 2"/>
          <p:cNvSpPr/>
          <p:nvPr/>
        </p:nvSpPr>
        <p:spPr>
          <a:xfrm>
            <a:off x="4251960" y="2697480"/>
            <a:ext cx="1078992" cy="0"/>
          </a:xfrm>
          <a:prstGeom prst="line">
            <a:avLst/>
          </a:prstGeom>
          <a:noFill/>
          <a:ln w="2540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6629400" y="2697480"/>
            <a:ext cx="1078992" cy="0"/>
          </a:xfrm>
          <a:prstGeom prst="line">
            <a:avLst/>
          </a:prstGeom>
          <a:noFill/>
          <a:ln w="2540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9006840" y="2697480"/>
            <a:ext cx="1078992" cy="0"/>
          </a:xfrm>
          <a:prstGeom prst="line">
            <a:avLst/>
          </a:prstGeom>
          <a:noFill/>
          <a:ln w="2540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94360" y="2103120"/>
            <a:ext cx="1737360" cy="1188720"/>
          </a:xfrm>
          <a:prstGeom prst="roundRect">
            <a:avLst>
              <a:gd name="adj" fmla="val 9231"/>
            </a:avLst>
          </a:prstGeom>
          <a:solidFill>
            <a:srgbClr val="F7FBFF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267712"/>
            <a:ext cx="1554480" cy="841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971800" y="2103120"/>
            <a:ext cx="1737360" cy="1188720"/>
          </a:xfrm>
          <a:prstGeom prst="roundRect">
            <a:avLst>
              <a:gd name="adj" fmla="val 9231"/>
            </a:avLst>
          </a:prstGeom>
          <a:solidFill>
            <a:srgbClr val="EAF4FB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63240" y="2267712"/>
            <a:ext cx="1554480" cy="841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349240" y="2103120"/>
            <a:ext cx="1737360" cy="1188720"/>
          </a:xfrm>
          <a:prstGeom prst="roundRect">
            <a:avLst>
              <a:gd name="adj" fmla="val 9231"/>
            </a:avLst>
          </a:prstGeom>
          <a:solidFill>
            <a:srgbClr val="F7FBFF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40680" y="2267712"/>
            <a:ext cx="1554480" cy="841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726680" y="2103120"/>
            <a:ext cx="1737360" cy="1188720"/>
          </a:xfrm>
          <a:prstGeom prst="roundRect">
            <a:avLst>
              <a:gd name="adj" fmla="val 9231"/>
            </a:avLst>
          </a:prstGeom>
          <a:solidFill>
            <a:srgbClr val="EAF4FB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18120" y="2267712"/>
            <a:ext cx="1554480" cy="841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Protection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0104120" y="2103120"/>
            <a:ext cx="1737360" cy="1188720"/>
          </a:xfrm>
          <a:prstGeom prst="roundRect">
            <a:avLst>
              <a:gd name="adj" fmla="val 9231"/>
            </a:avLst>
          </a:prstGeom>
          <a:solidFill>
            <a:srgbClr val="F7FBFF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195560" y="2267712"/>
            <a:ext cx="1554480" cy="841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Handoff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77240" y="4160520"/>
            <a:ext cx="10515600" cy="685800"/>
          </a:xfrm>
          <a:prstGeom prst="rect">
            <a:avLst/>
          </a:prstGeom>
          <a:solidFill>
            <a:srgbClr val="F6FAFD"/>
          </a:solidFill>
          <a:ln>
            <a:solidFill>
              <a:srgbClr val="B7C9D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arrow is a boundary. Boundaries need ratings, protection, isolation, and documentation.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03 | Wednesday, August 5, 2026 | Slide 8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Watts are moments. Watt-hours are work over time.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502920"/>
            <a:ext cx="91440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checks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85800" y="1417320"/>
            <a:ext cx="3017520" cy="420624"/>
          </a:xfrm>
          <a:prstGeom prst="rect">
            <a:avLst/>
          </a:prstGeom>
          <a:solidFill>
            <a:srgbClr val="EAF4FB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58952" y="1490472"/>
            <a:ext cx="287121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703320" y="1417320"/>
            <a:ext cx="3840480" cy="420624"/>
          </a:xfrm>
          <a:prstGeom prst="rect">
            <a:avLst/>
          </a:prstGeom>
          <a:solidFill>
            <a:srgbClr val="EAF4FB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776472" y="1490472"/>
            <a:ext cx="369417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543800" y="1417320"/>
            <a:ext cx="3977640" cy="420624"/>
          </a:xfrm>
          <a:prstGeom prst="rect">
            <a:avLst/>
          </a:prstGeom>
          <a:solidFill>
            <a:srgbClr val="EAF4FB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16952" y="1490472"/>
            <a:ext cx="383133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Reject if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" y="1837944"/>
            <a:ext cx="3017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1920240"/>
            <a:ext cx="2871216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a design choice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703320" y="1837944"/>
            <a:ext cx="3840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76472" y="1920240"/>
            <a:ext cx="3694176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Measured or observed site/load data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543800" y="1837944"/>
            <a:ext cx="3977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16952" y="1920240"/>
            <a:ext cx="3831336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only sounds good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85800" y="2587752"/>
            <a:ext cx="3017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8952" y="2670048"/>
            <a:ext cx="2871216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Reject a shortcut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703320" y="2587752"/>
            <a:ext cx="3840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76472" y="2670048"/>
            <a:ext cx="3694176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 or equipment boundary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543800" y="2587752"/>
            <a:ext cx="3977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16952" y="2670048"/>
            <a:ext cx="3831336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hides a hazard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85800" y="3337560"/>
            <a:ext cx="3017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8952" y="3419856"/>
            <a:ext cx="2871216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Carry unknown forward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703320" y="3337560"/>
            <a:ext cx="3840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76472" y="3419856"/>
            <a:ext cx="3694176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Named verification step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543800" y="3337560"/>
            <a:ext cx="3977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16952" y="3419856"/>
            <a:ext cx="3831336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becomes fake certainty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85800" y="4087368"/>
            <a:ext cx="3017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8952" y="4169664"/>
            <a:ext cx="2871216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 handoff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3703320" y="4087368"/>
            <a:ext cx="3840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76472" y="4169664"/>
            <a:ext cx="3694176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person can act safely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7543800" y="4087368"/>
            <a:ext cx="3977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7C9D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16952" y="4169664"/>
            <a:ext cx="3831336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depends on mind reading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03 | Wednesday, August 5, 2026 | Slide 9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Watts are moments. Watt-hours are work over time.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Guided example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one complete thinking path.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Start with the client/job statement.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Add one measured or observed fact.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Make one design decision.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054096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Name one safety boundary.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547872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Name one unknown and how to verify it.</a:t>
            </a:r>
            <a:endParaRPr lang="en-US" sz="1800" dirty="0"/>
          </a:p>
        </p:txBody>
      </p:sp>
      <p:pic>
        <p:nvPicPr>
          <p:cNvPr id="10" name="Image 0" descr="/mnt/data/PV102_Day_02_to_08_Cohort_06/_slide_assets/day_3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03 | Wednesday, August 5, 2026 | Slide 10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Watts are moments. Watt-hours are work over time.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roles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teams of two, roles rotate after the first pass.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Designer: proposes the first path.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Verifier: challenges evidence and limits.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Recorder/handoff lead: writes what the next person needs.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054096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 a pair, one person may hold two roles, then swap.</a:t>
            </a:r>
            <a:endParaRPr lang="en-US" sz="1800" dirty="0"/>
          </a:p>
        </p:txBody>
      </p:sp>
      <p:pic>
        <p:nvPicPr>
          <p:cNvPr id="9" name="Image 0" descr="/mnt/data/PV102_Day_02_to_08_Cohort_06/_slide_assets/day_3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03 | Wednesday, August 5, 2026 | Slide 11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Watts are moments. Watt-hours are work over time.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 mission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Load Interview and Energy Budget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Teams interview a mock client, build a daily load table, and recommend one load reduction.</a:t>
            </a:r>
            <a:endParaRPr lang="en-US" sz="1800" dirty="0"/>
          </a:p>
        </p:txBody>
      </p:sp>
      <p:pic>
        <p:nvPicPr>
          <p:cNvPr id="6" name="Image 0" descr="/mnt/data/PV102_Day_02_to_08_Cohort_06/_slide_assets/day_3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5257800"/>
            <a:ext cx="7040880" cy="530352"/>
          </a:xfrm>
          <a:prstGeom prst="rect">
            <a:avLst/>
          </a:prstGeom>
          <a:solidFill>
            <a:srgbClr val="EAF4FB"/>
          </a:solidFill>
          <a:ln>
            <a:solidFill>
              <a:srgbClr val="B7C9D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the work block. Keep it practical and evidence-based.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03 | Wednesday, August 5, 2026 | Slide 12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Watts are moments. Watt-hours are work over time.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options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 one, or let teams choose if the room can handle democracy today.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Tiny shop: lights, laptop, phone charging, modem/router, small fridge, occasional circular saw.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Remote trail counter: sensor, camera, cellular modem, winter operation, limited service visits.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Bus conversion: lighting, fridge, fan, water pump, laptop, phone charging, occasional induction cooktop.</a:t>
            </a:r>
            <a:endParaRPr lang="en-US" sz="1800" dirty="0"/>
          </a:p>
        </p:txBody>
      </p:sp>
      <p:pic>
        <p:nvPicPr>
          <p:cNvPr id="8" name="Image 0" descr="/mnt/data/PV102_Day_02_to_08_Cohort_06/_slide_assets/day_3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03 | Wednesday, August 5, 2026 | Slide 13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Watts are moments. Watt-hours are work over time.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 procedure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the same loop every day.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Choose one scenario and list all loads.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For each load, record watts, hours per day, daily Wh, priority, and unknowns.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Mark surge or motor loads.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054096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Calculate total daily Wh and essential daily Wh.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547872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Recommend one load change that improves system practicality without weakening the client need.</a:t>
            </a:r>
            <a:endParaRPr lang="en-US" sz="1800" dirty="0"/>
          </a:p>
        </p:txBody>
      </p:sp>
      <p:pic>
        <p:nvPicPr>
          <p:cNvPr id="10" name="Image 0" descr="/mnt/data/PV102_Day_02_to_08_Cohort_06/_slide_assets/day_3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03 | Wednesday, August 5, 2026 | Slide 14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Watts are moments. Watt-hours are work over time.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Acceptance criteria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complete answer has five parts.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Match the need.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Show the path.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Name the dominant constraint.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054096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State the safety boundary.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547872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Record unknowns instead of guessing.</a:t>
            </a:r>
            <a:endParaRPr lang="en-US" sz="1800" dirty="0"/>
          </a:p>
        </p:txBody>
      </p:sp>
      <p:pic>
        <p:nvPicPr>
          <p:cNvPr id="10" name="Image 0" descr="/mnt/data/PV102_Day_02_to_08_Cohort_06/_slide_assets/day_3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03 | Wednesday, August 5, 2026 | Slide 15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Watts are moments. Watt-hours are work over time.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 boundary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training objective is improved by pretending energy is harmless.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 only instructor-approved equipment and procedures.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Treat PV and batteries as energy sources.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Stop when measurements do not make sense.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054096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Follow manufacturer instructions and program safety procedures.</a:t>
            </a:r>
            <a:endParaRPr lang="en-US" sz="1800" dirty="0"/>
          </a:p>
        </p:txBody>
      </p:sp>
      <p:pic>
        <p:nvPicPr>
          <p:cNvPr id="9" name="Image 0" descr="/mnt/data/PV102_Day_02_to_08_Cohort_06/_slide_assets/day_3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5257800"/>
            <a:ext cx="7040880" cy="530352"/>
          </a:xfrm>
          <a:prstGeom prst="rect">
            <a:avLst/>
          </a:prstGeom>
          <a:solidFill>
            <a:srgbClr val="EAF4FB"/>
          </a:solidFill>
          <a:ln>
            <a:solidFill>
              <a:srgbClr val="B7C9D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Stop, isolate, verify, ask. The glamorous life.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03 | Wednesday, August 5, 2026 | Slide 16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Watts are moments. Watt-hours are work over time.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Instructor probe questions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these when teams get vague.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evidence supports that?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would make this design fail?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Which boundary protects the person or equipment?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054096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unknown are you carrying forward?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547872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would the next crew need to know?</a:t>
            </a:r>
            <a:endParaRPr lang="en-US" sz="1800" dirty="0"/>
          </a:p>
        </p:txBody>
      </p:sp>
      <p:pic>
        <p:nvPicPr>
          <p:cNvPr id="10" name="Image 0" descr="/mnt/data/PV102_Day_02_to_08_Cohort_06/_slide_assets/day_3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03 | Wednesday, August 5, 2026 | Slide 17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Watts are moments. Watt-hours are work over time.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Peer verification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Peers check the handoff, not the personality of the speaker. Humanity struggles here.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Can I identify the job?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Can I follow the path?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Can I name the constraint?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054096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Can I see the safety boundary?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547872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Can I find the unknowns?</a:t>
            </a:r>
            <a:endParaRPr lang="en-US" sz="1800" dirty="0"/>
          </a:p>
        </p:txBody>
      </p:sp>
      <p:pic>
        <p:nvPicPr>
          <p:cNvPr id="10" name="Image 0" descr="/mnt/data/PV102_Day_02_to_08_Cohort_06/_slide_assets/day_3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03 | Wednesday, August 5, 2026 | Slide 18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Watts are moments. Watt-hours are work over time.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Common failure modes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 these early.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Component list with no job.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Guess presented as fact.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Missing safety boundary.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054096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 units or runtime.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547872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Handoff too vague to use.</a:t>
            </a:r>
            <a:endParaRPr lang="en-US" sz="1800" dirty="0"/>
          </a:p>
        </p:txBody>
      </p:sp>
      <p:pic>
        <p:nvPicPr>
          <p:cNvPr id="10" name="Image 0" descr="/mnt/data/PV102_Day_02_to_08_Cohort_06/_slide_assets/day_3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03 | Wednesday, August 5, 2026 | Slide 19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Watts are moments. Watt-hours are work over time.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language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 technical sentences.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Observed: what you saw.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Measured: value with unit or clear method.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Assumed: guess being carried forward.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054096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Verified: checked against source, procedure, or measurement.</a:t>
            </a:r>
            <a:endParaRPr lang="en-US" sz="1800" dirty="0"/>
          </a:p>
        </p:txBody>
      </p:sp>
      <p:pic>
        <p:nvPicPr>
          <p:cNvPr id="9" name="Image 0" descr="/mnt/data/PV102_Day_02_to_08_Cohort_06/_slide_assets/day_3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03 | Wednesday, August 5, 2026 | Slide 20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Watts are moments. Watt-hours are work over time.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Handoff structure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the next person safer.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Scope: what job is being solved.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Decision: what was chosen or rejected.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Evidence: why.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054096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Boundary: what must be protected.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547872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Unknowns: what still needs verification.</a:t>
            </a:r>
            <a:endParaRPr lang="en-US" sz="1800" dirty="0"/>
          </a:p>
        </p:txBody>
      </p:sp>
      <p:pic>
        <p:nvPicPr>
          <p:cNvPr id="10" name="Image 0" descr="/mnt/data/PV102_Day_02_to_08_Cohort_06/_slide_assets/day_3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03 | Wednesday, August 5, 2026 | Slide 21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Watts are moments. Watt-hours are work over time.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Exit ticket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Individual close-out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Which load drove the design hardest today: highest watts, longest runtime, or highest priority? Explain.</a:t>
            </a:r>
            <a:endParaRPr lang="en-US" sz="1800" dirty="0"/>
          </a:p>
        </p:txBody>
      </p:sp>
      <p:pic>
        <p:nvPicPr>
          <p:cNvPr id="6" name="Image 0" descr="/mnt/data/PV102_Day_02_to_08_Cohort_06/_slide_assets/day_3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5257800"/>
            <a:ext cx="7040880" cy="530352"/>
          </a:xfrm>
          <a:prstGeom prst="rect">
            <a:avLst/>
          </a:prstGeom>
          <a:solidFill>
            <a:srgbClr val="EAF4FB"/>
          </a:solidFill>
          <a:ln>
            <a:solidFill>
              <a:srgbClr val="B7C9D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 before reset so the day leaves a paper trail. Weirdly useful.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03 | Wednesday, August 5, 2026 | Slide 22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Watts are moments. Watt-hours are work over time.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Day-to-day continuity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one system, not seven disconnected worksheets.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PV102 Day 4 uses load and site information to explore module behavior, strings, and shade impact.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Carry forward site notes, load tables, diagrams, and unknowns.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Do not erase uncertainty. Resolve it.</a:t>
            </a:r>
            <a:endParaRPr lang="en-US" sz="1800" dirty="0"/>
          </a:p>
        </p:txBody>
      </p:sp>
      <p:pic>
        <p:nvPicPr>
          <p:cNvPr id="8" name="Image 0" descr="/mnt/data/PV102_Day_02_to_08_Cohort_06/_slide_assets/day_3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03 | Wednesday, August 5, 2026 | Slide 23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Watts are moments. Watt-hours are work over time.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reminder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professionals do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Define the job.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Verify the path.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Protect the boundary.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054096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Document the truth.</a:t>
            </a:r>
            <a:endParaRPr lang="en-US" sz="1800" dirty="0"/>
          </a:p>
        </p:txBody>
      </p:sp>
      <p:pic>
        <p:nvPicPr>
          <p:cNvPr id="9" name="Image 0" descr="/mnt/data/PV102_Day_02_to_08_Cohort_06/_slide_assets/day_3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5257800"/>
            <a:ext cx="7040880" cy="530352"/>
          </a:xfrm>
          <a:prstGeom prst="rect">
            <a:avLst/>
          </a:prstGeom>
          <a:solidFill>
            <a:srgbClr val="EAF4FB"/>
          </a:solidFill>
          <a:ln>
            <a:solidFill>
              <a:srgbClr val="B7C9D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Watts are moments. Watt-hours are work over time.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03 | Wednesday, August 5, 2026 | Slide 24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Watts are moments. Watt-hours are work over time.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502920"/>
            <a:ext cx="6766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69494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Watts are moments. Watt-hours are work over time.</a:t>
            </a:r>
            <a:endParaRPr lang="en-US" sz="1800" dirty="0"/>
          </a:p>
        </p:txBody>
      </p:sp>
      <p:pic>
        <p:nvPicPr>
          <p:cNvPr id="5" name="Image 0" descr="/mnt/data/PV102_Day_02_to_08_Cohort_06/_slide_assets/day_3_visual.jpg">    </p:cNvPr>
          <p:cNvPicPr>
            <a:picLocks noChangeAspect="1"/>
          </p:cNvPicPr>
          <p:nvPr/>
        </p:nvPicPr>
        <p:blipFill>
          <a:blip r:embed="rId1"/>
          <a:srcRect l="29898" r="29898" t="0" b="0"/>
          <a:stretch/>
        </p:blipFill>
        <p:spPr>
          <a:xfrm>
            <a:off x="8229600" y="914400"/>
            <a:ext cx="3429000" cy="4800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5257800"/>
            <a:ext cx="7040880" cy="530352"/>
          </a:xfrm>
          <a:prstGeom prst="rect">
            <a:avLst/>
          </a:prstGeom>
          <a:solidFill>
            <a:srgbClr val="EAF4FB"/>
          </a:solidFill>
          <a:ln>
            <a:solidFill>
              <a:srgbClr val="B7C9D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Reset tools. Collect packets. Archive the handoffs.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320040" y="6510528"/>
            <a:ext cx="52120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PV102 Day 03 | Wednesday, August 5, 2026 | Slide 25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577840" y="6473952"/>
            <a:ext cx="63093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Watts are moments. Watt-hours are work over time.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Alternative Youth Activities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PV102 Day 3: Load Profile and Energy Budget</dc:title>
  <dc:subject>PV102 Day 3</dc:subject>
  <dc:creator>CTS Curriculum System</dc:creator>
  <cp:lastModifiedBy>CTS Curriculum System</cp:lastModifiedBy>
  <cp:revision>1</cp:revision>
  <dcterms:created xsi:type="dcterms:W3CDTF">2026-08-03T18:34:56Z</dcterms:created>
  <dcterms:modified xsi:type="dcterms:W3CDTF">2026-08-03T18:34:56Z</dcterms:modified>
</cp:coreProperties>
</file>