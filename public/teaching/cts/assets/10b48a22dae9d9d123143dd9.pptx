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94360"/>
            <a:ext cx="4754880" cy="54864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2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02920" y="1143000"/>
            <a:ext cx="6492240" cy="141732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and Solar Resource Assessment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30352" y="2788920"/>
            <a:ext cx="7132320" cy="50292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0352" y="6080760"/>
            <a:ext cx="6126480" cy="32004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CTS Day 18 | Tuesday, August 4, 2026 | 10:00 AM-3:00 PM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job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solar work starts before parts move.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Students convert vague site assumptions into observable site conditions: solar access, shade, orientation, tilt, space, weather exposure, access, roof or ground constraints, and maintenance realities.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Carry forward the Day 1 habit: match architecture to real need.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Today adds one design layer and one clean handoff.</a:t>
            </a:r>
            <a:endParaRPr lang="en-US" sz="1800" dirty="0"/>
          </a:p>
        </p:txBody>
      </p:sp>
      <p:pic>
        <p:nvPicPr>
          <p:cNvPr id="8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guess when an unknown can be recorded.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3:00 PM students should be able to: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Identify site factors that affect PV production and installation practicality.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orientation, tilt, shade, and access observations to support a design decision.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Separate measured observations from assumptions and preferences.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a site-note handoff that Day 3 can use for load and energy work.</a:t>
            </a:r>
            <a:endParaRPr lang="en-US" sz="1800" dirty="0"/>
          </a:p>
        </p:txBody>
      </p:sp>
      <p:pic>
        <p:nvPicPr>
          <p:cNvPr id="9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beats confidence. A tragic lesson for civilization, apparently.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Morning readiness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first, then review as evidence.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 independently for 12-15 minutes.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wrong answers to locate teaching gaps.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Ask: what fact would prove this answer?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review short and specific.</a:t>
            </a:r>
            <a:endParaRPr lang="en-US" sz="1800" dirty="0"/>
          </a:p>
        </p:txBody>
      </p:sp>
      <p:pic>
        <p:nvPicPr>
          <p:cNvPr id="9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quiz measures instruction as much as students.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Measure the site before you size the system.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Say it once at the start.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Bring every debate back to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it to reject weak handoffs.</a:t>
            </a:r>
            <a:endParaRPr lang="en-US" sz="1800" dirty="0"/>
          </a:p>
        </p:txBody>
      </p:sp>
      <p:pic>
        <p:nvPicPr>
          <p:cNvPr id="8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rule, repeated until reality behaves.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5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already know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PV101 and RCS are not separate islands.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PV modules produce DC power.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Series and parallel change voltage/current behavior.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Continuity requires de-energized verification.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Troubleshooting starts from evidence.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Handoffs protect the next person.</a:t>
            </a:r>
            <a:endParaRPr lang="en-US" sz="1800" dirty="0"/>
          </a:p>
        </p:txBody>
      </p:sp>
      <p:pic>
        <p:nvPicPr>
          <p:cNvPr id="10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judgment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skill moves from “can I build it?” to “should this be the design?”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Gather the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constraint.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the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unknowns.</a:t>
            </a:r>
            <a:endParaRPr lang="en-US" sz="1800" dirty="0"/>
          </a:p>
        </p:txBody>
      </p:sp>
      <p:pic>
        <p:nvPicPr>
          <p:cNvPr id="10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path and decision boundary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7452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425196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62940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00684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436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7180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4924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2668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10412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556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10515600" cy="685800"/>
          </a:xfrm>
          <a:prstGeom prst="rect">
            <a:avLst/>
          </a:prstGeom>
          <a:solidFill>
            <a:srgbClr val="F6FAFD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arrow is a boundary. Boundaries need ratings, protection, isolation, and documentation.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checks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01752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1490472"/>
            <a:ext cx="28712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03320" y="1417320"/>
            <a:ext cx="384048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76472" y="1490472"/>
            <a:ext cx="3694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43800" y="1417320"/>
            <a:ext cx="397764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6952" y="1490472"/>
            <a:ext cx="3831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if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1837944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920240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 design choice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03320" y="1837944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1920240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or observed site/load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43800" y="1837944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1920240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only sounds good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2587752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670048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a shortcut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03320" y="2587752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2670048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or equipment boundary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43800" y="2587752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2670048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hides a hazard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33756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419856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 unknown forward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703320" y="333756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3419856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verification step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43800" y="3337560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6952" y="3419856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becomes fake certainty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087368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4169664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handoff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703320" y="4087368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4169664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person can act safely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43800" y="4087368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6952" y="4169664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depends on mind reading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one complete thinking path.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 with the client/job statement.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one measured or observed 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one design decision.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one safety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one unknown and how to verify it.</a:t>
            </a:r>
            <a:endParaRPr lang="en-US" sz="1800" dirty="0"/>
          </a:p>
        </p:txBody>
      </p:sp>
      <p:pic>
        <p:nvPicPr>
          <p:cNvPr id="10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10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roles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teams of two, roles rotate after the first pass.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Designer: proposes the first path.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Verifier: challenges evidence and limits.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Recorder/handoff lead: writes what the next person needs.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a pair, one person may hold two roles, then swap.</a:t>
            </a:r>
            <a:endParaRPr lang="en-US" sz="1800" dirty="0"/>
          </a:p>
        </p:txBody>
      </p:sp>
      <p:pic>
        <p:nvPicPr>
          <p:cNvPr id="9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11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Walk and Solar Access Handoff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Teams inspect three candidate locations and decide which one deserves further design work.</a:t>
            </a:r>
            <a:endParaRPr lang="en-US" sz="1800" dirty="0"/>
          </a:p>
        </p:txBody>
      </p:sp>
      <p:pic>
        <p:nvPicPr>
          <p:cNvPr id="6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work block. Keep it practical and evidence-based.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12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options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one, or let teams choose if the room can handle democracy today.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South-facing roof plane with one morning tree shadow and limited attic access.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 ground rack area with excellent sun but long wire run and mower traffic.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West-facing shed roof near the load with easy service access and afternoon sun.</a:t>
            </a:r>
            <a:endParaRPr lang="en-US" sz="1800" dirty="0"/>
          </a:p>
        </p:txBody>
      </p:sp>
      <p:pic>
        <p:nvPicPr>
          <p:cNvPr id="8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13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procedure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same loop every day.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Assign one candidate location per team.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Sketch the site from above and mark north, shade sources, access path, approximate array area, and likely wire route.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observations in three columns: measured, observed, unknown.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best reason to keep or reject the site for first-pass design.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Prepare a two-minute handoff for Day 3.</a:t>
            </a:r>
            <a:endParaRPr lang="en-US" sz="1800" dirty="0"/>
          </a:p>
        </p:txBody>
      </p:sp>
      <p:pic>
        <p:nvPicPr>
          <p:cNvPr id="10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14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answer has five parts.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Match the need.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the path.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dominant constraint.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 the safety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unknowns instead of guessing.</a:t>
            </a:r>
            <a:endParaRPr lang="en-US" sz="1800" dirty="0"/>
          </a:p>
        </p:txBody>
      </p:sp>
      <p:pic>
        <p:nvPicPr>
          <p:cNvPr id="10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15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boundary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training objective is improved by pretending energy is harmless.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only instructor-approved equipment and procedures.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Treat PV and batteries as energy sources.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Stop when measurements do not make sense.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Follow manufacturer instructions and program safety procedures.</a:t>
            </a:r>
            <a:endParaRPr lang="en-US" sz="1800" dirty="0"/>
          </a:p>
        </p:txBody>
      </p:sp>
      <p:pic>
        <p:nvPicPr>
          <p:cNvPr id="9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Stop, isolate, verify, ask. The glamorous life.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16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probe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when teams get vague.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evidence supports that?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make this design fail?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boundary protects the person or equipment?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unknown are you carrying forward?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the next crew need to know?</a:t>
            </a:r>
            <a:endParaRPr lang="en-US" sz="1800" dirty="0"/>
          </a:p>
        </p:txBody>
      </p:sp>
      <p:pic>
        <p:nvPicPr>
          <p:cNvPr id="10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17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 check the handoff, not the personality of the speaker. Humanity struggles here.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identify the job?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follow the path?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name the constraint?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see the safety boundary?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find the unknowns?</a:t>
            </a:r>
            <a:endParaRPr lang="en-US" sz="1800" dirty="0"/>
          </a:p>
        </p:txBody>
      </p:sp>
      <p:pic>
        <p:nvPicPr>
          <p:cNvPr id="10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18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failure modes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these early.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Component list with no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Guess presented as 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Missing safety boundary.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units or runtime.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Handoff too vague to use.</a:t>
            </a:r>
            <a:endParaRPr lang="en-US" sz="1800" dirty="0"/>
          </a:p>
        </p:txBody>
      </p:sp>
      <p:pic>
        <p:nvPicPr>
          <p:cNvPr id="10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19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language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technical sentences.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Observed: what you saw.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Measured: value with unit or clear method.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Assumed: guess being carried forward.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Verified: checked against source, procedure, or measurement.</a:t>
            </a:r>
            <a:endParaRPr lang="en-US" sz="1800" dirty="0"/>
          </a:p>
        </p:txBody>
      </p:sp>
      <p:pic>
        <p:nvPicPr>
          <p:cNvPr id="9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20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next person safer.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Scope: what job is being solved.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Decision: what was chosen or rejected.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Evidence: why.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Boundary: what must be protected.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Unknowns: what still needs verification.</a:t>
            </a:r>
            <a:endParaRPr lang="en-US" sz="1800" dirty="0"/>
          </a:p>
        </p:txBody>
      </p:sp>
      <p:pic>
        <p:nvPicPr>
          <p:cNvPr id="10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21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close-out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site condition would most likely force a redesign, and what evidence supports that answer?</a:t>
            </a:r>
            <a:endParaRPr lang="en-US" sz="1800" dirty="0"/>
          </a:p>
        </p:txBody>
      </p:sp>
      <p:pic>
        <p:nvPicPr>
          <p:cNvPr id="6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before reset so the day leaves a paper trail. Weirdly useful.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22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Day-to-day continuity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one system, not seven disconnected worksheets.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PV102 Day 3 uses the site handoff to build a load profile and first-pass energy budget.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Carry forward site notes, load tables, diagrams, and unknowns.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not erase uncertainty. Resolve it.</a:t>
            </a:r>
            <a:endParaRPr lang="en-US" sz="1800" dirty="0"/>
          </a:p>
        </p:txBody>
      </p:sp>
      <p:pic>
        <p:nvPicPr>
          <p:cNvPr id="8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23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reminder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professionals 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Verify the path.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the boundary.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the truth.</a:t>
            </a:r>
            <a:endParaRPr lang="en-US" sz="1800" dirty="0"/>
          </a:p>
        </p:txBody>
      </p:sp>
      <p:pic>
        <p:nvPicPr>
          <p:cNvPr id="9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24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Measure the site before you size the system.</a:t>
            </a:r>
            <a:endParaRPr lang="en-US" sz="1800" dirty="0"/>
          </a:p>
        </p:txBody>
      </p:sp>
      <p:pic>
        <p:nvPicPr>
          <p:cNvPr id="5" name="Image 0" descr="/mnt/data/PV102_Day_02_to_08_Cohort_06/_slide_assets/day_2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tools. Collect packets. Archive the handoffs.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02 | Tuesday, August 4, 2026 | Slide 25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site before you size the system.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Alternative Youth Activities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PV102 Day 2: Site and Solar Resource Assessment</dc:title>
  <dc:subject>PV102 Day 2</dc:subject>
  <dc:creator>CTS Curriculum System</dc:creator>
  <cp:lastModifiedBy>CTS Curriculum System</cp:lastModifiedBy>
  <cp:revision>1</cp:revision>
  <dcterms:created xsi:type="dcterms:W3CDTF">2026-08-03T18:34:56Z</dcterms:created>
  <dcterms:modified xsi:type="dcterms:W3CDTF">2026-08-03T18:34:56Z</dcterms:modified>
</cp:coreProperties>
</file>